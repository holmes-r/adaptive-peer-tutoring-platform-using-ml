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sldSz cx="12192000" cy="6858000"/>
  <p:notesSz cx="6858000" cy="9144000"/>
  <p:embeddedFontLst>
    <p:embeddedFont>
      <p:font typeface="Arimo" panose="020B0604020202020204" charset="0"/>
      <p:regular r:id="rId83"/>
      <p:bold r:id="rId84"/>
      <p:italic r:id="rId85"/>
      <p:boldItalic r:id="rId86"/>
    </p:embeddedFont>
    <p:embeddedFont>
      <p:font typeface="Comic Sans MS" panose="030F0702030302020204" pitchFamily="66" charset="0"/>
      <p:regular r:id="rId87"/>
      <p:bold r:id="rId88"/>
      <p:italic r:id="rId89"/>
      <p:boldItalic r:id="rId90"/>
    </p:embeddedFont>
    <p:embeddedFont>
      <p:font typeface="Roboto" panose="02000000000000000000" pitchFamily="2" charset="0"/>
      <p:regular r:id="rId91"/>
      <p:bold r:id="rId92"/>
      <p:italic r:id="rId93"/>
      <p:boldItalic r:id="rId94"/>
    </p:embeddedFont>
    <p:embeddedFont>
      <p:font typeface="Tahoma" panose="020B0604030504040204" pitchFamily="34" charset="0"/>
      <p:regular r:id="rId95"/>
      <p:bold r:id="rId96"/>
    </p:embeddedFont>
    <p:embeddedFont>
      <p:font typeface="Times" panose="02020603050405020304" pitchFamily="18" charset="0"/>
      <p:regular r:id="rId97"/>
      <p:bold r:id="rId98"/>
      <p:italic r:id="rId99"/>
      <p:boldItalic r:id="rId100"/>
    </p:embeddedFont>
    <p:embeddedFont>
      <p:font typeface="Verdana" panose="020B0604030504040204" pitchFamily="34" charset="0"/>
      <p:regular r:id="rId101"/>
      <p:bold r:id="rId102"/>
      <p:italic r:id="rId103"/>
      <p:boldItalic r:id="rId10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5" roundtripDataSignature="AMtx7mh2Rlywd6qRphLC3XDcyGUeTkDtT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136" autoAdjust="0"/>
  </p:normalViewPr>
  <p:slideViewPr>
    <p:cSldViewPr snapToGrid="0">
      <p:cViewPr varScale="1">
        <p:scale>
          <a:sx n="69" d="100"/>
          <a:sy n="69" d="100"/>
        </p:scale>
        <p:origin x="120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2.fntdata"/><Relationship Id="rId89" Type="http://schemas.openxmlformats.org/officeDocument/2006/relationships/font" Target="fonts/font7.fntdata"/><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20.fntdata"/><Relationship Id="rId5" Type="http://schemas.openxmlformats.org/officeDocument/2006/relationships/slide" Target="slides/slide4.xml"/><Relationship Id="rId90" Type="http://schemas.openxmlformats.org/officeDocument/2006/relationships/font" Target="fonts/font8.fntdata"/><Relationship Id="rId95" Type="http://schemas.openxmlformats.org/officeDocument/2006/relationships/font" Target="fonts/font13.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3.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21.fntdata"/><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font" Target="fonts/font9.fntdata"/><Relationship Id="rId96"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4.fntdata"/><Relationship Id="rId94" Type="http://schemas.openxmlformats.org/officeDocument/2006/relationships/font" Target="fonts/font12.fntdata"/><Relationship Id="rId99" Type="http://schemas.openxmlformats.org/officeDocument/2006/relationships/font" Target="fonts/font17.fntdata"/><Relationship Id="rId101"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5.fntdata"/><Relationship Id="rId104" Type="http://schemas.openxmlformats.org/officeDocument/2006/relationships/font" Target="fonts/font2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0.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5.fntdata"/><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8.fntdata"/><Relationship Id="rId105"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1.fntdata"/><Relationship Id="rId98" Type="http://schemas.openxmlformats.org/officeDocument/2006/relationships/font" Target="fonts/font16.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font" Target="fonts/font1.fntdata"/><Relationship Id="rId8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2649aebc8d_1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2649aebc8d_1_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g32649aebc8d_1_1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2649aebc8d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2649aebc8d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ctr" rtl="0">
              <a:lnSpc>
                <a:spcPct val="115000"/>
              </a:lnSpc>
              <a:spcBef>
                <a:spcPts val="1200"/>
              </a:spcBef>
              <a:spcAft>
                <a:spcPts val="0"/>
              </a:spcAft>
              <a:buClr>
                <a:schemeClr val="dk1"/>
              </a:buClr>
              <a:buSzPts val="1100"/>
              <a:buFont typeface="Arial"/>
              <a:buNone/>
            </a:pPr>
            <a:r>
              <a:rPr lang="en-US"/>
              <a:t>In computer programming, the BSS section, or block start by symbol section, is a memory segment that stores uninitialized variables in an executable file. The BSS section contains global and static variables that are declared but not assigned a value.</a:t>
            </a:r>
            <a:endParaRPr/>
          </a:p>
          <a:p>
            <a:pPr marL="0" lvl="0" indent="0" algn="l" rtl="0">
              <a:spcBef>
                <a:spcPts val="1200"/>
              </a:spcBef>
              <a:spcAft>
                <a:spcPts val="0"/>
              </a:spcAft>
              <a:buNone/>
            </a:pPr>
            <a:endParaRPr/>
          </a:p>
        </p:txBody>
      </p:sp>
      <p:sp>
        <p:nvSpPr>
          <p:cNvPr id="126" name="Google Shape;126;g32649aebc8d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2:notes"/>
          <p:cNvSpPr>
            <a:spLocks noGrp="1" noRot="1" noChangeAspect="1"/>
          </p:cNvSpPr>
          <p:nvPr>
            <p:ph type="sldImg" idx="2"/>
          </p:nvPr>
        </p:nvSpPr>
        <p:spPr>
          <a:xfrm>
            <a:off x="454025" y="690563"/>
            <a:ext cx="6127750" cy="3448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9" name="Google Shape;219;p12:notes"/>
          <p:cNvSpPr txBox="1">
            <a:spLocks noGrp="1"/>
          </p:cNvSpPr>
          <p:nvPr>
            <p:ph type="body" idx="1"/>
          </p:nvPr>
        </p:nvSpPr>
        <p:spPr>
          <a:xfrm>
            <a:off x="938213" y="4367213"/>
            <a:ext cx="5159375" cy="41370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3:notes"/>
          <p:cNvSpPr>
            <a:spLocks noGrp="1" noRot="1" noChangeAspect="1"/>
          </p:cNvSpPr>
          <p:nvPr>
            <p:ph type="sldImg" idx="2"/>
          </p:nvPr>
        </p:nvSpPr>
        <p:spPr>
          <a:xfrm>
            <a:off x="454025" y="690563"/>
            <a:ext cx="6127750" cy="3448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6" name="Google Shape;226;p13:notes"/>
          <p:cNvSpPr txBox="1">
            <a:spLocks noGrp="1"/>
          </p:cNvSpPr>
          <p:nvPr>
            <p:ph type="body" idx="1"/>
          </p:nvPr>
        </p:nvSpPr>
        <p:spPr>
          <a:xfrm>
            <a:off x="938213" y="4367213"/>
            <a:ext cx="5159375" cy="41370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4:notes"/>
          <p:cNvSpPr>
            <a:spLocks noGrp="1" noRot="1" noChangeAspect="1"/>
          </p:cNvSpPr>
          <p:nvPr>
            <p:ph type="sldImg" idx="2"/>
          </p:nvPr>
        </p:nvSpPr>
        <p:spPr>
          <a:xfrm>
            <a:off x="454025" y="690563"/>
            <a:ext cx="6127750" cy="3448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3" name="Google Shape;233;p14:notes"/>
          <p:cNvSpPr txBox="1">
            <a:spLocks noGrp="1"/>
          </p:cNvSpPr>
          <p:nvPr>
            <p:ph type="body" idx="1"/>
          </p:nvPr>
        </p:nvSpPr>
        <p:spPr>
          <a:xfrm>
            <a:off x="938213" y="4367213"/>
            <a:ext cx="5159375" cy="41370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5:notes"/>
          <p:cNvSpPr>
            <a:spLocks noGrp="1" noRot="1" noChangeAspect="1"/>
          </p:cNvSpPr>
          <p:nvPr>
            <p:ph type="sldImg" idx="2"/>
          </p:nvPr>
        </p:nvSpPr>
        <p:spPr>
          <a:xfrm>
            <a:off x="454025" y="688975"/>
            <a:ext cx="6127750" cy="3448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0" name="Google Shape;240;p15:notes"/>
          <p:cNvSpPr txBox="1">
            <a:spLocks noGrp="1"/>
          </p:cNvSpPr>
          <p:nvPr>
            <p:ph type="body" idx="1"/>
          </p:nvPr>
        </p:nvSpPr>
        <p:spPr>
          <a:xfrm>
            <a:off x="703263" y="4367213"/>
            <a:ext cx="5629275" cy="413861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6:notes"/>
          <p:cNvSpPr>
            <a:spLocks noGrp="1" noRot="1" noChangeAspect="1"/>
          </p:cNvSpPr>
          <p:nvPr>
            <p:ph type="sldImg" idx="2"/>
          </p:nvPr>
        </p:nvSpPr>
        <p:spPr>
          <a:xfrm>
            <a:off x="454025" y="688975"/>
            <a:ext cx="6127750" cy="3448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7" name="Google Shape;247;p16:notes"/>
          <p:cNvSpPr txBox="1">
            <a:spLocks noGrp="1"/>
          </p:cNvSpPr>
          <p:nvPr>
            <p:ph type="body" idx="1"/>
          </p:nvPr>
        </p:nvSpPr>
        <p:spPr>
          <a:xfrm>
            <a:off x="703263" y="4367213"/>
            <a:ext cx="5629275" cy="413861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2:notes"/>
          <p:cNvSpPr>
            <a:spLocks noGrp="1" noRot="1" noChangeAspect="1"/>
          </p:cNvSpPr>
          <p:nvPr>
            <p:ph type="sldImg" idx="2"/>
          </p:nvPr>
        </p:nvSpPr>
        <p:spPr>
          <a:xfrm>
            <a:off x="454025" y="690563"/>
            <a:ext cx="6127750" cy="3448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4" name="Google Shape;254;p22:notes"/>
          <p:cNvSpPr txBox="1">
            <a:spLocks noGrp="1"/>
          </p:cNvSpPr>
          <p:nvPr>
            <p:ph type="body" idx="1"/>
          </p:nvPr>
        </p:nvSpPr>
        <p:spPr>
          <a:xfrm>
            <a:off x="938213" y="4367213"/>
            <a:ext cx="5159375" cy="41370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3:notes"/>
          <p:cNvSpPr>
            <a:spLocks noGrp="1" noRot="1" noChangeAspect="1"/>
          </p:cNvSpPr>
          <p:nvPr>
            <p:ph type="sldImg" idx="2"/>
          </p:nvPr>
        </p:nvSpPr>
        <p:spPr>
          <a:xfrm>
            <a:off x="454025" y="690563"/>
            <a:ext cx="6127750" cy="3448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2" name="Google Shape;262;p23:notes"/>
          <p:cNvSpPr txBox="1">
            <a:spLocks noGrp="1"/>
          </p:cNvSpPr>
          <p:nvPr>
            <p:ph type="body" idx="1"/>
          </p:nvPr>
        </p:nvSpPr>
        <p:spPr>
          <a:xfrm>
            <a:off x="938213" y="4367213"/>
            <a:ext cx="5159375" cy="41370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6" name="Google Shape;276;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3" name="Google Shape;283;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0" name="Google Shape;29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7" name="Google Shape;297;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4" name="Google Shape;30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4" name="Google Shape;31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5" name="Google Shape;325;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2" name="Google Shape;332;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9" name="Google Shape;339;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0" name="Google Shape;350;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7" name="Google Shape;357;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4" name="Google Shape;374;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4" name="Google Shape;384;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2b7b8cb9384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2b7b8cb9384_0_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g2b7b8cb9384_0_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2b7bded145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2b7bded145a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g2b7bded145a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2b7b8cb9384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2b7b8cb9384_0_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0" name="Google Shape;420;g2b7b8cb9384_0_2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39</a:t>
            </a:fld>
            <a:endParaRPr sz="1200">
              <a:solidFill>
                <a:schemeClr val="dk1"/>
              </a:solidFill>
              <a:latin typeface="Arial"/>
              <a:ea typeface="Arial"/>
              <a:cs typeface="Arial"/>
              <a:sym typeface="Arial"/>
            </a:endParaRPr>
          </a:p>
        </p:txBody>
      </p:sp>
      <p:sp>
        <p:nvSpPr>
          <p:cNvPr id="428" name="Google Shape;428;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29" name="Google Shape;429;p40:notes"/>
          <p:cNvSpPr txBox="1">
            <a:spLocks noGrp="1"/>
          </p:cNvSpPr>
          <p:nvPr>
            <p:ph type="body" idx="1"/>
          </p:nvPr>
        </p:nvSpPr>
        <p:spPr>
          <a:xfrm>
            <a:off x="685800" y="4400550"/>
            <a:ext cx="5486400" cy="360045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2b7b8cb9384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2b7b8cb9384_0_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7" name="Google Shape;437;g2b7b8cb9384_0_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2b7b8cb9384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2b7b8cb9384_0_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g2b7b8cb9384_0_3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42</a:t>
            </a:fld>
            <a:endParaRPr sz="1200">
              <a:solidFill>
                <a:schemeClr val="dk1"/>
              </a:solidFill>
              <a:latin typeface="Arial"/>
              <a:ea typeface="Arial"/>
              <a:cs typeface="Arial"/>
              <a:sym typeface="Arial"/>
            </a:endParaRPr>
          </a:p>
        </p:txBody>
      </p:sp>
      <p:sp>
        <p:nvSpPr>
          <p:cNvPr id="452" name="Google Shape;452;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3" name="Google Shape;453;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43</a:t>
            </a:fld>
            <a:endParaRPr sz="1200">
              <a:solidFill>
                <a:schemeClr val="dk1"/>
              </a:solidFill>
              <a:latin typeface="Arial"/>
              <a:ea typeface="Arial"/>
              <a:cs typeface="Arial"/>
              <a:sym typeface="Arial"/>
            </a:endParaRPr>
          </a:p>
        </p:txBody>
      </p:sp>
      <p:sp>
        <p:nvSpPr>
          <p:cNvPr id="461" name="Google Shape;461;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2" name="Google Shape;462;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44</a:t>
            </a:fld>
            <a:endParaRPr sz="1200">
              <a:solidFill>
                <a:schemeClr val="dk1"/>
              </a:solidFill>
              <a:latin typeface="Arial"/>
              <a:ea typeface="Arial"/>
              <a:cs typeface="Arial"/>
              <a:sym typeface="Arial"/>
            </a:endParaRPr>
          </a:p>
        </p:txBody>
      </p:sp>
      <p:sp>
        <p:nvSpPr>
          <p:cNvPr id="470" name="Google Shape;470;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1" name="Google Shape;471;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45</a:t>
            </a:fld>
            <a:endParaRPr sz="1200">
              <a:solidFill>
                <a:schemeClr val="dk1"/>
              </a:solidFill>
              <a:latin typeface="Arial"/>
              <a:ea typeface="Arial"/>
              <a:cs typeface="Arial"/>
              <a:sym typeface="Arial"/>
            </a:endParaRPr>
          </a:p>
        </p:txBody>
      </p:sp>
      <p:sp>
        <p:nvSpPr>
          <p:cNvPr id="478" name="Google Shape;478;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9" name="Google Shape;479;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46</a:t>
            </a:fld>
            <a:endParaRPr sz="1200">
              <a:solidFill>
                <a:schemeClr val="dk1"/>
              </a:solidFill>
              <a:latin typeface="Arial"/>
              <a:ea typeface="Arial"/>
              <a:cs typeface="Arial"/>
              <a:sym typeface="Arial"/>
            </a:endParaRPr>
          </a:p>
        </p:txBody>
      </p:sp>
      <p:sp>
        <p:nvSpPr>
          <p:cNvPr id="509" name="Google Shape;509;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0" name="Google Shape;510;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47</a:t>
            </a:fld>
            <a:endParaRPr sz="1200">
              <a:solidFill>
                <a:schemeClr val="dk1"/>
              </a:solidFill>
              <a:latin typeface="Arial"/>
              <a:ea typeface="Arial"/>
              <a:cs typeface="Arial"/>
              <a:sym typeface="Arial"/>
            </a:endParaRPr>
          </a:p>
        </p:txBody>
      </p:sp>
      <p:sp>
        <p:nvSpPr>
          <p:cNvPr id="547" name="Google Shape;547;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8" name="Google Shape;548;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48</a:t>
            </a:fld>
            <a:endParaRPr sz="1200">
              <a:solidFill>
                <a:schemeClr val="dk1"/>
              </a:solidFill>
              <a:latin typeface="Arial"/>
              <a:ea typeface="Arial"/>
              <a:cs typeface="Arial"/>
              <a:sym typeface="Arial"/>
            </a:endParaRPr>
          </a:p>
        </p:txBody>
      </p:sp>
      <p:sp>
        <p:nvSpPr>
          <p:cNvPr id="580" name="Google Shape;580;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1" name="Google Shape;581;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49</a:t>
            </a:fld>
            <a:endParaRPr sz="1200">
              <a:solidFill>
                <a:schemeClr val="dk1"/>
              </a:solidFill>
              <a:latin typeface="Arial"/>
              <a:ea typeface="Arial"/>
              <a:cs typeface="Arial"/>
              <a:sym typeface="Arial"/>
            </a:endParaRPr>
          </a:p>
        </p:txBody>
      </p:sp>
      <p:sp>
        <p:nvSpPr>
          <p:cNvPr id="618" name="Google Shape;618;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9" name="Google Shape;619;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9" name="Google Shape;649;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51</a:t>
            </a:fld>
            <a:endParaRPr sz="1200">
              <a:solidFill>
                <a:schemeClr val="dk1"/>
              </a:solidFill>
              <a:latin typeface="Arial"/>
              <a:ea typeface="Arial"/>
              <a:cs typeface="Arial"/>
              <a:sym typeface="Arial"/>
            </a:endParaRPr>
          </a:p>
        </p:txBody>
      </p:sp>
      <p:sp>
        <p:nvSpPr>
          <p:cNvPr id="656" name="Google Shape;656;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7" name="Google Shape;657;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52</a:t>
            </a:fld>
            <a:endParaRPr sz="1200">
              <a:solidFill>
                <a:schemeClr val="dk1"/>
              </a:solidFill>
              <a:latin typeface="Arial"/>
              <a:ea typeface="Arial"/>
              <a:cs typeface="Arial"/>
              <a:sym typeface="Arial"/>
            </a:endParaRPr>
          </a:p>
        </p:txBody>
      </p:sp>
      <p:sp>
        <p:nvSpPr>
          <p:cNvPr id="687" name="Google Shape;687;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8" name="Google Shape;688;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53</a:t>
            </a:fld>
            <a:endParaRPr sz="1200">
              <a:solidFill>
                <a:schemeClr val="dk1"/>
              </a:solidFill>
              <a:latin typeface="Arial"/>
              <a:ea typeface="Arial"/>
              <a:cs typeface="Arial"/>
              <a:sym typeface="Arial"/>
            </a:endParaRPr>
          </a:p>
        </p:txBody>
      </p:sp>
      <p:sp>
        <p:nvSpPr>
          <p:cNvPr id="695" name="Google Shape;695;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6" name="Google Shape;696;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202124"/>
                </a:solidFill>
                <a:highlight>
                  <a:srgbClr val="FFFFFF"/>
                </a:highlight>
                <a:latin typeface="Arial"/>
                <a:ea typeface="Arial"/>
                <a:cs typeface="Arial"/>
                <a:sym typeface="Arial"/>
              </a:rPr>
              <a:t>EIP stands for </a:t>
            </a:r>
            <a:r>
              <a:rPr lang="en-US" b="1">
                <a:solidFill>
                  <a:srgbClr val="202124"/>
                </a:solidFill>
                <a:highlight>
                  <a:srgbClr val="FFFFFF"/>
                </a:highlight>
                <a:latin typeface="Arial"/>
                <a:ea typeface="Arial"/>
                <a:cs typeface="Arial"/>
                <a:sym typeface="Arial"/>
              </a:rPr>
              <a:t>Extended Instruction Pointer</a:t>
            </a:r>
            <a:r>
              <a:rPr lang="en-US">
                <a:solidFill>
                  <a:srgbClr val="202124"/>
                </a:solidFill>
                <a:highlight>
                  <a:srgbClr val="FFFFFF"/>
                </a:highlight>
                <a:latin typeface="Arial"/>
                <a:ea typeface="Arial"/>
                <a:cs typeface="Arial"/>
                <a:sym typeface="Arial"/>
              </a:rPr>
              <a:t> and is used to track the address of the current instruction running inside the application</a:t>
            </a:r>
            <a:endParaRPr>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54</a:t>
            </a:fld>
            <a:endParaRPr sz="1200">
              <a:solidFill>
                <a:schemeClr val="dk1"/>
              </a:solidFill>
              <a:latin typeface="Arial"/>
              <a:ea typeface="Arial"/>
              <a:cs typeface="Arial"/>
              <a:sym typeface="Arial"/>
            </a:endParaRPr>
          </a:p>
        </p:txBody>
      </p:sp>
      <p:sp>
        <p:nvSpPr>
          <p:cNvPr id="704" name="Google Shape;704;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5" name="Google Shape;705;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55</a:t>
            </a:fld>
            <a:endParaRPr sz="1200">
              <a:solidFill>
                <a:schemeClr val="dk1"/>
              </a:solidFill>
              <a:latin typeface="Arial"/>
              <a:ea typeface="Arial"/>
              <a:cs typeface="Arial"/>
              <a:sym typeface="Arial"/>
            </a:endParaRPr>
          </a:p>
        </p:txBody>
      </p:sp>
      <p:sp>
        <p:nvSpPr>
          <p:cNvPr id="712" name="Google Shape;712;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3" name="Google Shape;713;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p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56</a:t>
            </a:fld>
            <a:endParaRPr sz="1200">
              <a:solidFill>
                <a:schemeClr val="dk1"/>
              </a:solidFill>
              <a:latin typeface="Arial"/>
              <a:ea typeface="Arial"/>
              <a:cs typeface="Arial"/>
              <a:sym typeface="Arial"/>
            </a:endParaRPr>
          </a:p>
        </p:txBody>
      </p:sp>
      <p:sp>
        <p:nvSpPr>
          <p:cNvPr id="742" name="Google Shape;742;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3" name="Google Shape;743;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57</a:t>
            </a:fld>
            <a:endParaRPr sz="1200">
              <a:solidFill>
                <a:schemeClr val="dk1"/>
              </a:solidFill>
              <a:latin typeface="Arial"/>
              <a:ea typeface="Arial"/>
              <a:cs typeface="Arial"/>
              <a:sym typeface="Arial"/>
            </a:endParaRPr>
          </a:p>
        </p:txBody>
      </p:sp>
      <p:sp>
        <p:nvSpPr>
          <p:cNvPr id="771" name="Google Shape;771;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72" name="Google Shape;772;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7" name="Google Shape;797;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4" name="Google Shape;804;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11" name="Google Shape;811;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8" name="Google Shape;818;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9" name="Google Shape;829;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6" name="Google Shape;836;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3" name="Google Shape;843;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1cd00f23db8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0" name="Google Shape;850;g1cd00f23db8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1" name="Google Shape;851;g1cd00f23db8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g1cd00f23db8_1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8" name="Google Shape;858;g1cd00f23db8_1_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9" name="Google Shape;859;g1cd00f23db8_1_2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1d88d74e645_0_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7" name="Google Shape;867;g1d88d74e645_0_7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8" name="Google Shape;868;g1d88d74e645_0_7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1cd186fabe7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1cd186fabe7_0_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7" name="Google Shape;877;g1cd186fabe7_0_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68</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4" name="Google Shape;884;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1d88d74e645_0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1d88d74e645_0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0" name="Google Shape;900;g1d88d74e645_0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70</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1d88d74e645_0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7" name="Google Shape;907;g1d88d74e645_0_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8" name="Google Shape;908;g1d88d74e645_0_2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71</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1d88d74e645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5" name="Google Shape;915;g1d88d74e645_0_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6" name="Google Shape;916;g1d88d74e645_0_3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72</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3" name="Google Shape;923;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0" name="Google Shape;930;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20220241fdd_0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8" name="Google Shape;938;g20220241fdd_0_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9" name="Google Shape;939;g20220241fdd_0_2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75</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2b7b8cb9384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6" name="Google Shape;946;g2b7b8cb9384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7" name="Google Shape;947;g2b7b8cb9384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76</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1d88d74e645_0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5" name="Google Shape;955;g1d88d74e645_0_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6" name="Google Shape;956;g1d88d74e645_0_4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77</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20220241fd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3" name="Google Shape;963;g20220241fd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4" name="Google Shape;964;g20220241fd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78</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20220241fdd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20220241fdd_0_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2" name="Google Shape;972;g20220241fdd_0_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79</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0220241fdd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9" name="Google Shape;979;g20220241fdd_0_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0" name="Google Shape;980;g20220241fdd_0_1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7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21"/>
        <p:cNvGrpSpPr/>
        <p:nvPr/>
      </p:nvGrpSpPr>
      <p:grpSpPr>
        <a:xfrm>
          <a:off x="0" y="0"/>
          <a:ext cx="0" cy="0"/>
          <a:chOff x="0" y="0"/>
          <a:chExt cx="0" cy="0"/>
        </a:xfrm>
      </p:grpSpPr>
      <p:sp>
        <p:nvSpPr>
          <p:cNvPr id="22" name="Google Shape;22;p73"/>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73"/>
          <p:cNvSpPr txBox="1">
            <a:spLocks noGrp="1"/>
          </p:cNvSpPr>
          <p:nvPr>
            <p:ph type="body" idx="1"/>
          </p:nvPr>
        </p:nvSpPr>
        <p:spPr>
          <a:xfrm>
            <a:off x="609600" y="1524000"/>
            <a:ext cx="5435600" cy="4114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73"/>
          <p:cNvSpPr txBox="1">
            <a:spLocks noGrp="1"/>
          </p:cNvSpPr>
          <p:nvPr>
            <p:ph type="body" idx="2"/>
          </p:nvPr>
        </p:nvSpPr>
        <p:spPr>
          <a:xfrm>
            <a:off x="6248400" y="1524000"/>
            <a:ext cx="5435600" cy="4114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b="0" i="0" u="none" strike="noStrike" cap="none">
                <a:solidFill>
                  <a:srgbClr val="888888"/>
                </a:solidFill>
                <a:latin typeface="Calibri"/>
                <a:ea typeface="Calibri"/>
                <a:cs typeface="Calibri"/>
                <a:sym typeface="Calibri"/>
              </a:defRPr>
            </a:lvl1pPr>
            <a:lvl2pPr marL="0" marR="0" lvl="1" indent="0" algn="r">
              <a:spcBef>
                <a:spcPts val="0"/>
              </a:spcBef>
              <a:buNone/>
              <a:defRPr sz="1200" b="0" i="0" u="none" strike="noStrike" cap="none">
                <a:solidFill>
                  <a:srgbClr val="888888"/>
                </a:solidFill>
                <a:latin typeface="Calibri"/>
                <a:ea typeface="Calibri"/>
                <a:cs typeface="Calibri"/>
                <a:sym typeface="Calibri"/>
              </a:defRPr>
            </a:lvl2pPr>
            <a:lvl3pPr marL="0" marR="0" lvl="2" indent="0" algn="r">
              <a:spcBef>
                <a:spcPts val="0"/>
              </a:spcBef>
              <a:buNone/>
              <a:defRPr sz="1200" b="0" i="0" u="none" strike="noStrike" cap="none">
                <a:solidFill>
                  <a:srgbClr val="888888"/>
                </a:solidFill>
                <a:latin typeface="Calibri"/>
                <a:ea typeface="Calibri"/>
                <a:cs typeface="Calibri"/>
                <a:sym typeface="Calibri"/>
              </a:defRPr>
            </a:lvl3pPr>
            <a:lvl4pPr marL="0" marR="0" lvl="3" indent="0" algn="r">
              <a:spcBef>
                <a:spcPts val="0"/>
              </a:spcBef>
              <a:buNone/>
              <a:defRPr sz="1200" b="0" i="0" u="none" strike="noStrike" cap="none">
                <a:solidFill>
                  <a:srgbClr val="888888"/>
                </a:solidFill>
                <a:latin typeface="Calibri"/>
                <a:ea typeface="Calibri"/>
                <a:cs typeface="Calibri"/>
                <a:sym typeface="Calibri"/>
              </a:defRPr>
            </a:lvl4pPr>
            <a:lvl5pPr marL="0" marR="0" lvl="4" indent="0" algn="r">
              <a:spcBef>
                <a:spcPts val="0"/>
              </a:spcBef>
              <a:buNone/>
              <a:defRPr sz="1200" b="0" i="0" u="none" strike="noStrike" cap="none">
                <a:solidFill>
                  <a:srgbClr val="888888"/>
                </a:solidFill>
                <a:latin typeface="Calibri"/>
                <a:ea typeface="Calibri"/>
                <a:cs typeface="Calibri"/>
                <a:sym typeface="Calibri"/>
              </a:defRPr>
            </a:lvl5pPr>
            <a:lvl6pPr marL="0" marR="0" lvl="5" indent="0" algn="r">
              <a:spcBef>
                <a:spcPts val="0"/>
              </a:spcBef>
              <a:buNone/>
              <a:defRPr sz="1200" b="0" i="0" u="none" strike="noStrike" cap="none">
                <a:solidFill>
                  <a:srgbClr val="888888"/>
                </a:solidFill>
                <a:latin typeface="Calibri"/>
                <a:ea typeface="Calibri"/>
                <a:cs typeface="Calibri"/>
                <a:sym typeface="Calibri"/>
              </a:defRPr>
            </a:lvl6pPr>
            <a:lvl7pPr marL="0" marR="0" lvl="6" indent="0" algn="r">
              <a:spcBef>
                <a:spcPts val="0"/>
              </a:spcBef>
              <a:buNone/>
              <a:defRPr sz="1200" b="0" i="0" u="none" strike="noStrike" cap="none">
                <a:solidFill>
                  <a:srgbClr val="888888"/>
                </a:solidFill>
                <a:latin typeface="Calibri"/>
                <a:ea typeface="Calibri"/>
                <a:cs typeface="Calibri"/>
                <a:sym typeface="Calibri"/>
              </a:defRPr>
            </a:lvl7pPr>
            <a:lvl8pPr marL="0" marR="0" lvl="7" indent="0" algn="r">
              <a:spcBef>
                <a:spcPts val="0"/>
              </a:spcBef>
              <a:buNone/>
              <a:defRPr sz="1200" b="0" i="0" u="none" strike="noStrike" cap="none">
                <a:solidFill>
                  <a:srgbClr val="888888"/>
                </a:solidFill>
                <a:latin typeface="Calibri"/>
                <a:ea typeface="Calibri"/>
                <a:cs typeface="Calibri"/>
                <a:sym typeface="Calibri"/>
              </a:defRPr>
            </a:lvl8pPr>
            <a:lvl9pPr marL="0" marR="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chemeClr val="dk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8"/>
        <p:cNvGrpSpPr/>
        <p:nvPr/>
      </p:nvGrpSpPr>
      <p:grpSpPr>
        <a:xfrm>
          <a:off x="0" y="0"/>
          <a:ext cx="0" cy="0"/>
          <a:chOff x="0" y="0"/>
          <a:chExt cx="0" cy="0"/>
        </a:xfrm>
      </p:grpSpPr>
      <p:sp>
        <p:nvSpPr>
          <p:cNvPr id="29" name="Google Shape;29;p7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7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1" name="Google Shape;31;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7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
        <p:cNvGrpSpPr/>
        <p:nvPr/>
      </p:nvGrpSpPr>
      <p:grpSpPr>
        <a:xfrm>
          <a:off x="0" y="0"/>
          <a:ext cx="0" cy="0"/>
          <a:chOff x="0" y="0"/>
          <a:chExt cx="0" cy="0"/>
        </a:xfrm>
      </p:grpSpPr>
      <p:sp>
        <p:nvSpPr>
          <p:cNvPr id="40" name="Google Shape;40;p7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7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2" name="Google Shape;42;p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
        <p:cNvGrpSpPr/>
        <p:nvPr/>
      </p:nvGrpSpPr>
      <p:grpSpPr>
        <a:xfrm>
          <a:off x="0" y="0"/>
          <a:ext cx="0" cy="0"/>
          <a:chOff x="0" y="0"/>
          <a:chExt cx="0" cy="0"/>
        </a:xfrm>
      </p:grpSpPr>
      <p:sp>
        <p:nvSpPr>
          <p:cNvPr id="46" name="Google Shape;46;p7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7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2"/>
        <p:cNvGrpSpPr/>
        <p:nvPr/>
      </p:nvGrpSpPr>
      <p:grpSpPr>
        <a:xfrm>
          <a:off x="0" y="0"/>
          <a:ext cx="0" cy="0"/>
          <a:chOff x="0" y="0"/>
          <a:chExt cx="0" cy="0"/>
        </a:xfrm>
      </p:grpSpPr>
      <p:sp>
        <p:nvSpPr>
          <p:cNvPr id="53" name="Google Shape;53;p7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7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7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7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7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8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8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8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8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81"/>
          <p:cNvSpPr>
            <a:spLocks noGrp="1"/>
          </p:cNvSpPr>
          <p:nvPr>
            <p:ph type="pic" idx="2"/>
          </p:nvPr>
        </p:nvSpPr>
        <p:spPr>
          <a:xfrm>
            <a:off x="5183188" y="987425"/>
            <a:ext cx="6172200" cy="4873625"/>
          </a:xfrm>
          <a:prstGeom prst="rect">
            <a:avLst/>
          </a:prstGeom>
          <a:noFill/>
          <a:ln>
            <a:noFill/>
          </a:ln>
        </p:spPr>
      </p:sp>
      <p:sp>
        <p:nvSpPr>
          <p:cNvPr id="75" name="Google Shape;75;p8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6" name="Google Shape;76;p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9"/>
        <p:cNvGrpSpPr/>
        <p:nvPr/>
      </p:nvGrpSpPr>
      <p:grpSpPr>
        <a:xfrm>
          <a:off x="0" y="0"/>
          <a:ext cx="0" cy="0"/>
          <a:chOff x="0" y="0"/>
          <a:chExt cx="0" cy="0"/>
        </a:xfrm>
      </p:grpSpPr>
      <p:sp>
        <p:nvSpPr>
          <p:cNvPr id="80" name="Google Shape;80;p8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8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8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8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8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8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8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8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7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bleepingcomputer.com/news/security/android-october-security-update-fixes-zero-days-exploited-in-attack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hyperlink" Target="https://www.mathyvanhoef.com/2013/02/understanding-heap-exploiting-heap.html" TargetMode="External"/><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hyperlink" Target="https://www.usenix.org/legacy/events/sec01/full_papers/cowanbarringer/cowanbarringer.pdf" TargetMode="External"/><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hyperlink" Target="https://link.springer.com/chapter/10.1007/11604938_14" TargetMode="Externa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hyperlink" Target="https://learn.microsoft.com/en-us/windows/win32/api/stringapiset/nf-stringapiset-multibytetowidechar" TargetMode="External"/><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hyperlink" Target="https://eli.thegreenplace.net/2011/02/04/where-the-top-of-the-stack-is-on-x86/" TargetMode="External"/><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hyperlink" Target="http://clang.llvm.org/docs/LanguageExtensions.html#checked-arithmetic-builtins" TargetMode="External"/><Relationship Id="rId2" Type="http://schemas.openxmlformats.org/officeDocument/2006/relationships/notesSlide" Target="../notesSlides/notesSlide80.xml"/><Relationship Id="rId1" Type="http://schemas.openxmlformats.org/officeDocument/2006/relationships/slideLayout" Target="../slideLayouts/slideLayout1.xml"/><Relationship Id="rId4" Type="http://schemas.openxmlformats.org/officeDocument/2006/relationships/hyperlink" Target="https://clang.llvm.org/docs/LanguageExtensions.html#checked-arithmetic-builti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body" idx="1"/>
          </p:nvPr>
        </p:nvSpPr>
        <p:spPr>
          <a:xfrm>
            <a:off x="2209800" y="1447800"/>
            <a:ext cx="7315200" cy="4572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t>Some examples</a:t>
            </a:r>
            <a:endParaRPr/>
          </a:p>
        </p:txBody>
      </p:sp>
      <p:sp>
        <p:nvSpPr>
          <p:cNvPr id="96" name="Google Shape;96;p2"/>
          <p:cNvSpPr txBox="1"/>
          <p:nvPr/>
        </p:nvSpPr>
        <p:spPr>
          <a:xfrm>
            <a:off x="2057400" y="1981201"/>
            <a:ext cx="480060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800"/>
              <a:buFont typeface="Times"/>
              <a:buNone/>
            </a:pPr>
            <a:endParaRPr sz="1800" b="0" i="0" u="none" strike="noStrike" cap="none">
              <a:solidFill>
                <a:schemeClr val="dk1"/>
              </a:solidFill>
              <a:latin typeface="Arimo"/>
              <a:ea typeface="Arimo"/>
              <a:cs typeface="Arimo"/>
              <a:sym typeface="Arimo"/>
            </a:endParaRPr>
          </a:p>
        </p:txBody>
      </p:sp>
      <p:sp>
        <p:nvSpPr>
          <p:cNvPr id="97" name="Google Shape;97;p2"/>
          <p:cNvSpPr txBox="1"/>
          <p:nvPr/>
        </p:nvSpPr>
        <p:spPr>
          <a:xfrm>
            <a:off x="1030800" y="2133600"/>
            <a:ext cx="5080500" cy="3478500"/>
          </a:xfrm>
          <a:prstGeom prst="rect">
            <a:avLst/>
          </a:prstGeom>
          <a:noFill/>
          <a:ln>
            <a:noFill/>
          </a:ln>
        </p:spPr>
        <p:txBody>
          <a:bodyPr spcFirstLastPara="1" wrap="square" lIns="91425" tIns="45700" rIns="91425" bIns="45700" anchor="t" anchorCtr="0">
            <a:spAutoFit/>
          </a:bodyPr>
          <a:lstStyle/>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Crash Causing Defects</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Null pointer dereference</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Use after free</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Double free </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Array indexing errors</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Mismatched array new/delete</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Potential stack overrun</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Potential heap overrun</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Return pointers to local variables</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Logically inconsistent code</a:t>
            </a:r>
            <a:endParaRPr sz="1800"/>
          </a:p>
        </p:txBody>
      </p:sp>
      <p:sp>
        <p:nvSpPr>
          <p:cNvPr id="98" name="Google Shape;98;p2"/>
          <p:cNvSpPr txBox="1"/>
          <p:nvPr/>
        </p:nvSpPr>
        <p:spPr>
          <a:xfrm>
            <a:off x="6013505" y="2133600"/>
            <a:ext cx="5568900" cy="3478500"/>
          </a:xfrm>
          <a:prstGeom prst="rect">
            <a:avLst/>
          </a:prstGeom>
          <a:noFill/>
          <a:ln>
            <a:noFill/>
          </a:ln>
        </p:spPr>
        <p:txBody>
          <a:bodyPr spcFirstLastPara="1" wrap="square" lIns="91425" tIns="45700" rIns="91425" bIns="45700" anchor="t" anchorCtr="0">
            <a:spAutoFit/>
          </a:bodyPr>
          <a:lstStyle/>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Uninitialized variables</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Invalid use of negative values</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Passing large parameters by value</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Under allocations of dynamic data</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Memory leaks</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File handle leaks</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Network resource leaks</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Unused values</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Unhandled return codes</a:t>
            </a:r>
            <a:endParaRPr sz="1800"/>
          </a:p>
          <a:p>
            <a:pPr marL="0" marR="0" lvl="0" indent="-139700" algn="l" rtl="0">
              <a:spcBef>
                <a:spcPts val="0"/>
              </a:spcBef>
              <a:spcAft>
                <a:spcPts val="0"/>
              </a:spcAft>
              <a:buClr>
                <a:schemeClr val="dk1"/>
              </a:buClr>
              <a:buSzPts val="2200"/>
              <a:buFont typeface="Times"/>
              <a:buChar char="•"/>
            </a:pPr>
            <a:r>
              <a:rPr lang="en-US" sz="2200" b="1" i="0" u="none" strike="noStrike" cap="none">
                <a:solidFill>
                  <a:schemeClr val="dk1"/>
                </a:solidFill>
                <a:latin typeface="Arimo"/>
                <a:ea typeface="Arimo"/>
                <a:cs typeface="Arimo"/>
                <a:sym typeface="Arimo"/>
              </a:rPr>
              <a:t> Use of invalid iterators</a:t>
            </a:r>
            <a:endParaRPr sz="2200" b="0" i="0" u="none" strike="noStrike" cap="none">
              <a:solidFill>
                <a:schemeClr val="dk1"/>
              </a:solidFill>
              <a:latin typeface="Arimo"/>
              <a:ea typeface="Arimo"/>
              <a:cs typeface="Arimo"/>
              <a:sym typeface="Arimo"/>
            </a:endParaRPr>
          </a:p>
        </p:txBody>
      </p:sp>
      <p:sp>
        <p:nvSpPr>
          <p:cNvPr id="99" name="Google Shape;99;p2"/>
          <p:cNvSpPr txBox="1">
            <a:spLocks noGrp="1"/>
          </p:cNvSpPr>
          <p:nvPr>
            <p:ph type="title"/>
          </p:nvPr>
        </p:nvSpPr>
        <p:spPr>
          <a:xfrm>
            <a:off x="609600" y="0"/>
            <a:ext cx="109728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Bugs to Detect in Source Code Analysis</a:t>
            </a:r>
            <a:endParaRPr/>
          </a:p>
        </p:txBody>
      </p:sp>
      <p:sp>
        <p:nvSpPr>
          <p:cNvPr id="100" name="Google Shape;100;p2"/>
          <p:cNvSpPr txBox="1"/>
          <p:nvPr/>
        </p:nvSpPr>
        <p:spPr>
          <a:xfrm>
            <a:off x="802500" y="5703325"/>
            <a:ext cx="107799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rgbClr val="545D7E"/>
                </a:solidFill>
                <a:highlight>
                  <a:srgbClr val="FFFFFF"/>
                </a:highlight>
              </a:rPr>
              <a:t>A bug is an unexpected problem that causes software to behave unpredictably or incorrectly. A vulnerability is a mistake in software that can be used by a hacker to gain access to a system or network.</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Buffer overflow / overrun</a:t>
            </a:r>
            <a:endParaRPr/>
          </a:p>
        </p:txBody>
      </p:sp>
      <p:sp>
        <p:nvSpPr>
          <p:cNvPr id="106" name="Google Shape;10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Outline</a:t>
            </a:r>
            <a:endParaRPr/>
          </a:p>
        </p:txBody>
      </p:sp>
      <p:sp>
        <p:nvSpPr>
          <p:cNvPr id="112" name="Google Shape;112;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Stack Overruns</a:t>
            </a:r>
            <a:endParaRPr/>
          </a:p>
          <a:p>
            <a:pPr marL="228600" lvl="0" indent="-228600" algn="l" rtl="0">
              <a:lnSpc>
                <a:spcPct val="90000"/>
              </a:lnSpc>
              <a:spcBef>
                <a:spcPts val="1000"/>
              </a:spcBef>
              <a:spcAft>
                <a:spcPts val="0"/>
              </a:spcAft>
              <a:buClr>
                <a:schemeClr val="dk1"/>
              </a:buClr>
              <a:buSzPts val="2800"/>
              <a:buChar char="•"/>
            </a:pPr>
            <a:r>
              <a:rPr lang="en-US"/>
              <a:t>Heap Overruns</a:t>
            </a:r>
            <a:endParaRPr/>
          </a:p>
          <a:p>
            <a:pPr marL="228600" lvl="0" indent="-228600" algn="l" rtl="0">
              <a:lnSpc>
                <a:spcPct val="90000"/>
              </a:lnSpc>
              <a:spcBef>
                <a:spcPts val="1000"/>
              </a:spcBef>
              <a:spcAft>
                <a:spcPts val="0"/>
              </a:spcAft>
              <a:buClr>
                <a:schemeClr val="dk1"/>
              </a:buClr>
              <a:buSzPts val="2800"/>
              <a:buChar char="•"/>
            </a:pPr>
            <a:r>
              <a:rPr lang="en-US"/>
              <a:t>Array Indexing Errors</a:t>
            </a:r>
            <a:endParaRPr/>
          </a:p>
          <a:p>
            <a:pPr marL="228600" lvl="0" indent="-228600" algn="l" rtl="0">
              <a:lnSpc>
                <a:spcPct val="90000"/>
              </a:lnSpc>
              <a:spcBef>
                <a:spcPts val="1000"/>
              </a:spcBef>
              <a:spcAft>
                <a:spcPts val="0"/>
              </a:spcAft>
              <a:buClr>
                <a:schemeClr val="dk1"/>
              </a:buClr>
              <a:buSzPts val="2800"/>
              <a:buChar char="•"/>
            </a:pPr>
            <a:r>
              <a:rPr lang="en-US"/>
              <a:t>Format String Bugs</a:t>
            </a:r>
            <a:endParaRPr/>
          </a:p>
          <a:p>
            <a:pPr marL="228600" lvl="0" indent="-228600" algn="l" rtl="0">
              <a:lnSpc>
                <a:spcPct val="90000"/>
              </a:lnSpc>
              <a:spcBef>
                <a:spcPts val="1000"/>
              </a:spcBef>
              <a:spcAft>
                <a:spcPts val="0"/>
              </a:spcAft>
              <a:buClr>
                <a:schemeClr val="dk1"/>
              </a:buClr>
              <a:buSzPts val="2800"/>
              <a:buChar char="•"/>
            </a:pPr>
            <a:r>
              <a:rPr lang="en-US"/>
              <a:t>Unicode and ANSI Buffer size Mismatches</a:t>
            </a:r>
            <a:endParaRPr/>
          </a:p>
          <a:p>
            <a:pPr marL="228600" lvl="0" indent="-228600" algn="l" rtl="0">
              <a:lnSpc>
                <a:spcPct val="90000"/>
              </a:lnSpc>
              <a:spcBef>
                <a:spcPts val="1000"/>
              </a:spcBef>
              <a:spcAft>
                <a:spcPts val="0"/>
              </a:spcAft>
              <a:buClr>
                <a:schemeClr val="dk1"/>
              </a:buClr>
              <a:buSzPts val="2800"/>
              <a:buChar char="•"/>
            </a:pPr>
            <a:r>
              <a:rPr lang="en-US"/>
              <a:t>Preventing Buffer Overruns</a:t>
            </a:r>
            <a:endParaRPr/>
          </a:p>
          <a:p>
            <a:pPr marL="228600" lvl="0" indent="-228600" algn="l" rtl="0">
              <a:lnSpc>
                <a:spcPct val="90000"/>
              </a:lnSpc>
              <a:spcBef>
                <a:spcPts val="1000"/>
              </a:spcBef>
              <a:spcAft>
                <a:spcPts val="0"/>
              </a:spcAft>
              <a:buClr>
                <a:schemeClr val="dk1"/>
              </a:buClr>
              <a:buSzPts val="2800"/>
              <a:buChar char="•"/>
            </a:pPr>
            <a:r>
              <a:rPr lang="en-US"/>
              <a:t>Summary</a:t>
            </a:r>
            <a:endParaRPr/>
          </a:p>
        </p:txBody>
      </p:sp>
      <p:sp>
        <p:nvSpPr>
          <p:cNvPr id="113" name="Google Shape;11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g32649aebc8d_1_10"/>
          <p:cNvSpPr txBox="1">
            <a:spLocks noGrp="1"/>
          </p:cNvSpPr>
          <p:nvPr>
            <p:ph type="title"/>
          </p:nvPr>
        </p:nvSpPr>
        <p:spPr>
          <a:xfrm>
            <a:off x="838200" y="365125"/>
            <a:ext cx="10515600" cy="783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Program's memory layout </a:t>
            </a:r>
            <a:endParaRPr/>
          </a:p>
        </p:txBody>
      </p:sp>
      <p:sp>
        <p:nvSpPr>
          <p:cNvPr id="120" name="Google Shape;120;g32649aebc8d_1_1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
        <p:nvSpPr>
          <p:cNvPr id="121" name="Google Shape;121;g32649aebc8d_1_1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pic>
        <p:nvPicPr>
          <p:cNvPr id="122" name="Google Shape;122;g32649aebc8d_1_10"/>
          <p:cNvPicPr preferRelativeResize="0"/>
          <p:nvPr/>
        </p:nvPicPr>
        <p:blipFill>
          <a:blip r:embed="rId3">
            <a:alphaModFix/>
          </a:blip>
          <a:stretch>
            <a:fillRect/>
          </a:stretch>
        </p:blipFill>
        <p:spPr>
          <a:xfrm>
            <a:off x="4586300" y="1018750"/>
            <a:ext cx="4496900" cy="570269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g32649aebc8d_1_0"/>
          <p:cNvSpPr txBox="1">
            <a:spLocks noGrp="1"/>
          </p:cNvSpPr>
          <p:nvPr>
            <p:ph type="title"/>
          </p:nvPr>
        </p:nvSpPr>
        <p:spPr>
          <a:xfrm>
            <a:off x="619350" y="91550"/>
            <a:ext cx="10515600" cy="7398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Memory Layout</a:t>
            </a:r>
            <a:endParaRPr/>
          </a:p>
        </p:txBody>
      </p:sp>
      <p:sp>
        <p:nvSpPr>
          <p:cNvPr id="129" name="Google Shape;129;g32649aebc8d_1_0"/>
          <p:cNvSpPr txBox="1">
            <a:spLocks noGrp="1"/>
          </p:cNvSpPr>
          <p:nvPr>
            <p:ph type="body" idx="1"/>
          </p:nvPr>
        </p:nvSpPr>
        <p:spPr>
          <a:xfrm>
            <a:off x="619350" y="1284425"/>
            <a:ext cx="5545500" cy="43512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100" b="1">
                <a:solidFill>
                  <a:srgbClr val="00007F"/>
                </a:solidFill>
                <a:highlight>
                  <a:srgbClr val="F7F7F7"/>
                </a:highlight>
                <a:latin typeface="Courier New"/>
                <a:ea typeface="Courier New"/>
                <a:cs typeface="Courier New"/>
                <a:sym typeface="Courier New"/>
              </a:rPr>
              <a:t>int</a:t>
            </a:r>
            <a:r>
              <a:rPr lang="en-US" sz="2100">
                <a:solidFill>
                  <a:srgbClr val="333333"/>
                </a:solidFill>
                <a:highlight>
                  <a:srgbClr val="F7F7F7"/>
                </a:highlight>
                <a:latin typeface="Courier New"/>
                <a:ea typeface="Courier New"/>
                <a:cs typeface="Courier New"/>
                <a:sym typeface="Courier New"/>
              </a:rPr>
              <a:t> </a:t>
            </a:r>
            <a:r>
              <a:rPr lang="en-US" sz="2100">
                <a:solidFill>
                  <a:srgbClr val="00007F"/>
                </a:solidFill>
                <a:highlight>
                  <a:srgbClr val="F7F7F7"/>
                </a:highlight>
                <a:latin typeface="Courier New"/>
                <a:ea typeface="Courier New"/>
                <a:cs typeface="Courier New"/>
                <a:sym typeface="Courier New"/>
              </a:rPr>
              <a:t>foobar</a:t>
            </a:r>
            <a:r>
              <a:rPr lang="en-US" sz="2100">
                <a:solidFill>
                  <a:srgbClr val="333333"/>
                </a:solidFill>
                <a:highlight>
                  <a:srgbClr val="F7F7F7"/>
                </a:highlight>
                <a:latin typeface="Courier New"/>
                <a:ea typeface="Courier New"/>
                <a:cs typeface="Courier New"/>
                <a:sym typeface="Courier New"/>
              </a:rPr>
              <a:t>(</a:t>
            </a:r>
            <a:r>
              <a:rPr lang="en-US" sz="2100" b="1">
                <a:solidFill>
                  <a:srgbClr val="00007F"/>
                </a:solidFill>
                <a:highlight>
                  <a:srgbClr val="F7F7F7"/>
                </a:highlight>
                <a:latin typeface="Courier New"/>
                <a:ea typeface="Courier New"/>
                <a:cs typeface="Courier New"/>
                <a:sym typeface="Courier New"/>
              </a:rPr>
              <a:t>int</a:t>
            </a:r>
            <a:r>
              <a:rPr lang="en-US" sz="2100">
                <a:solidFill>
                  <a:srgbClr val="333333"/>
                </a:solidFill>
                <a:highlight>
                  <a:srgbClr val="F7F7F7"/>
                </a:highlight>
                <a:latin typeface="Courier New"/>
                <a:ea typeface="Courier New"/>
                <a:cs typeface="Courier New"/>
                <a:sym typeface="Courier New"/>
              </a:rPr>
              <a:t> a, </a:t>
            </a:r>
            <a:r>
              <a:rPr lang="en-US" sz="2100" b="1">
                <a:solidFill>
                  <a:srgbClr val="00007F"/>
                </a:solidFill>
                <a:highlight>
                  <a:srgbClr val="F7F7F7"/>
                </a:highlight>
                <a:latin typeface="Courier New"/>
                <a:ea typeface="Courier New"/>
                <a:cs typeface="Courier New"/>
                <a:sym typeface="Courier New"/>
              </a:rPr>
              <a:t>int</a:t>
            </a:r>
            <a:r>
              <a:rPr lang="en-US" sz="2100">
                <a:solidFill>
                  <a:srgbClr val="333333"/>
                </a:solidFill>
                <a:highlight>
                  <a:srgbClr val="F7F7F7"/>
                </a:highlight>
                <a:latin typeface="Courier New"/>
                <a:ea typeface="Courier New"/>
                <a:cs typeface="Courier New"/>
                <a:sym typeface="Courier New"/>
              </a:rPr>
              <a:t> b, </a:t>
            </a:r>
            <a:r>
              <a:rPr lang="en-US" sz="2100" b="1">
                <a:solidFill>
                  <a:srgbClr val="00007F"/>
                </a:solidFill>
                <a:highlight>
                  <a:srgbClr val="F7F7F7"/>
                </a:highlight>
                <a:latin typeface="Courier New"/>
                <a:ea typeface="Courier New"/>
                <a:cs typeface="Courier New"/>
                <a:sym typeface="Courier New"/>
              </a:rPr>
              <a:t>int</a:t>
            </a:r>
            <a:r>
              <a:rPr lang="en-US" sz="2100">
                <a:solidFill>
                  <a:srgbClr val="333333"/>
                </a:solidFill>
                <a:highlight>
                  <a:srgbClr val="F7F7F7"/>
                </a:highlight>
                <a:latin typeface="Courier New"/>
                <a:ea typeface="Courier New"/>
                <a:cs typeface="Courier New"/>
                <a:sym typeface="Courier New"/>
              </a:rPr>
              <a:t> c)</a:t>
            </a:r>
            <a:endParaRPr sz="2100">
              <a:solidFill>
                <a:srgbClr val="333333"/>
              </a:solidFill>
              <a:highlight>
                <a:srgbClr val="F7F7F7"/>
              </a:highlight>
              <a:latin typeface="Courier New"/>
              <a:ea typeface="Courier New"/>
              <a:cs typeface="Courier New"/>
              <a:sym typeface="Courier New"/>
            </a:endParaRPr>
          </a:p>
          <a:p>
            <a:pPr marL="0" lvl="0" indent="0" algn="l" rtl="0">
              <a:spcBef>
                <a:spcPts val="1000"/>
              </a:spcBef>
              <a:spcAft>
                <a:spcPts val="0"/>
              </a:spcAft>
              <a:buNone/>
            </a:pPr>
            <a:r>
              <a:rPr lang="en-US" sz="2100">
                <a:solidFill>
                  <a:srgbClr val="333333"/>
                </a:solidFill>
                <a:highlight>
                  <a:srgbClr val="F7F7F7"/>
                </a:highlight>
                <a:latin typeface="Courier New"/>
                <a:ea typeface="Courier New"/>
                <a:cs typeface="Courier New"/>
                <a:sym typeface="Courier New"/>
              </a:rPr>
              <a:t>{</a:t>
            </a:r>
            <a:endParaRPr sz="2100">
              <a:solidFill>
                <a:srgbClr val="333333"/>
              </a:solidFill>
              <a:highlight>
                <a:srgbClr val="F7F7F7"/>
              </a:highlight>
              <a:latin typeface="Courier New"/>
              <a:ea typeface="Courier New"/>
              <a:cs typeface="Courier New"/>
              <a:sym typeface="Courier New"/>
            </a:endParaRPr>
          </a:p>
          <a:p>
            <a:pPr marL="0" lvl="0" indent="0" algn="l" rtl="0">
              <a:spcBef>
                <a:spcPts val="1000"/>
              </a:spcBef>
              <a:spcAft>
                <a:spcPts val="0"/>
              </a:spcAft>
              <a:buNone/>
            </a:pPr>
            <a:r>
              <a:rPr lang="en-US" sz="2100">
                <a:solidFill>
                  <a:srgbClr val="333333"/>
                </a:solidFill>
                <a:highlight>
                  <a:srgbClr val="F7F7F7"/>
                </a:highlight>
                <a:latin typeface="Courier New"/>
                <a:ea typeface="Courier New"/>
                <a:cs typeface="Courier New"/>
                <a:sym typeface="Courier New"/>
              </a:rPr>
              <a:t>    </a:t>
            </a:r>
            <a:r>
              <a:rPr lang="en-US" sz="2100" b="1">
                <a:solidFill>
                  <a:srgbClr val="00007F"/>
                </a:solidFill>
                <a:highlight>
                  <a:srgbClr val="F7F7F7"/>
                </a:highlight>
                <a:latin typeface="Courier New"/>
                <a:ea typeface="Courier New"/>
                <a:cs typeface="Courier New"/>
                <a:sym typeface="Courier New"/>
              </a:rPr>
              <a:t>int</a:t>
            </a:r>
            <a:r>
              <a:rPr lang="en-US" sz="2100">
                <a:solidFill>
                  <a:srgbClr val="333333"/>
                </a:solidFill>
                <a:highlight>
                  <a:srgbClr val="F7F7F7"/>
                </a:highlight>
                <a:latin typeface="Courier New"/>
                <a:ea typeface="Courier New"/>
                <a:cs typeface="Courier New"/>
                <a:sym typeface="Courier New"/>
              </a:rPr>
              <a:t> xx = a + </a:t>
            </a:r>
            <a:r>
              <a:rPr lang="en-US" sz="2100">
                <a:solidFill>
                  <a:srgbClr val="007F7F"/>
                </a:solidFill>
                <a:highlight>
                  <a:srgbClr val="F7F7F7"/>
                </a:highlight>
                <a:latin typeface="Courier New"/>
                <a:ea typeface="Courier New"/>
                <a:cs typeface="Courier New"/>
                <a:sym typeface="Courier New"/>
              </a:rPr>
              <a:t>2</a:t>
            </a:r>
            <a:r>
              <a:rPr lang="en-US" sz="2100">
                <a:solidFill>
                  <a:srgbClr val="333333"/>
                </a:solidFill>
                <a:highlight>
                  <a:srgbClr val="F7F7F7"/>
                </a:highlight>
                <a:latin typeface="Courier New"/>
                <a:ea typeface="Courier New"/>
                <a:cs typeface="Courier New"/>
                <a:sym typeface="Courier New"/>
              </a:rPr>
              <a:t>;</a:t>
            </a:r>
            <a:endParaRPr sz="2100">
              <a:solidFill>
                <a:srgbClr val="333333"/>
              </a:solidFill>
              <a:highlight>
                <a:srgbClr val="F7F7F7"/>
              </a:highlight>
              <a:latin typeface="Courier New"/>
              <a:ea typeface="Courier New"/>
              <a:cs typeface="Courier New"/>
              <a:sym typeface="Courier New"/>
            </a:endParaRPr>
          </a:p>
          <a:p>
            <a:pPr marL="0" lvl="0" indent="0" algn="l" rtl="0">
              <a:spcBef>
                <a:spcPts val="1000"/>
              </a:spcBef>
              <a:spcAft>
                <a:spcPts val="0"/>
              </a:spcAft>
              <a:buNone/>
            </a:pPr>
            <a:r>
              <a:rPr lang="en-US" sz="2100">
                <a:solidFill>
                  <a:srgbClr val="333333"/>
                </a:solidFill>
                <a:highlight>
                  <a:srgbClr val="F7F7F7"/>
                </a:highlight>
                <a:latin typeface="Courier New"/>
                <a:ea typeface="Courier New"/>
                <a:cs typeface="Courier New"/>
                <a:sym typeface="Courier New"/>
              </a:rPr>
              <a:t>    </a:t>
            </a:r>
            <a:r>
              <a:rPr lang="en-US" sz="2100" b="1">
                <a:solidFill>
                  <a:srgbClr val="00007F"/>
                </a:solidFill>
                <a:highlight>
                  <a:srgbClr val="F7F7F7"/>
                </a:highlight>
                <a:latin typeface="Courier New"/>
                <a:ea typeface="Courier New"/>
                <a:cs typeface="Courier New"/>
                <a:sym typeface="Courier New"/>
              </a:rPr>
              <a:t>int</a:t>
            </a:r>
            <a:r>
              <a:rPr lang="en-US" sz="2100">
                <a:solidFill>
                  <a:srgbClr val="333333"/>
                </a:solidFill>
                <a:highlight>
                  <a:srgbClr val="F7F7F7"/>
                </a:highlight>
                <a:latin typeface="Courier New"/>
                <a:ea typeface="Courier New"/>
                <a:cs typeface="Courier New"/>
                <a:sym typeface="Courier New"/>
              </a:rPr>
              <a:t> yy = b + </a:t>
            </a:r>
            <a:r>
              <a:rPr lang="en-US" sz="2100">
                <a:solidFill>
                  <a:srgbClr val="007F7F"/>
                </a:solidFill>
                <a:highlight>
                  <a:srgbClr val="F7F7F7"/>
                </a:highlight>
                <a:latin typeface="Courier New"/>
                <a:ea typeface="Courier New"/>
                <a:cs typeface="Courier New"/>
                <a:sym typeface="Courier New"/>
              </a:rPr>
              <a:t>3</a:t>
            </a:r>
            <a:r>
              <a:rPr lang="en-US" sz="2100">
                <a:solidFill>
                  <a:srgbClr val="333333"/>
                </a:solidFill>
                <a:highlight>
                  <a:srgbClr val="F7F7F7"/>
                </a:highlight>
                <a:latin typeface="Courier New"/>
                <a:ea typeface="Courier New"/>
                <a:cs typeface="Courier New"/>
                <a:sym typeface="Courier New"/>
              </a:rPr>
              <a:t>;</a:t>
            </a:r>
            <a:endParaRPr sz="2100">
              <a:solidFill>
                <a:srgbClr val="333333"/>
              </a:solidFill>
              <a:highlight>
                <a:srgbClr val="F7F7F7"/>
              </a:highlight>
              <a:latin typeface="Courier New"/>
              <a:ea typeface="Courier New"/>
              <a:cs typeface="Courier New"/>
              <a:sym typeface="Courier New"/>
            </a:endParaRPr>
          </a:p>
          <a:p>
            <a:pPr marL="0" lvl="0" indent="0" algn="l" rtl="0">
              <a:spcBef>
                <a:spcPts val="1000"/>
              </a:spcBef>
              <a:spcAft>
                <a:spcPts val="0"/>
              </a:spcAft>
              <a:buNone/>
            </a:pPr>
            <a:r>
              <a:rPr lang="en-US" sz="2100">
                <a:solidFill>
                  <a:srgbClr val="333333"/>
                </a:solidFill>
                <a:highlight>
                  <a:srgbClr val="F7F7F7"/>
                </a:highlight>
                <a:latin typeface="Courier New"/>
                <a:ea typeface="Courier New"/>
                <a:cs typeface="Courier New"/>
                <a:sym typeface="Courier New"/>
              </a:rPr>
              <a:t>    </a:t>
            </a:r>
            <a:r>
              <a:rPr lang="en-US" sz="2100" b="1">
                <a:solidFill>
                  <a:srgbClr val="00007F"/>
                </a:solidFill>
                <a:highlight>
                  <a:srgbClr val="F7F7F7"/>
                </a:highlight>
                <a:latin typeface="Courier New"/>
                <a:ea typeface="Courier New"/>
                <a:cs typeface="Courier New"/>
                <a:sym typeface="Courier New"/>
              </a:rPr>
              <a:t>int</a:t>
            </a:r>
            <a:r>
              <a:rPr lang="en-US" sz="2100">
                <a:solidFill>
                  <a:srgbClr val="333333"/>
                </a:solidFill>
                <a:highlight>
                  <a:srgbClr val="F7F7F7"/>
                </a:highlight>
                <a:latin typeface="Courier New"/>
                <a:ea typeface="Courier New"/>
                <a:cs typeface="Courier New"/>
                <a:sym typeface="Courier New"/>
              </a:rPr>
              <a:t> zz = c + </a:t>
            </a:r>
            <a:r>
              <a:rPr lang="en-US" sz="2100">
                <a:solidFill>
                  <a:srgbClr val="007F7F"/>
                </a:solidFill>
                <a:highlight>
                  <a:srgbClr val="F7F7F7"/>
                </a:highlight>
                <a:latin typeface="Courier New"/>
                <a:ea typeface="Courier New"/>
                <a:cs typeface="Courier New"/>
                <a:sym typeface="Courier New"/>
              </a:rPr>
              <a:t>4</a:t>
            </a:r>
            <a:r>
              <a:rPr lang="en-US" sz="2100">
                <a:solidFill>
                  <a:srgbClr val="333333"/>
                </a:solidFill>
                <a:highlight>
                  <a:srgbClr val="F7F7F7"/>
                </a:highlight>
                <a:latin typeface="Courier New"/>
                <a:ea typeface="Courier New"/>
                <a:cs typeface="Courier New"/>
                <a:sym typeface="Courier New"/>
              </a:rPr>
              <a:t>;</a:t>
            </a:r>
            <a:endParaRPr sz="2100">
              <a:solidFill>
                <a:srgbClr val="333333"/>
              </a:solidFill>
              <a:highlight>
                <a:srgbClr val="F7F7F7"/>
              </a:highlight>
              <a:latin typeface="Courier New"/>
              <a:ea typeface="Courier New"/>
              <a:cs typeface="Courier New"/>
              <a:sym typeface="Courier New"/>
            </a:endParaRPr>
          </a:p>
          <a:p>
            <a:pPr marL="0" lvl="0" indent="0" algn="l" rtl="0">
              <a:spcBef>
                <a:spcPts val="1000"/>
              </a:spcBef>
              <a:spcAft>
                <a:spcPts val="0"/>
              </a:spcAft>
              <a:buNone/>
            </a:pPr>
            <a:r>
              <a:rPr lang="en-US" sz="2100">
                <a:solidFill>
                  <a:srgbClr val="333333"/>
                </a:solidFill>
                <a:highlight>
                  <a:srgbClr val="F7F7F7"/>
                </a:highlight>
                <a:latin typeface="Courier New"/>
                <a:ea typeface="Courier New"/>
                <a:cs typeface="Courier New"/>
                <a:sym typeface="Courier New"/>
              </a:rPr>
              <a:t>    </a:t>
            </a:r>
            <a:r>
              <a:rPr lang="en-US" sz="2100" b="1">
                <a:solidFill>
                  <a:srgbClr val="00007F"/>
                </a:solidFill>
                <a:highlight>
                  <a:srgbClr val="F7F7F7"/>
                </a:highlight>
                <a:latin typeface="Courier New"/>
                <a:ea typeface="Courier New"/>
                <a:cs typeface="Courier New"/>
                <a:sym typeface="Courier New"/>
              </a:rPr>
              <a:t>int</a:t>
            </a:r>
            <a:r>
              <a:rPr lang="en-US" sz="2100">
                <a:solidFill>
                  <a:srgbClr val="333333"/>
                </a:solidFill>
                <a:highlight>
                  <a:srgbClr val="F7F7F7"/>
                </a:highlight>
                <a:latin typeface="Courier New"/>
                <a:ea typeface="Courier New"/>
                <a:cs typeface="Courier New"/>
                <a:sym typeface="Courier New"/>
              </a:rPr>
              <a:t> sum = xx + yy + zz;</a:t>
            </a:r>
            <a:endParaRPr sz="2100">
              <a:solidFill>
                <a:srgbClr val="333333"/>
              </a:solidFill>
              <a:highlight>
                <a:srgbClr val="F7F7F7"/>
              </a:highlight>
              <a:latin typeface="Courier New"/>
              <a:ea typeface="Courier New"/>
              <a:cs typeface="Courier New"/>
              <a:sym typeface="Courier New"/>
            </a:endParaRPr>
          </a:p>
          <a:p>
            <a:pPr marL="0" lvl="0" indent="0" algn="l" rtl="0">
              <a:spcBef>
                <a:spcPts val="1000"/>
              </a:spcBef>
              <a:spcAft>
                <a:spcPts val="0"/>
              </a:spcAft>
              <a:buNone/>
            </a:pPr>
            <a:r>
              <a:rPr lang="en-US" sz="2100">
                <a:solidFill>
                  <a:srgbClr val="333333"/>
                </a:solidFill>
                <a:highlight>
                  <a:srgbClr val="F7F7F7"/>
                </a:highlight>
                <a:latin typeface="Courier New"/>
                <a:ea typeface="Courier New"/>
                <a:cs typeface="Courier New"/>
                <a:sym typeface="Courier New"/>
              </a:rPr>
              <a:t>    </a:t>
            </a:r>
            <a:r>
              <a:rPr lang="en-US" sz="2100" b="1">
                <a:solidFill>
                  <a:srgbClr val="00007F"/>
                </a:solidFill>
                <a:highlight>
                  <a:srgbClr val="F7F7F7"/>
                </a:highlight>
                <a:latin typeface="Courier New"/>
                <a:ea typeface="Courier New"/>
                <a:cs typeface="Courier New"/>
                <a:sym typeface="Courier New"/>
              </a:rPr>
              <a:t>return</a:t>
            </a:r>
            <a:r>
              <a:rPr lang="en-US" sz="2100">
                <a:solidFill>
                  <a:srgbClr val="333333"/>
                </a:solidFill>
                <a:highlight>
                  <a:srgbClr val="F7F7F7"/>
                </a:highlight>
                <a:latin typeface="Courier New"/>
                <a:ea typeface="Courier New"/>
                <a:cs typeface="Courier New"/>
                <a:sym typeface="Courier New"/>
              </a:rPr>
              <a:t> xx * yy * zz + sum;</a:t>
            </a:r>
            <a:endParaRPr sz="2100">
              <a:solidFill>
                <a:srgbClr val="333333"/>
              </a:solidFill>
              <a:highlight>
                <a:srgbClr val="F7F7F7"/>
              </a:highlight>
              <a:latin typeface="Courier New"/>
              <a:ea typeface="Courier New"/>
              <a:cs typeface="Courier New"/>
              <a:sym typeface="Courier New"/>
            </a:endParaRPr>
          </a:p>
          <a:p>
            <a:pPr marL="0" lvl="0" indent="0" algn="l" rtl="0">
              <a:spcBef>
                <a:spcPts val="1000"/>
              </a:spcBef>
              <a:spcAft>
                <a:spcPts val="0"/>
              </a:spcAft>
              <a:buNone/>
            </a:pPr>
            <a:r>
              <a:rPr lang="en-US" sz="2100">
                <a:solidFill>
                  <a:srgbClr val="333333"/>
                </a:solidFill>
                <a:highlight>
                  <a:srgbClr val="F7F7F7"/>
                </a:highlight>
                <a:latin typeface="Courier New"/>
                <a:ea typeface="Courier New"/>
                <a:cs typeface="Courier New"/>
                <a:sym typeface="Courier New"/>
              </a:rPr>
              <a:t>}</a:t>
            </a:r>
            <a:endParaRPr sz="2100">
              <a:solidFill>
                <a:srgbClr val="333333"/>
              </a:solidFill>
              <a:highlight>
                <a:srgbClr val="F7F7F7"/>
              </a:highlight>
              <a:latin typeface="Courier New"/>
              <a:ea typeface="Courier New"/>
              <a:cs typeface="Courier New"/>
              <a:sym typeface="Courier New"/>
            </a:endParaRPr>
          </a:p>
          <a:p>
            <a:pPr marL="0" lvl="0" indent="0" algn="l" rtl="0">
              <a:spcBef>
                <a:spcPts val="1000"/>
              </a:spcBef>
              <a:spcAft>
                <a:spcPts val="0"/>
              </a:spcAft>
              <a:buNone/>
            </a:pPr>
            <a:r>
              <a:rPr lang="en-US" sz="2100" b="1">
                <a:solidFill>
                  <a:srgbClr val="00007F"/>
                </a:solidFill>
                <a:highlight>
                  <a:srgbClr val="F7F7F7"/>
                </a:highlight>
                <a:latin typeface="Courier New"/>
                <a:ea typeface="Courier New"/>
                <a:cs typeface="Courier New"/>
                <a:sym typeface="Courier New"/>
              </a:rPr>
              <a:t>int</a:t>
            </a:r>
            <a:r>
              <a:rPr lang="en-US" sz="2100">
                <a:solidFill>
                  <a:srgbClr val="333333"/>
                </a:solidFill>
                <a:highlight>
                  <a:srgbClr val="F7F7F7"/>
                </a:highlight>
                <a:latin typeface="Courier New"/>
                <a:ea typeface="Courier New"/>
                <a:cs typeface="Courier New"/>
                <a:sym typeface="Courier New"/>
              </a:rPr>
              <a:t> </a:t>
            </a:r>
            <a:r>
              <a:rPr lang="en-US" sz="2100">
                <a:solidFill>
                  <a:srgbClr val="00007F"/>
                </a:solidFill>
                <a:highlight>
                  <a:srgbClr val="F7F7F7"/>
                </a:highlight>
                <a:latin typeface="Courier New"/>
                <a:ea typeface="Courier New"/>
                <a:cs typeface="Courier New"/>
                <a:sym typeface="Courier New"/>
              </a:rPr>
              <a:t>main</a:t>
            </a:r>
            <a:r>
              <a:rPr lang="en-US" sz="2100">
                <a:solidFill>
                  <a:srgbClr val="333333"/>
                </a:solidFill>
                <a:highlight>
                  <a:srgbClr val="F7F7F7"/>
                </a:highlight>
                <a:latin typeface="Courier New"/>
                <a:ea typeface="Courier New"/>
                <a:cs typeface="Courier New"/>
                <a:sym typeface="Courier New"/>
              </a:rPr>
              <a:t>()</a:t>
            </a:r>
            <a:endParaRPr sz="2100">
              <a:solidFill>
                <a:srgbClr val="333333"/>
              </a:solidFill>
              <a:highlight>
                <a:srgbClr val="F7F7F7"/>
              </a:highlight>
              <a:latin typeface="Courier New"/>
              <a:ea typeface="Courier New"/>
              <a:cs typeface="Courier New"/>
              <a:sym typeface="Courier New"/>
            </a:endParaRPr>
          </a:p>
          <a:p>
            <a:pPr marL="0" lvl="0" indent="0" algn="l" rtl="0">
              <a:spcBef>
                <a:spcPts val="1000"/>
              </a:spcBef>
              <a:spcAft>
                <a:spcPts val="0"/>
              </a:spcAft>
              <a:buNone/>
            </a:pPr>
            <a:r>
              <a:rPr lang="en-US" sz="2100">
                <a:solidFill>
                  <a:srgbClr val="333333"/>
                </a:solidFill>
                <a:highlight>
                  <a:srgbClr val="F7F7F7"/>
                </a:highlight>
                <a:latin typeface="Courier New"/>
                <a:ea typeface="Courier New"/>
                <a:cs typeface="Courier New"/>
                <a:sym typeface="Courier New"/>
              </a:rPr>
              <a:t>{</a:t>
            </a:r>
            <a:endParaRPr sz="2100">
              <a:solidFill>
                <a:srgbClr val="333333"/>
              </a:solidFill>
              <a:highlight>
                <a:srgbClr val="F7F7F7"/>
              </a:highlight>
              <a:latin typeface="Courier New"/>
              <a:ea typeface="Courier New"/>
              <a:cs typeface="Courier New"/>
              <a:sym typeface="Courier New"/>
            </a:endParaRPr>
          </a:p>
          <a:p>
            <a:pPr marL="0" lvl="0" indent="0" algn="l" rtl="0">
              <a:spcBef>
                <a:spcPts val="1000"/>
              </a:spcBef>
              <a:spcAft>
                <a:spcPts val="0"/>
              </a:spcAft>
              <a:buNone/>
            </a:pPr>
            <a:r>
              <a:rPr lang="en-US" sz="2100">
                <a:solidFill>
                  <a:srgbClr val="333333"/>
                </a:solidFill>
                <a:highlight>
                  <a:srgbClr val="F7F7F7"/>
                </a:highlight>
                <a:latin typeface="Courier New"/>
                <a:ea typeface="Courier New"/>
                <a:cs typeface="Courier New"/>
                <a:sym typeface="Courier New"/>
              </a:rPr>
              <a:t>    </a:t>
            </a:r>
            <a:r>
              <a:rPr lang="en-US" sz="2100" b="1">
                <a:solidFill>
                  <a:srgbClr val="00007F"/>
                </a:solidFill>
                <a:highlight>
                  <a:srgbClr val="F7F7F7"/>
                </a:highlight>
                <a:latin typeface="Courier New"/>
                <a:ea typeface="Courier New"/>
                <a:cs typeface="Courier New"/>
                <a:sym typeface="Courier New"/>
              </a:rPr>
              <a:t>return</a:t>
            </a:r>
            <a:r>
              <a:rPr lang="en-US" sz="2100">
                <a:solidFill>
                  <a:srgbClr val="333333"/>
                </a:solidFill>
                <a:highlight>
                  <a:srgbClr val="F7F7F7"/>
                </a:highlight>
                <a:latin typeface="Courier New"/>
                <a:ea typeface="Courier New"/>
                <a:cs typeface="Courier New"/>
                <a:sym typeface="Courier New"/>
              </a:rPr>
              <a:t> foobar(</a:t>
            </a:r>
            <a:r>
              <a:rPr lang="en-US" sz="2100">
                <a:solidFill>
                  <a:srgbClr val="007F7F"/>
                </a:solidFill>
                <a:highlight>
                  <a:srgbClr val="F7F7F7"/>
                </a:highlight>
                <a:latin typeface="Courier New"/>
                <a:ea typeface="Courier New"/>
                <a:cs typeface="Courier New"/>
                <a:sym typeface="Courier New"/>
              </a:rPr>
              <a:t>77</a:t>
            </a:r>
            <a:r>
              <a:rPr lang="en-US" sz="2100">
                <a:solidFill>
                  <a:srgbClr val="333333"/>
                </a:solidFill>
                <a:highlight>
                  <a:srgbClr val="F7F7F7"/>
                </a:highlight>
                <a:latin typeface="Courier New"/>
                <a:ea typeface="Courier New"/>
                <a:cs typeface="Courier New"/>
                <a:sym typeface="Courier New"/>
              </a:rPr>
              <a:t>, </a:t>
            </a:r>
            <a:r>
              <a:rPr lang="en-US" sz="2100">
                <a:solidFill>
                  <a:srgbClr val="007F7F"/>
                </a:solidFill>
                <a:highlight>
                  <a:srgbClr val="F7F7F7"/>
                </a:highlight>
                <a:latin typeface="Courier New"/>
                <a:ea typeface="Courier New"/>
                <a:cs typeface="Courier New"/>
                <a:sym typeface="Courier New"/>
              </a:rPr>
              <a:t>88</a:t>
            </a:r>
            <a:r>
              <a:rPr lang="en-US" sz="2100">
                <a:solidFill>
                  <a:srgbClr val="333333"/>
                </a:solidFill>
                <a:highlight>
                  <a:srgbClr val="F7F7F7"/>
                </a:highlight>
                <a:latin typeface="Courier New"/>
                <a:ea typeface="Courier New"/>
                <a:cs typeface="Courier New"/>
                <a:sym typeface="Courier New"/>
              </a:rPr>
              <a:t>, </a:t>
            </a:r>
            <a:r>
              <a:rPr lang="en-US" sz="2100">
                <a:solidFill>
                  <a:srgbClr val="007F7F"/>
                </a:solidFill>
                <a:highlight>
                  <a:srgbClr val="F7F7F7"/>
                </a:highlight>
                <a:latin typeface="Courier New"/>
                <a:ea typeface="Courier New"/>
                <a:cs typeface="Courier New"/>
                <a:sym typeface="Courier New"/>
              </a:rPr>
              <a:t>99</a:t>
            </a:r>
            <a:r>
              <a:rPr lang="en-US" sz="2100">
                <a:solidFill>
                  <a:srgbClr val="333333"/>
                </a:solidFill>
                <a:highlight>
                  <a:srgbClr val="F7F7F7"/>
                </a:highlight>
                <a:latin typeface="Courier New"/>
                <a:ea typeface="Courier New"/>
                <a:cs typeface="Courier New"/>
                <a:sym typeface="Courier New"/>
              </a:rPr>
              <a:t>);</a:t>
            </a:r>
            <a:endParaRPr sz="2100">
              <a:solidFill>
                <a:srgbClr val="333333"/>
              </a:solidFill>
              <a:highlight>
                <a:srgbClr val="F7F7F7"/>
              </a:highlight>
              <a:latin typeface="Courier New"/>
              <a:ea typeface="Courier New"/>
              <a:cs typeface="Courier New"/>
              <a:sym typeface="Courier New"/>
            </a:endParaRPr>
          </a:p>
          <a:p>
            <a:pPr marL="88900" marR="88900" lvl="0" indent="0" algn="l" rtl="0">
              <a:lnSpc>
                <a:spcPct val="142857"/>
              </a:lnSpc>
              <a:spcBef>
                <a:spcPts val="0"/>
              </a:spcBef>
              <a:spcAft>
                <a:spcPts val="0"/>
              </a:spcAft>
              <a:buClr>
                <a:schemeClr val="dk1"/>
              </a:buClr>
              <a:buSzPts val="1100"/>
              <a:buFont typeface="Arial"/>
              <a:buNone/>
            </a:pPr>
            <a:r>
              <a:rPr lang="en-US" sz="2100">
                <a:solidFill>
                  <a:srgbClr val="333333"/>
                </a:solidFill>
                <a:highlight>
                  <a:srgbClr val="F7F7F7"/>
                </a:highlight>
                <a:latin typeface="Courier New"/>
                <a:ea typeface="Courier New"/>
                <a:cs typeface="Courier New"/>
                <a:sym typeface="Courier New"/>
              </a:rPr>
              <a:t>}</a:t>
            </a:r>
            <a:endParaRPr sz="2100">
              <a:solidFill>
                <a:srgbClr val="333333"/>
              </a:solidFill>
              <a:highlight>
                <a:srgbClr val="F7F7F7"/>
              </a:highlight>
              <a:latin typeface="Courier New"/>
              <a:ea typeface="Courier New"/>
              <a:cs typeface="Courier New"/>
              <a:sym typeface="Courier New"/>
            </a:endParaRPr>
          </a:p>
          <a:p>
            <a:pPr marL="0" lvl="0" indent="0" algn="l" rtl="0">
              <a:spcBef>
                <a:spcPts val="1000"/>
              </a:spcBef>
              <a:spcAft>
                <a:spcPts val="0"/>
              </a:spcAft>
              <a:buNone/>
            </a:pPr>
            <a:r>
              <a:rPr lang="en-US" sz="1200">
                <a:solidFill>
                  <a:srgbClr val="333333"/>
                </a:solidFill>
                <a:highlight>
                  <a:srgbClr val="FFFFFF"/>
                </a:highlight>
                <a:latin typeface="Arial"/>
                <a:ea typeface="Arial"/>
                <a:cs typeface="Arial"/>
                <a:sym typeface="Arial"/>
              </a:rPr>
              <a:t>ESP (Extended Stack Pointer)</a:t>
            </a:r>
            <a:endParaRPr sz="1200">
              <a:solidFill>
                <a:srgbClr val="333333"/>
              </a:solidFill>
              <a:highlight>
                <a:srgbClr val="FFFFFF"/>
              </a:highlight>
              <a:latin typeface="Arial"/>
              <a:ea typeface="Arial"/>
              <a:cs typeface="Arial"/>
              <a:sym typeface="Arial"/>
            </a:endParaRPr>
          </a:p>
          <a:p>
            <a:pPr marL="0" lvl="0" indent="0" algn="l" rtl="0">
              <a:spcBef>
                <a:spcPts val="1000"/>
              </a:spcBef>
              <a:spcAft>
                <a:spcPts val="0"/>
              </a:spcAft>
              <a:buNone/>
            </a:pPr>
            <a:r>
              <a:rPr lang="en-US" sz="1200">
                <a:solidFill>
                  <a:srgbClr val="333333"/>
                </a:solidFill>
                <a:highlight>
                  <a:srgbClr val="FFFFFF"/>
                </a:highlight>
                <a:latin typeface="Arial"/>
                <a:ea typeface="Arial"/>
                <a:cs typeface="Arial"/>
                <a:sym typeface="Arial"/>
              </a:rPr>
              <a:t>EBP -base pointer, also known as frame pointer</a:t>
            </a:r>
            <a:endParaRPr sz="1200">
              <a:solidFill>
                <a:srgbClr val="333333"/>
              </a:solidFill>
              <a:highlight>
                <a:srgbClr val="FFFFFF"/>
              </a:highlight>
              <a:latin typeface="Arial"/>
              <a:ea typeface="Arial"/>
              <a:cs typeface="Arial"/>
              <a:sym typeface="Arial"/>
            </a:endParaRPr>
          </a:p>
        </p:txBody>
      </p:sp>
      <p:sp>
        <p:nvSpPr>
          <p:cNvPr id="130" name="Google Shape;130;g32649aebc8d_1_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pic>
        <p:nvPicPr>
          <p:cNvPr id="131" name="Google Shape;131;g32649aebc8d_1_0"/>
          <p:cNvPicPr preferRelativeResize="0"/>
          <p:nvPr/>
        </p:nvPicPr>
        <p:blipFill>
          <a:blip r:embed="rId3">
            <a:alphaModFix/>
          </a:blip>
          <a:stretch>
            <a:fillRect/>
          </a:stretch>
        </p:blipFill>
        <p:spPr>
          <a:xfrm>
            <a:off x="6437750" y="91550"/>
            <a:ext cx="5545500" cy="6383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What is Buffer Overflow?</a:t>
            </a:r>
            <a:endParaRPr/>
          </a:p>
        </p:txBody>
      </p:sp>
      <p:sp>
        <p:nvSpPr>
          <p:cNvPr id="138" name="Google Shape;138;p5"/>
          <p:cNvSpPr txBox="1">
            <a:spLocks noGrp="1"/>
          </p:cNvSpPr>
          <p:nvPr>
            <p:ph type="body" idx="1"/>
          </p:nvPr>
        </p:nvSpPr>
        <p:spPr>
          <a:xfrm>
            <a:off x="1386200" y="1586825"/>
            <a:ext cx="9666900" cy="4965300"/>
          </a:xfrm>
          <a:prstGeom prst="rect">
            <a:avLst/>
          </a:prstGeom>
          <a:noFill/>
          <a:ln>
            <a:noFill/>
          </a:ln>
        </p:spPr>
        <p:txBody>
          <a:bodyPr spcFirstLastPara="1" wrap="square" lIns="91425" tIns="45700" rIns="91425" bIns="45700" anchor="t" anchorCtr="0">
            <a:normAutofit/>
          </a:bodyPr>
          <a:lstStyle/>
          <a:p>
            <a:pPr marL="228600" lvl="0" indent="-260350" algn="just" rtl="0">
              <a:lnSpc>
                <a:spcPct val="90000"/>
              </a:lnSpc>
              <a:spcBef>
                <a:spcPts val="0"/>
              </a:spcBef>
              <a:spcAft>
                <a:spcPts val="0"/>
              </a:spcAft>
              <a:buClr>
                <a:schemeClr val="dk1"/>
              </a:buClr>
              <a:buSzPts val="2900"/>
              <a:buChar char="•"/>
            </a:pPr>
            <a:r>
              <a:rPr lang="en-US" sz="2900" dirty="0"/>
              <a:t>A </a:t>
            </a:r>
            <a:r>
              <a:rPr lang="en-US" sz="2900" b="1" dirty="0"/>
              <a:t>buffer overflow</a:t>
            </a:r>
            <a:r>
              <a:rPr lang="en-US" sz="2900" dirty="0"/>
              <a:t>, or </a:t>
            </a:r>
            <a:r>
              <a:rPr lang="en-US" sz="2900" b="1" dirty="0"/>
              <a:t>buffer overrun</a:t>
            </a:r>
            <a:r>
              <a:rPr lang="en-US" sz="2900" dirty="0"/>
              <a:t>, is an anomalous condition where a process attempts to store data beyond the boundaries of a fixed-length buffer. </a:t>
            </a:r>
            <a:endParaRPr sz="3300" dirty="0"/>
          </a:p>
          <a:p>
            <a:pPr marL="228600" lvl="0" indent="-260350" algn="just" rtl="0">
              <a:lnSpc>
                <a:spcPct val="90000"/>
              </a:lnSpc>
              <a:spcBef>
                <a:spcPts val="1000"/>
              </a:spcBef>
              <a:spcAft>
                <a:spcPts val="0"/>
              </a:spcAft>
              <a:buClr>
                <a:schemeClr val="dk1"/>
              </a:buClr>
              <a:buSzPts val="2900"/>
              <a:buChar char="•"/>
            </a:pPr>
            <a:r>
              <a:rPr lang="en-US" sz="2900" dirty="0"/>
              <a:t>The result is that the extra data overwrites adjacent memory locations. The overwritten data may include </a:t>
            </a:r>
            <a:r>
              <a:rPr lang="en-US" sz="2900" dirty="0">
                <a:highlight>
                  <a:srgbClr val="FFFF00"/>
                </a:highlight>
              </a:rPr>
              <a:t>other buffers</a:t>
            </a:r>
            <a:r>
              <a:rPr lang="en-US" sz="2900" dirty="0"/>
              <a:t>, </a:t>
            </a:r>
            <a:r>
              <a:rPr lang="en-US" sz="2900" dirty="0">
                <a:highlight>
                  <a:srgbClr val="FFFF00"/>
                </a:highlight>
              </a:rPr>
              <a:t>variables</a:t>
            </a:r>
            <a:r>
              <a:rPr lang="en-US" sz="2900" dirty="0"/>
              <a:t> and </a:t>
            </a:r>
            <a:r>
              <a:rPr lang="en-US" sz="2900" dirty="0">
                <a:highlight>
                  <a:srgbClr val="FFFF00"/>
                </a:highlight>
              </a:rPr>
              <a:t>program flow data</a:t>
            </a:r>
            <a:r>
              <a:rPr lang="en-US" sz="2900" dirty="0"/>
              <a:t>, and may result in erratic program behavior, </a:t>
            </a:r>
            <a:r>
              <a:rPr lang="en-US" sz="2900" dirty="0">
                <a:highlight>
                  <a:srgbClr val="FFFF00"/>
                </a:highlight>
              </a:rPr>
              <a:t>a memory access exception</a:t>
            </a:r>
            <a:r>
              <a:rPr lang="en-US" sz="2900" dirty="0"/>
              <a:t>, program termination (a crash), </a:t>
            </a:r>
            <a:r>
              <a:rPr lang="en-US" sz="2900" dirty="0">
                <a:highlight>
                  <a:srgbClr val="FFFF00"/>
                </a:highlight>
              </a:rPr>
              <a:t>incorrect results </a:t>
            </a:r>
            <a:r>
              <a:rPr lang="en-US" sz="2900" dirty="0"/>
              <a:t>or ― especially if deliberately caused by a malicious user ― a possible breach of system security. </a:t>
            </a:r>
            <a:endParaRPr sz="3300" dirty="0"/>
          </a:p>
          <a:p>
            <a:pPr marL="228600" lvl="0" indent="-260350" algn="l" rtl="0">
              <a:lnSpc>
                <a:spcPct val="90000"/>
              </a:lnSpc>
              <a:spcBef>
                <a:spcPts val="1000"/>
              </a:spcBef>
              <a:spcAft>
                <a:spcPts val="0"/>
              </a:spcAft>
              <a:buClr>
                <a:schemeClr val="dk1"/>
              </a:buClr>
              <a:buSzPts val="2900"/>
              <a:buChar char="•"/>
            </a:pPr>
            <a:r>
              <a:rPr lang="en-US" sz="2900" dirty="0"/>
              <a:t>Most common with C/C++ programs</a:t>
            </a:r>
            <a:endParaRPr sz="3300" dirty="0"/>
          </a:p>
        </p:txBody>
      </p:sp>
      <p:sp>
        <p:nvSpPr>
          <p:cNvPr id="139" name="Google Shape;1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History </a:t>
            </a:r>
            <a:endParaRPr/>
          </a:p>
        </p:txBody>
      </p:sp>
      <p:sp>
        <p:nvSpPr>
          <p:cNvPr id="145" name="Google Shape;145;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a:t>Used in 1988’s Morris Internet Worm</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Alphe One’s “Smashing The Stack For Fun And Profit” in Phrack Issue 49 in 1996 popularizes stack buffer overflows</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Still extremely common today</a:t>
            </a:r>
            <a:endParaRPr/>
          </a:p>
          <a:p>
            <a:pPr marL="228600" lvl="0" indent="0" algn="l" rtl="0">
              <a:lnSpc>
                <a:spcPct val="90000"/>
              </a:lnSpc>
              <a:spcBef>
                <a:spcPts val="1000"/>
              </a:spcBef>
              <a:spcAft>
                <a:spcPts val="0"/>
              </a:spcAft>
              <a:buNone/>
            </a:pPr>
            <a:r>
              <a:rPr lang="en-US" u="sng">
                <a:solidFill>
                  <a:schemeClr val="hlink"/>
                </a:solidFill>
                <a:hlinkClick r:id="rId3"/>
              </a:rPr>
              <a:t>https://www.bleepingcomputer.com/news/security/android-october-security-update-fixes-zero-days-exploited-in-attacks/</a:t>
            </a:r>
            <a:r>
              <a:rPr lang="en-US"/>
              <a:t> </a:t>
            </a:r>
            <a:endParaRPr/>
          </a:p>
          <a:p>
            <a:pPr marL="228600" lvl="0" indent="0" algn="l" rtl="0">
              <a:lnSpc>
                <a:spcPct val="90000"/>
              </a:lnSpc>
              <a:spcBef>
                <a:spcPts val="1000"/>
              </a:spcBef>
              <a:spcAft>
                <a:spcPts val="0"/>
              </a:spcAft>
              <a:buNone/>
            </a:pPr>
            <a:r>
              <a:rPr lang="en-US" sz="1300">
                <a:highlight>
                  <a:schemeClr val="lt2"/>
                </a:highlight>
                <a:latin typeface="Arial"/>
                <a:ea typeface="Arial"/>
                <a:cs typeface="Arial"/>
                <a:sym typeface="Arial"/>
              </a:rPr>
              <a:t>Libwebp is a popular library used to render webp images. This library is part of almost all modern operating systems and software platforms, including Apple iOS and Chromium based products like Google Chrome browser, Electron Software Framework, Debian (Ubuntu, Alpine), CentOS, Gentoo, SUSE and MacOS.</a:t>
            </a:r>
            <a:endParaRPr sz="2900">
              <a:highlight>
                <a:schemeClr val="lt2"/>
              </a:highlight>
            </a:endParaRPr>
          </a:p>
        </p:txBody>
      </p:sp>
      <p:sp>
        <p:nvSpPr>
          <p:cNvPr id="146" name="Google Shape;14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What Happens in a Function Call?</a:t>
            </a:r>
            <a:endParaRPr/>
          </a:p>
        </p:txBody>
      </p:sp>
      <p:sp>
        <p:nvSpPr>
          <p:cNvPr id="152" name="Google Shape;152;p7"/>
          <p:cNvSpPr txBox="1">
            <a:spLocks noGrp="1"/>
          </p:cNvSpPr>
          <p:nvPr>
            <p:ph type="body" idx="1"/>
          </p:nvPr>
        </p:nvSpPr>
        <p:spPr>
          <a:xfrm>
            <a:off x="1981200" y="1524000"/>
            <a:ext cx="3733800" cy="4114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sz="2000" b="1">
                <a:latin typeface="Courier New"/>
                <a:ea typeface="Courier New"/>
                <a:cs typeface="Courier New"/>
                <a:sym typeface="Courier New"/>
              </a:rPr>
              <a:t>void func(char *str) {</a:t>
            </a:r>
            <a:br>
              <a:rPr lang="en-US" sz="2000" b="1">
                <a:latin typeface="Courier New"/>
                <a:ea typeface="Courier New"/>
                <a:cs typeface="Courier New"/>
                <a:sym typeface="Courier New"/>
              </a:rPr>
            </a:br>
            <a:r>
              <a:rPr lang="en-US" sz="2000" b="1">
                <a:latin typeface="Courier New"/>
                <a:ea typeface="Courier New"/>
                <a:cs typeface="Courier New"/>
                <a:sym typeface="Courier New"/>
              </a:rPr>
              <a:t>   	char buf[128];            	strcpy(buf, str);	….</a:t>
            </a:r>
            <a:br>
              <a:rPr lang="en-US" sz="2000" b="1">
                <a:latin typeface="Courier New"/>
                <a:ea typeface="Courier New"/>
                <a:cs typeface="Courier New"/>
                <a:sym typeface="Courier New"/>
              </a:rPr>
            </a:br>
            <a:r>
              <a:rPr lang="en-US" sz="2000" b="1">
                <a:latin typeface="Courier New"/>
                <a:ea typeface="Courier New"/>
                <a:cs typeface="Courier New"/>
                <a:sym typeface="Courier New"/>
              </a:rPr>
              <a:t>}</a:t>
            </a:r>
            <a:endParaRPr/>
          </a:p>
          <a:p>
            <a:pPr marL="0" lvl="0" indent="0" algn="l" rtl="0">
              <a:lnSpc>
                <a:spcPct val="90000"/>
              </a:lnSpc>
              <a:spcBef>
                <a:spcPts val="1000"/>
              </a:spcBef>
              <a:spcAft>
                <a:spcPts val="0"/>
              </a:spcAft>
              <a:buClr>
                <a:schemeClr val="dk1"/>
              </a:buClr>
              <a:buSzPts val="2000"/>
              <a:buNone/>
            </a:pPr>
            <a:r>
              <a:rPr lang="en-US" sz="2000" b="1">
                <a:latin typeface="Courier New"/>
                <a:ea typeface="Courier New"/>
                <a:cs typeface="Courier New"/>
                <a:sym typeface="Courier New"/>
              </a:rPr>
              <a:t>int main() { </a:t>
            </a:r>
            <a:endParaRPr/>
          </a:p>
          <a:p>
            <a:pPr marL="0" lvl="0" indent="0" algn="l" rtl="0">
              <a:lnSpc>
                <a:spcPct val="90000"/>
              </a:lnSpc>
              <a:spcBef>
                <a:spcPts val="1000"/>
              </a:spcBef>
              <a:spcAft>
                <a:spcPts val="0"/>
              </a:spcAft>
              <a:buClr>
                <a:schemeClr val="dk1"/>
              </a:buClr>
              <a:buSzPts val="2000"/>
              <a:buNone/>
            </a:pPr>
            <a:r>
              <a:rPr lang="en-US" sz="2000" b="1">
                <a:latin typeface="Courier New"/>
                <a:ea typeface="Courier New"/>
                <a:cs typeface="Courier New"/>
                <a:sym typeface="Courier New"/>
              </a:rPr>
              <a:t>  func(“abc”); </a:t>
            </a:r>
            <a:endParaRPr/>
          </a:p>
          <a:p>
            <a:pPr marL="0" lvl="0" indent="0" algn="l" rtl="0">
              <a:lnSpc>
                <a:spcPct val="90000"/>
              </a:lnSpc>
              <a:spcBef>
                <a:spcPts val="1000"/>
              </a:spcBef>
              <a:spcAft>
                <a:spcPts val="0"/>
              </a:spcAft>
              <a:buClr>
                <a:schemeClr val="dk1"/>
              </a:buClr>
              <a:buSzPts val="2000"/>
              <a:buNone/>
            </a:pPr>
            <a:r>
              <a:rPr lang="en-US" sz="2000" b="1">
                <a:latin typeface="Courier New"/>
                <a:ea typeface="Courier New"/>
                <a:cs typeface="Courier New"/>
                <a:sym typeface="Courier New"/>
              </a:rPr>
              <a:t>}</a:t>
            </a:r>
            <a:endParaRPr/>
          </a:p>
        </p:txBody>
      </p:sp>
      <p:sp>
        <p:nvSpPr>
          <p:cNvPr id="153" name="Google Shape;153;p7"/>
          <p:cNvSpPr txBox="1"/>
          <p:nvPr/>
        </p:nvSpPr>
        <p:spPr>
          <a:xfrm>
            <a:off x="5638800" y="1219200"/>
            <a:ext cx="4800600" cy="411480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accent2"/>
              </a:buClr>
              <a:buSzPts val="2400"/>
              <a:buFont typeface="Times"/>
              <a:buChar char="•"/>
            </a:pPr>
            <a:r>
              <a:rPr lang="en-US" sz="2400" b="0" i="0" u="none" strike="noStrike" cap="none">
                <a:solidFill>
                  <a:schemeClr val="dk1"/>
                </a:solidFill>
                <a:latin typeface="Arial"/>
                <a:ea typeface="Arial"/>
                <a:cs typeface="Arial"/>
                <a:sym typeface="Arial"/>
              </a:rPr>
              <a:t>Before main() calls func()</a:t>
            </a:r>
            <a:endParaRPr/>
          </a:p>
          <a:p>
            <a:pPr marL="742950" marR="0" lvl="1" indent="-285750" algn="l" rtl="0">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Push pointer to “abc” onto stack</a:t>
            </a:r>
            <a:endParaRPr/>
          </a:p>
          <a:p>
            <a:pPr marL="742950" marR="0" lvl="1" indent="-285750" algn="l" rtl="0">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Use “call func” assembly, which pushes current IP on stack</a:t>
            </a:r>
            <a:endParaRPr/>
          </a:p>
          <a:p>
            <a:pPr marL="342900" marR="0" lvl="0" indent="-342900" algn="l" rtl="0">
              <a:spcBef>
                <a:spcPts val="480"/>
              </a:spcBef>
              <a:spcAft>
                <a:spcPts val="0"/>
              </a:spcAft>
              <a:buClr>
                <a:schemeClr val="accent2"/>
              </a:buClr>
              <a:buSzPts val="2400"/>
              <a:buFont typeface="Times"/>
              <a:buChar char="•"/>
            </a:pPr>
            <a:r>
              <a:rPr lang="en-US" sz="2400" b="0" i="0" u="none" strike="noStrike" cap="none">
                <a:solidFill>
                  <a:schemeClr val="dk1"/>
                </a:solidFill>
                <a:latin typeface="Arial"/>
                <a:ea typeface="Arial"/>
                <a:cs typeface="Arial"/>
                <a:sym typeface="Arial"/>
              </a:rPr>
              <a:t>Upon entering func()</a:t>
            </a:r>
            <a:endParaRPr/>
          </a:p>
          <a:p>
            <a:pPr marL="742950" marR="0" lvl="1" indent="-285750" algn="l" rtl="0">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Push stack frame pointer register (bp) on stack</a:t>
            </a:r>
            <a:endParaRPr/>
          </a:p>
          <a:p>
            <a:pPr marL="742950" marR="0" lvl="1" indent="-285750" algn="l" rtl="0">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Update sp to leave space for local variable.</a:t>
            </a:r>
            <a:endParaRPr/>
          </a:p>
          <a:p>
            <a:pPr marL="342900" marR="0" lvl="0" indent="-342900" algn="l" rtl="0">
              <a:spcBef>
                <a:spcPts val="480"/>
              </a:spcBef>
              <a:spcAft>
                <a:spcPts val="0"/>
              </a:spcAft>
              <a:buClr>
                <a:schemeClr val="accent2"/>
              </a:buClr>
              <a:buSzPts val="2400"/>
              <a:buFont typeface="Times"/>
              <a:buChar char="•"/>
            </a:pPr>
            <a:r>
              <a:rPr lang="en-US" sz="2400" b="0" i="0" u="none" strike="noStrike" cap="none">
                <a:solidFill>
                  <a:schemeClr val="dk1"/>
                </a:solidFill>
                <a:latin typeface="Arial"/>
                <a:ea typeface="Arial"/>
                <a:cs typeface="Arial"/>
                <a:sym typeface="Arial"/>
              </a:rPr>
              <a:t>Upon leaving func()</a:t>
            </a:r>
            <a:endParaRPr/>
          </a:p>
          <a:p>
            <a:pPr marL="742950" marR="0" lvl="1" indent="-285750" algn="l" rtl="0">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Update sp to just below saved bp</a:t>
            </a:r>
            <a:endParaRPr/>
          </a:p>
          <a:p>
            <a:pPr marL="742950" marR="0" lvl="1" indent="-285750" algn="l" rtl="0">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Pop stack to bp, restore bp</a:t>
            </a:r>
            <a:endParaRPr/>
          </a:p>
          <a:p>
            <a:pPr marL="742950" marR="0" lvl="1" indent="-285750" algn="l" rtl="0">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Use “ret” assembly, which pop stack to IP</a:t>
            </a:r>
            <a:endParaRPr/>
          </a:p>
          <a:p>
            <a:pPr marL="742950" marR="0" lvl="1" indent="-158750" algn="l" rtl="0">
              <a:spcBef>
                <a:spcPts val="40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p:txBody>
      </p:sp>
      <p:sp>
        <p:nvSpPr>
          <p:cNvPr id="154" name="Google Shape;15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What are buffer overflows?</a:t>
            </a:r>
            <a:endParaRPr/>
          </a:p>
        </p:txBody>
      </p:sp>
      <p:sp>
        <p:nvSpPr>
          <p:cNvPr id="160" name="Google Shape;160;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t>Suppose a web server contains a function:</a:t>
            </a:r>
            <a:br>
              <a:rPr lang="en-US" sz="2400"/>
            </a:br>
            <a:r>
              <a:rPr lang="en-US"/>
              <a:t>		</a:t>
            </a:r>
            <a:r>
              <a:rPr lang="en-US" sz="2000" b="1">
                <a:latin typeface="Courier New"/>
                <a:ea typeface="Courier New"/>
                <a:cs typeface="Courier New"/>
                <a:sym typeface="Courier New"/>
              </a:rPr>
              <a:t>void func(char *str) {</a:t>
            </a:r>
            <a:br>
              <a:rPr lang="en-US" sz="2000" b="1">
                <a:latin typeface="Courier New"/>
                <a:ea typeface="Courier New"/>
                <a:cs typeface="Courier New"/>
                <a:sym typeface="Courier New"/>
              </a:rPr>
            </a:br>
            <a:r>
              <a:rPr lang="en-US" sz="2000" b="1">
                <a:latin typeface="Courier New"/>
                <a:ea typeface="Courier New"/>
                <a:cs typeface="Courier New"/>
                <a:sym typeface="Courier New"/>
              </a:rPr>
              <a:t>   		  char buf[128];</a:t>
            </a:r>
            <a:endParaRPr/>
          </a:p>
          <a:p>
            <a:pPr marL="228600" lvl="0" indent="-228600" algn="l" rtl="0">
              <a:lnSpc>
                <a:spcPct val="90000"/>
              </a:lnSpc>
              <a:spcBef>
                <a:spcPts val="800"/>
              </a:spcBef>
              <a:spcAft>
                <a:spcPts val="0"/>
              </a:spcAft>
              <a:buClr>
                <a:schemeClr val="dk1"/>
              </a:buClr>
              <a:buSzPts val="2000"/>
              <a:buFont typeface="Times"/>
              <a:buNone/>
            </a:pPr>
            <a:r>
              <a:rPr lang="en-US" sz="2000" b="1">
                <a:latin typeface="Courier New"/>
                <a:ea typeface="Courier New"/>
                <a:cs typeface="Courier New"/>
                <a:sym typeface="Courier New"/>
              </a:rPr>
              <a:t>              strcpy(buf, str);</a:t>
            </a:r>
            <a:br>
              <a:rPr lang="en-US" sz="2000" b="1">
                <a:latin typeface="Courier New"/>
                <a:ea typeface="Courier New"/>
                <a:cs typeface="Courier New"/>
                <a:sym typeface="Courier New"/>
              </a:rPr>
            </a:br>
            <a:r>
              <a:rPr lang="en-US" sz="2000" b="1">
                <a:latin typeface="Courier New"/>
                <a:ea typeface="Courier New"/>
                <a:cs typeface="Courier New"/>
                <a:sym typeface="Courier New"/>
              </a:rPr>
              <a:t>		  do-something(buf);</a:t>
            </a:r>
            <a:br>
              <a:rPr lang="en-US" sz="2000" b="1">
                <a:latin typeface="Courier New"/>
                <a:ea typeface="Courier New"/>
                <a:cs typeface="Courier New"/>
                <a:sym typeface="Courier New"/>
              </a:rPr>
            </a:br>
            <a:r>
              <a:rPr lang="en-US" sz="2000" b="1">
                <a:latin typeface="Courier New"/>
                <a:ea typeface="Courier New"/>
                <a:cs typeface="Courier New"/>
                <a:sym typeface="Courier New"/>
              </a:rPr>
              <a:t> 		}</a:t>
            </a:r>
            <a:endParaRPr/>
          </a:p>
          <a:p>
            <a:pPr marL="228600" lvl="0" indent="-228600" algn="l" rtl="0">
              <a:lnSpc>
                <a:spcPct val="90000"/>
              </a:lnSpc>
              <a:spcBef>
                <a:spcPts val="1000"/>
              </a:spcBef>
              <a:spcAft>
                <a:spcPts val="0"/>
              </a:spcAft>
              <a:buClr>
                <a:schemeClr val="dk1"/>
              </a:buClr>
              <a:buSzPts val="2400"/>
              <a:buChar char="•"/>
            </a:pPr>
            <a:r>
              <a:rPr lang="en-US" sz="2400"/>
              <a:t>When the function is invoked the stack looks like:</a:t>
            </a:r>
            <a:endParaRPr/>
          </a:p>
          <a:p>
            <a:pPr marL="228600" lvl="0" indent="-76200" algn="l" rtl="0">
              <a:lnSpc>
                <a:spcPct val="90000"/>
              </a:lnSpc>
              <a:spcBef>
                <a:spcPts val="1000"/>
              </a:spcBef>
              <a:spcAft>
                <a:spcPts val="0"/>
              </a:spcAft>
              <a:buClr>
                <a:schemeClr val="dk1"/>
              </a:buClr>
              <a:buSzPts val="2400"/>
              <a:buNone/>
            </a:pPr>
            <a:endParaRPr sz="2400"/>
          </a:p>
          <a:p>
            <a:pPr marL="228600" lvl="0" indent="-101600" algn="l" rtl="0">
              <a:lnSpc>
                <a:spcPct val="90000"/>
              </a:lnSpc>
              <a:spcBef>
                <a:spcPts val="1000"/>
              </a:spcBef>
              <a:spcAft>
                <a:spcPts val="0"/>
              </a:spcAft>
              <a:buClr>
                <a:schemeClr val="dk1"/>
              </a:buClr>
              <a:buSzPts val="2000"/>
              <a:buNone/>
            </a:pPr>
            <a:endParaRPr sz="2000"/>
          </a:p>
          <a:p>
            <a:pPr marL="228600" lvl="0" indent="-228600" algn="l" rtl="0">
              <a:lnSpc>
                <a:spcPct val="90000"/>
              </a:lnSpc>
              <a:spcBef>
                <a:spcPts val="720"/>
              </a:spcBef>
              <a:spcAft>
                <a:spcPts val="0"/>
              </a:spcAft>
              <a:buClr>
                <a:schemeClr val="dk1"/>
              </a:buClr>
              <a:buSzPts val="2400"/>
              <a:buChar char="•"/>
            </a:pPr>
            <a:r>
              <a:rPr lang="en-US" sz="2400"/>
              <a:t>What if  </a:t>
            </a:r>
            <a:r>
              <a:rPr lang="en-US" sz="2400" b="1">
                <a:latin typeface="Courier New"/>
                <a:ea typeface="Courier New"/>
                <a:cs typeface="Courier New"/>
                <a:sym typeface="Courier New"/>
              </a:rPr>
              <a:t>*str</a:t>
            </a:r>
            <a:r>
              <a:rPr lang="en-US" sz="2400"/>
              <a:t>   is  136 bytes long?   After   </a:t>
            </a:r>
            <a:r>
              <a:rPr lang="en-US" sz="2400" b="1">
                <a:latin typeface="Courier New"/>
                <a:ea typeface="Courier New"/>
                <a:cs typeface="Courier New"/>
                <a:sym typeface="Courier New"/>
              </a:rPr>
              <a:t>strcpy</a:t>
            </a:r>
            <a:r>
              <a:rPr lang="en-US" sz="2400" b="1"/>
              <a:t>:</a:t>
            </a:r>
            <a:endParaRPr/>
          </a:p>
        </p:txBody>
      </p:sp>
      <p:sp>
        <p:nvSpPr>
          <p:cNvPr id="161" name="Google Shape;161;p8"/>
          <p:cNvSpPr/>
          <p:nvPr/>
        </p:nvSpPr>
        <p:spPr>
          <a:xfrm>
            <a:off x="7394576" y="4413250"/>
            <a:ext cx="454025" cy="376238"/>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ctr" rtl="0">
              <a:spcBef>
                <a:spcPts val="0"/>
              </a:spcBef>
              <a:spcAft>
                <a:spcPts val="0"/>
              </a:spcAft>
              <a:buClr>
                <a:schemeClr val="dk1"/>
              </a:buClr>
              <a:buSzPts val="1800"/>
              <a:buFont typeface="Times"/>
              <a:buNone/>
            </a:pPr>
            <a:r>
              <a:rPr lang="en-US" sz="1800" b="0" i="0" u="none" strike="noStrike" cap="none">
                <a:solidFill>
                  <a:schemeClr val="dk1"/>
                </a:solidFill>
                <a:latin typeface="Tahoma"/>
                <a:ea typeface="Tahoma"/>
                <a:cs typeface="Tahoma"/>
                <a:sym typeface="Tahoma"/>
              </a:rPr>
              <a:t>str</a:t>
            </a:r>
            <a:endParaRPr sz="1800" b="0" i="0" u="none" strike="noStrike" cap="none">
              <a:solidFill>
                <a:schemeClr val="lt2"/>
              </a:solidFill>
              <a:latin typeface="Comic Sans MS"/>
              <a:ea typeface="Comic Sans MS"/>
              <a:cs typeface="Comic Sans MS"/>
              <a:sym typeface="Comic Sans MS"/>
            </a:endParaRPr>
          </a:p>
        </p:txBody>
      </p:sp>
      <p:sp>
        <p:nvSpPr>
          <p:cNvPr id="162" name="Google Shape;162;p8"/>
          <p:cNvSpPr/>
          <p:nvPr/>
        </p:nvSpPr>
        <p:spPr>
          <a:xfrm>
            <a:off x="6381751" y="4413250"/>
            <a:ext cx="1012825" cy="376238"/>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ctr" rtl="0">
              <a:spcBef>
                <a:spcPts val="0"/>
              </a:spcBef>
              <a:spcAft>
                <a:spcPts val="0"/>
              </a:spcAft>
              <a:buClr>
                <a:schemeClr val="dk1"/>
              </a:buClr>
              <a:buSzPts val="1800"/>
              <a:buFont typeface="Times"/>
              <a:buNone/>
            </a:pPr>
            <a:r>
              <a:rPr lang="en-US" sz="1800" b="0" i="0" u="none" strike="noStrike" cap="none">
                <a:solidFill>
                  <a:schemeClr val="dk1"/>
                </a:solidFill>
                <a:latin typeface="Tahoma"/>
                <a:ea typeface="Tahoma"/>
                <a:cs typeface="Tahoma"/>
                <a:sym typeface="Tahoma"/>
              </a:rPr>
              <a:t>ret-addr</a:t>
            </a:r>
            <a:endParaRPr sz="1800" b="0" i="0" u="none" strike="noStrike" cap="none">
              <a:solidFill>
                <a:schemeClr val="lt2"/>
              </a:solidFill>
              <a:latin typeface="Comic Sans MS"/>
              <a:ea typeface="Comic Sans MS"/>
              <a:cs typeface="Comic Sans MS"/>
              <a:sym typeface="Comic Sans MS"/>
            </a:endParaRPr>
          </a:p>
        </p:txBody>
      </p:sp>
      <p:sp>
        <p:nvSpPr>
          <p:cNvPr id="163" name="Google Shape;163;p8"/>
          <p:cNvSpPr/>
          <p:nvPr/>
        </p:nvSpPr>
        <p:spPr>
          <a:xfrm>
            <a:off x="5886450" y="4413250"/>
            <a:ext cx="495300" cy="376238"/>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ctr" rtl="0">
              <a:spcBef>
                <a:spcPts val="0"/>
              </a:spcBef>
              <a:spcAft>
                <a:spcPts val="0"/>
              </a:spcAft>
              <a:buClr>
                <a:schemeClr val="dk1"/>
              </a:buClr>
              <a:buSzPts val="1800"/>
              <a:buFont typeface="Times"/>
              <a:buNone/>
            </a:pPr>
            <a:r>
              <a:rPr lang="en-US" sz="1800" b="0" i="0" u="none" strike="noStrike" cap="none">
                <a:solidFill>
                  <a:schemeClr val="dk1"/>
                </a:solidFill>
                <a:latin typeface="Tahoma"/>
                <a:ea typeface="Tahoma"/>
                <a:cs typeface="Tahoma"/>
                <a:sym typeface="Tahoma"/>
              </a:rPr>
              <a:t>sfp</a:t>
            </a:r>
            <a:endParaRPr sz="1800" b="0" i="0" u="none" strike="noStrike" cap="none">
              <a:solidFill>
                <a:schemeClr val="lt2"/>
              </a:solidFill>
              <a:latin typeface="Comic Sans MS"/>
              <a:ea typeface="Comic Sans MS"/>
              <a:cs typeface="Comic Sans MS"/>
              <a:sym typeface="Comic Sans MS"/>
            </a:endParaRPr>
          </a:p>
        </p:txBody>
      </p:sp>
      <p:sp>
        <p:nvSpPr>
          <p:cNvPr id="164" name="Google Shape;164;p8"/>
          <p:cNvSpPr/>
          <p:nvPr/>
        </p:nvSpPr>
        <p:spPr>
          <a:xfrm>
            <a:off x="4341814" y="4413250"/>
            <a:ext cx="1544637" cy="376238"/>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Times"/>
              <a:buNone/>
            </a:pPr>
            <a:r>
              <a:rPr lang="en-US" sz="1800" b="0" i="0" u="none" strike="noStrike" cap="none">
                <a:solidFill>
                  <a:schemeClr val="dk1"/>
                </a:solidFill>
                <a:latin typeface="Tahoma"/>
                <a:ea typeface="Tahoma"/>
                <a:cs typeface="Tahoma"/>
                <a:sym typeface="Tahoma"/>
              </a:rPr>
              <a:t>buf</a:t>
            </a:r>
            <a:endParaRPr/>
          </a:p>
        </p:txBody>
      </p:sp>
      <p:cxnSp>
        <p:nvCxnSpPr>
          <p:cNvPr id="165" name="Google Shape;165;p8"/>
          <p:cNvCxnSpPr/>
          <p:nvPr/>
        </p:nvCxnSpPr>
        <p:spPr>
          <a:xfrm>
            <a:off x="7848601" y="4413250"/>
            <a:ext cx="836613" cy="0"/>
          </a:xfrm>
          <a:prstGeom prst="straightConnector1">
            <a:avLst/>
          </a:prstGeom>
          <a:noFill/>
          <a:ln w="9525" cap="flat" cmpd="sng">
            <a:solidFill>
              <a:schemeClr val="dk1"/>
            </a:solidFill>
            <a:prstDash val="solid"/>
            <a:round/>
            <a:headEnd type="none" w="med" len="med"/>
            <a:tailEnd type="none" w="med" len="med"/>
          </a:ln>
        </p:spPr>
      </p:cxnSp>
      <p:cxnSp>
        <p:nvCxnSpPr>
          <p:cNvPr id="166" name="Google Shape;166;p8"/>
          <p:cNvCxnSpPr/>
          <p:nvPr/>
        </p:nvCxnSpPr>
        <p:spPr>
          <a:xfrm>
            <a:off x="7848601" y="4789488"/>
            <a:ext cx="836613" cy="0"/>
          </a:xfrm>
          <a:prstGeom prst="straightConnector1">
            <a:avLst/>
          </a:prstGeom>
          <a:noFill/>
          <a:ln w="9525" cap="flat" cmpd="sng">
            <a:solidFill>
              <a:schemeClr val="dk1"/>
            </a:solidFill>
            <a:prstDash val="solid"/>
            <a:round/>
            <a:headEnd type="none" w="med" len="med"/>
            <a:tailEnd type="none" w="med" len="med"/>
          </a:ln>
        </p:spPr>
      </p:cxnSp>
      <p:cxnSp>
        <p:nvCxnSpPr>
          <p:cNvPr id="167" name="Google Shape;167;p8"/>
          <p:cNvCxnSpPr/>
          <p:nvPr/>
        </p:nvCxnSpPr>
        <p:spPr>
          <a:xfrm>
            <a:off x="3505201" y="4418013"/>
            <a:ext cx="836613" cy="0"/>
          </a:xfrm>
          <a:prstGeom prst="straightConnector1">
            <a:avLst/>
          </a:prstGeom>
          <a:noFill/>
          <a:ln w="9525" cap="flat" cmpd="sng">
            <a:solidFill>
              <a:schemeClr val="dk1"/>
            </a:solidFill>
            <a:prstDash val="solid"/>
            <a:round/>
            <a:headEnd type="none" w="med" len="med"/>
            <a:tailEnd type="none" w="med" len="med"/>
          </a:ln>
        </p:spPr>
      </p:cxnSp>
      <p:cxnSp>
        <p:nvCxnSpPr>
          <p:cNvPr id="168" name="Google Shape;168;p8"/>
          <p:cNvCxnSpPr/>
          <p:nvPr/>
        </p:nvCxnSpPr>
        <p:spPr>
          <a:xfrm>
            <a:off x="3505201" y="4789488"/>
            <a:ext cx="836613" cy="0"/>
          </a:xfrm>
          <a:prstGeom prst="straightConnector1">
            <a:avLst/>
          </a:prstGeom>
          <a:noFill/>
          <a:ln w="9525" cap="flat" cmpd="sng">
            <a:solidFill>
              <a:schemeClr val="dk1"/>
            </a:solidFill>
            <a:prstDash val="solid"/>
            <a:round/>
            <a:headEnd type="none" w="med" len="med"/>
            <a:tailEnd type="none" w="med" len="med"/>
          </a:ln>
        </p:spPr>
      </p:cxnSp>
      <p:cxnSp>
        <p:nvCxnSpPr>
          <p:cNvPr id="169" name="Google Shape;169;p8"/>
          <p:cNvCxnSpPr/>
          <p:nvPr/>
        </p:nvCxnSpPr>
        <p:spPr>
          <a:xfrm rot="10800000">
            <a:off x="4646614" y="4940300"/>
            <a:ext cx="3201987" cy="0"/>
          </a:xfrm>
          <a:prstGeom prst="straightConnector1">
            <a:avLst/>
          </a:prstGeom>
          <a:noFill/>
          <a:ln w="38100" cap="flat" cmpd="sng">
            <a:solidFill>
              <a:schemeClr val="dk1"/>
            </a:solidFill>
            <a:prstDash val="solid"/>
            <a:round/>
            <a:headEnd type="none" w="med" len="med"/>
            <a:tailEnd type="triangle" w="med" len="med"/>
          </a:ln>
        </p:spPr>
      </p:cxnSp>
      <p:sp>
        <p:nvSpPr>
          <p:cNvPr id="170" name="Google Shape;170;p8"/>
          <p:cNvSpPr/>
          <p:nvPr/>
        </p:nvSpPr>
        <p:spPr>
          <a:xfrm>
            <a:off x="7354889" y="5784850"/>
            <a:ext cx="454025" cy="376238"/>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ctr" rtl="0">
              <a:spcBef>
                <a:spcPts val="0"/>
              </a:spcBef>
              <a:spcAft>
                <a:spcPts val="0"/>
              </a:spcAft>
              <a:buClr>
                <a:schemeClr val="dk1"/>
              </a:buClr>
              <a:buSzPts val="1800"/>
              <a:buFont typeface="Times"/>
              <a:buNone/>
            </a:pPr>
            <a:r>
              <a:rPr lang="en-US" sz="1800" b="0" i="0" u="none" strike="noStrike" cap="none">
                <a:solidFill>
                  <a:schemeClr val="dk1"/>
                </a:solidFill>
                <a:latin typeface="Tahoma"/>
                <a:ea typeface="Tahoma"/>
                <a:cs typeface="Tahoma"/>
                <a:sym typeface="Tahoma"/>
              </a:rPr>
              <a:t>str</a:t>
            </a:r>
            <a:endParaRPr sz="1800" b="0" i="0" u="none" strike="noStrike" cap="none">
              <a:solidFill>
                <a:schemeClr val="lt2"/>
              </a:solidFill>
              <a:latin typeface="Comic Sans MS"/>
              <a:ea typeface="Comic Sans MS"/>
              <a:cs typeface="Comic Sans MS"/>
              <a:sym typeface="Comic Sans MS"/>
            </a:endParaRPr>
          </a:p>
        </p:txBody>
      </p:sp>
      <p:cxnSp>
        <p:nvCxnSpPr>
          <p:cNvPr id="171" name="Google Shape;171;p8"/>
          <p:cNvCxnSpPr/>
          <p:nvPr/>
        </p:nvCxnSpPr>
        <p:spPr>
          <a:xfrm>
            <a:off x="7808913" y="5784850"/>
            <a:ext cx="836612" cy="0"/>
          </a:xfrm>
          <a:prstGeom prst="straightConnector1">
            <a:avLst/>
          </a:prstGeom>
          <a:noFill/>
          <a:ln w="9525" cap="flat" cmpd="sng">
            <a:solidFill>
              <a:schemeClr val="dk1"/>
            </a:solidFill>
            <a:prstDash val="solid"/>
            <a:round/>
            <a:headEnd type="none" w="med" len="med"/>
            <a:tailEnd type="none" w="med" len="med"/>
          </a:ln>
        </p:spPr>
      </p:cxnSp>
      <p:cxnSp>
        <p:nvCxnSpPr>
          <p:cNvPr id="172" name="Google Shape;172;p8"/>
          <p:cNvCxnSpPr/>
          <p:nvPr/>
        </p:nvCxnSpPr>
        <p:spPr>
          <a:xfrm>
            <a:off x="7808913" y="6161088"/>
            <a:ext cx="836612" cy="0"/>
          </a:xfrm>
          <a:prstGeom prst="straightConnector1">
            <a:avLst/>
          </a:prstGeom>
          <a:noFill/>
          <a:ln w="9525" cap="flat" cmpd="sng">
            <a:solidFill>
              <a:schemeClr val="dk1"/>
            </a:solidFill>
            <a:prstDash val="solid"/>
            <a:round/>
            <a:headEnd type="none" w="med" len="med"/>
            <a:tailEnd type="none" w="med" len="med"/>
          </a:ln>
        </p:spPr>
      </p:cxnSp>
      <p:cxnSp>
        <p:nvCxnSpPr>
          <p:cNvPr id="173" name="Google Shape;173;p8"/>
          <p:cNvCxnSpPr/>
          <p:nvPr/>
        </p:nvCxnSpPr>
        <p:spPr>
          <a:xfrm>
            <a:off x="3465513" y="5789613"/>
            <a:ext cx="836612" cy="0"/>
          </a:xfrm>
          <a:prstGeom prst="straightConnector1">
            <a:avLst/>
          </a:prstGeom>
          <a:noFill/>
          <a:ln w="9525" cap="flat" cmpd="sng">
            <a:solidFill>
              <a:schemeClr val="dk1"/>
            </a:solidFill>
            <a:prstDash val="solid"/>
            <a:round/>
            <a:headEnd type="none" w="med" len="med"/>
            <a:tailEnd type="none" w="med" len="med"/>
          </a:ln>
        </p:spPr>
      </p:cxnSp>
      <p:cxnSp>
        <p:nvCxnSpPr>
          <p:cNvPr id="174" name="Google Shape;174;p8"/>
          <p:cNvCxnSpPr/>
          <p:nvPr/>
        </p:nvCxnSpPr>
        <p:spPr>
          <a:xfrm>
            <a:off x="3465513" y="6161088"/>
            <a:ext cx="836612" cy="0"/>
          </a:xfrm>
          <a:prstGeom prst="straightConnector1">
            <a:avLst/>
          </a:prstGeom>
          <a:noFill/>
          <a:ln w="9525" cap="flat" cmpd="sng">
            <a:solidFill>
              <a:schemeClr val="dk1"/>
            </a:solidFill>
            <a:prstDash val="solid"/>
            <a:round/>
            <a:headEnd type="none" w="med" len="med"/>
            <a:tailEnd type="none" w="med" len="med"/>
          </a:ln>
        </p:spPr>
      </p:cxnSp>
      <p:cxnSp>
        <p:nvCxnSpPr>
          <p:cNvPr id="175" name="Google Shape;175;p8"/>
          <p:cNvCxnSpPr/>
          <p:nvPr/>
        </p:nvCxnSpPr>
        <p:spPr>
          <a:xfrm rot="10800000">
            <a:off x="4606925" y="6311900"/>
            <a:ext cx="3201988" cy="0"/>
          </a:xfrm>
          <a:prstGeom prst="straightConnector1">
            <a:avLst/>
          </a:prstGeom>
          <a:noFill/>
          <a:ln w="38100" cap="flat" cmpd="sng">
            <a:solidFill>
              <a:schemeClr val="dk1"/>
            </a:solidFill>
            <a:prstDash val="solid"/>
            <a:round/>
            <a:headEnd type="none" w="med" len="med"/>
            <a:tailEnd type="triangle" w="med" len="med"/>
          </a:ln>
        </p:spPr>
      </p:cxnSp>
      <p:sp>
        <p:nvSpPr>
          <p:cNvPr id="176" name="Google Shape;176;p8"/>
          <p:cNvSpPr/>
          <p:nvPr/>
        </p:nvSpPr>
        <p:spPr>
          <a:xfrm>
            <a:off x="4302126" y="5789614"/>
            <a:ext cx="3052763" cy="371475"/>
          </a:xfrm>
          <a:prstGeom prst="rect">
            <a:avLst/>
          </a:prstGeom>
          <a:solidFill>
            <a:schemeClr val="hlink"/>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Times"/>
              <a:buNone/>
            </a:pPr>
            <a:r>
              <a:rPr lang="en-US" sz="1800" b="0" i="0" u="none" strike="noStrike" cap="none">
                <a:solidFill>
                  <a:schemeClr val="dk1"/>
                </a:solidFill>
                <a:latin typeface="Tahoma"/>
                <a:ea typeface="Tahoma"/>
                <a:cs typeface="Tahoma"/>
                <a:sym typeface="Tahoma"/>
              </a:rPr>
              <a:t>       *str                      </a:t>
            </a:r>
            <a:endParaRPr/>
          </a:p>
        </p:txBody>
      </p:sp>
      <p:cxnSp>
        <p:nvCxnSpPr>
          <p:cNvPr id="177" name="Google Shape;177;p8"/>
          <p:cNvCxnSpPr/>
          <p:nvPr/>
        </p:nvCxnSpPr>
        <p:spPr>
          <a:xfrm>
            <a:off x="5846763" y="5789614"/>
            <a:ext cx="0" cy="371475"/>
          </a:xfrm>
          <a:prstGeom prst="straightConnector1">
            <a:avLst/>
          </a:prstGeom>
          <a:noFill/>
          <a:ln w="9525" cap="flat" cmpd="sng">
            <a:solidFill>
              <a:schemeClr val="dk1"/>
            </a:solidFill>
            <a:prstDash val="solid"/>
            <a:round/>
            <a:headEnd type="none" w="med" len="med"/>
            <a:tailEnd type="none" w="med" len="med"/>
          </a:ln>
        </p:spPr>
      </p:cxnSp>
      <p:cxnSp>
        <p:nvCxnSpPr>
          <p:cNvPr id="178" name="Google Shape;178;p8"/>
          <p:cNvCxnSpPr/>
          <p:nvPr/>
        </p:nvCxnSpPr>
        <p:spPr>
          <a:xfrm>
            <a:off x="6342063" y="5789614"/>
            <a:ext cx="0" cy="371475"/>
          </a:xfrm>
          <a:prstGeom prst="straightConnector1">
            <a:avLst/>
          </a:prstGeom>
          <a:noFill/>
          <a:ln w="9525" cap="flat" cmpd="sng">
            <a:solidFill>
              <a:schemeClr val="dk1"/>
            </a:solidFill>
            <a:prstDash val="solid"/>
            <a:round/>
            <a:headEnd type="none" w="med" len="med"/>
            <a:tailEnd type="none" w="med" len="med"/>
          </a:ln>
        </p:spPr>
      </p:cxnSp>
      <p:sp>
        <p:nvSpPr>
          <p:cNvPr id="179" name="Google Shape;179;p8" descr="Dark downward diagonal"/>
          <p:cNvSpPr/>
          <p:nvPr/>
        </p:nvSpPr>
        <p:spPr>
          <a:xfrm>
            <a:off x="6342064" y="5789614"/>
            <a:ext cx="1012825" cy="371475"/>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Times"/>
              <a:buNone/>
            </a:pPr>
            <a:endParaRPr sz="2400" b="0" i="0" u="none" strike="noStrike" cap="none">
              <a:solidFill>
                <a:schemeClr val="dk1"/>
              </a:solidFill>
              <a:latin typeface="Times New Roman"/>
              <a:ea typeface="Times New Roman"/>
              <a:cs typeface="Times New Roman"/>
              <a:sym typeface="Times New Roman"/>
            </a:endParaRPr>
          </a:p>
        </p:txBody>
      </p:sp>
      <p:sp>
        <p:nvSpPr>
          <p:cNvPr id="180" name="Google Shape;180;p8"/>
          <p:cNvSpPr txBox="1"/>
          <p:nvPr/>
        </p:nvSpPr>
        <p:spPr>
          <a:xfrm>
            <a:off x="6638925" y="5784851"/>
            <a:ext cx="5143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800"/>
              <a:buFont typeface="Times"/>
              <a:buNone/>
            </a:pPr>
            <a:r>
              <a:rPr lang="en-US" sz="1800" b="1" i="0" u="none" strike="noStrike" cap="none">
                <a:solidFill>
                  <a:schemeClr val="dk1"/>
                </a:solidFill>
                <a:latin typeface="Tahoma"/>
                <a:ea typeface="Tahoma"/>
                <a:cs typeface="Tahoma"/>
                <a:sym typeface="Tahoma"/>
              </a:rPr>
              <a:t>ret</a:t>
            </a:r>
            <a:endParaRPr/>
          </a:p>
        </p:txBody>
      </p:sp>
      <p:sp>
        <p:nvSpPr>
          <p:cNvPr id="181" name="Google Shape;18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Basic stack exploit</a:t>
            </a:r>
            <a:endParaRPr/>
          </a:p>
        </p:txBody>
      </p:sp>
      <p:sp>
        <p:nvSpPr>
          <p:cNvPr id="187" name="Google Shape;187;p9"/>
          <p:cNvSpPr txBox="1">
            <a:spLocks noGrp="1"/>
          </p:cNvSpPr>
          <p:nvPr>
            <p:ph type="body" idx="1"/>
          </p:nvPr>
        </p:nvSpPr>
        <p:spPr>
          <a:xfrm>
            <a:off x="1981200" y="1600200"/>
            <a:ext cx="8458200" cy="49530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t>Main problem:   no range checking in  strcpy().</a:t>
            </a:r>
            <a:endParaRPr/>
          </a:p>
          <a:p>
            <a:pPr marL="228600" lvl="0" indent="-228600" algn="l" rtl="0">
              <a:lnSpc>
                <a:spcPct val="90000"/>
              </a:lnSpc>
              <a:spcBef>
                <a:spcPts val="1680"/>
              </a:spcBef>
              <a:spcAft>
                <a:spcPts val="0"/>
              </a:spcAft>
              <a:buClr>
                <a:schemeClr val="dk1"/>
              </a:buClr>
              <a:buSzPts val="2400"/>
              <a:buChar char="•"/>
            </a:pPr>
            <a:r>
              <a:rPr lang="en-US" sz="2400"/>
              <a:t>Suppose    *str   is such that after  strcpy  stack looks like:</a:t>
            </a:r>
            <a:endParaRPr/>
          </a:p>
          <a:p>
            <a:pPr marL="228600" lvl="0" indent="-101600" algn="l" rtl="0">
              <a:lnSpc>
                <a:spcPct val="90000"/>
              </a:lnSpc>
              <a:spcBef>
                <a:spcPts val="1000"/>
              </a:spcBef>
              <a:spcAft>
                <a:spcPts val="0"/>
              </a:spcAft>
              <a:buClr>
                <a:schemeClr val="dk1"/>
              </a:buClr>
              <a:buSzPts val="2000"/>
              <a:buNone/>
            </a:pPr>
            <a:endParaRPr sz="2000"/>
          </a:p>
          <a:p>
            <a:pPr marL="228600" lvl="0" indent="-101600" algn="l" rtl="0">
              <a:lnSpc>
                <a:spcPct val="90000"/>
              </a:lnSpc>
              <a:spcBef>
                <a:spcPts val="1000"/>
              </a:spcBef>
              <a:spcAft>
                <a:spcPts val="0"/>
              </a:spcAft>
              <a:buClr>
                <a:schemeClr val="dk1"/>
              </a:buClr>
              <a:buSzPts val="2000"/>
              <a:buNone/>
            </a:pPr>
            <a:endParaRPr sz="2000"/>
          </a:p>
          <a:p>
            <a:pPr marL="228600" lvl="0" indent="-101600" algn="l" rtl="0">
              <a:lnSpc>
                <a:spcPct val="90000"/>
              </a:lnSpc>
              <a:spcBef>
                <a:spcPts val="1000"/>
              </a:spcBef>
              <a:spcAft>
                <a:spcPts val="0"/>
              </a:spcAft>
              <a:buClr>
                <a:schemeClr val="dk1"/>
              </a:buClr>
              <a:buSzPts val="2000"/>
              <a:buNone/>
            </a:pPr>
            <a:endParaRPr sz="2000"/>
          </a:p>
          <a:p>
            <a:pPr marL="228600" lvl="0" indent="-101600" algn="l" rtl="0">
              <a:lnSpc>
                <a:spcPct val="90000"/>
              </a:lnSpc>
              <a:spcBef>
                <a:spcPts val="1000"/>
              </a:spcBef>
              <a:spcAft>
                <a:spcPts val="0"/>
              </a:spcAft>
              <a:buClr>
                <a:schemeClr val="dk1"/>
              </a:buClr>
              <a:buSzPts val="2000"/>
              <a:buNone/>
            </a:pPr>
            <a:endParaRPr sz="2000"/>
          </a:p>
          <a:p>
            <a:pPr marL="228600" lvl="0" indent="-101600" algn="l" rtl="0">
              <a:lnSpc>
                <a:spcPct val="90000"/>
              </a:lnSpc>
              <a:spcBef>
                <a:spcPts val="1000"/>
              </a:spcBef>
              <a:spcAft>
                <a:spcPts val="0"/>
              </a:spcAft>
              <a:buClr>
                <a:schemeClr val="dk1"/>
              </a:buClr>
              <a:buSzPts val="2000"/>
              <a:buNone/>
            </a:pPr>
            <a:endParaRPr sz="2000"/>
          </a:p>
          <a:p>
            <a:pPr marL="228600" lvl="0" indent="-228600" algn="l" rtl="0">
              <a:lnSpc>
                <a:spcPct val="90000"/>
              </a:lnSpc>
              <a:spcBef>
                <a:spcPts val="2160"/>
              </a:spcBef>
              <a:spcAft>
                <a:spcPts val="0"/>
              </a:spcAft>
              <a:buClr>
                <a:schemeClr val="dk1"/>
              </a:buClr>
              <a:buSzPts val="2400"/>
              <a:buChar char="•"/>
            </a:pPr>
            <a:r>
              <a:rPr lang="en-US" sz="2400"/>
              <a:t>When   func()   exits,  the user will be given a shell  !!</a:t>
            </a:r>
            <a:endParaRPr/>
          </a:p>
          <a:p>
            <a:pPr marL="228600" lvl="0" indent="-228600" algn="l" rtl="0">
              <a:lnSpc>
                <a:spcPct val="90000"/>
              </a:lnSpc>
              <a:spcBef>
                <a:spcPts val="1000"/>
              </a:spcBef>
              <a:spcAft>
                <a:spcPts val="0"/>
              </a:spcAft>
              <a:buClr>
                <a:schemeClr val="dk1"/>
              </a:buClr>
              <a:buSzPts val="2400"/>
              <a:buChar char="•"/>
            </a:pPr>
            <a:r>
              <a:rPr lang="en-US" sz="2400"/>
              <a:t>Note:  attack code runs </a:t>
            </a:r>
            <a:r>
              <a:rPr lang="en-US" sz="2400" i="1"/>
              <a:t>in stack</a:t>
            </a:r>
            <a:r>
              <a:rPr lang="en-US" sz="2400"/>
              <a:t>.</a:t>
            </a:r>
            <a:endParaRPr/>
          </a:p>
        </p:txBody>
      </p:sp>
      <p:grpSp>
        <p:nvGrpSpPr>
          <p:cNvPr id="188" name="Google Shape;188;p9"/>
          <p:cNvGrpSpPr/>
          <p:nvPr/>
        </p:nvGrpSpPr>
        <p:grpSpPr>
          <a:xfrm>
            <a:off x="2438400" y="2590800"/>
            <a:ext cx="6692900" cy="1639888"/>
            <a:chOff x="576" y="1632"/>
            <a:chExt cx="4216" cy="1033"/>
          </a:xfrm>
        </p:grpSpPr>
        <p:cxnSp>
          <p:nvCxnSpPr>
            <p:cNvPr id="189" name="Google Shape;189;p9"/>
            <p:cNvCxnSpPr/>
            <p:nvPr/>
          </p:nvCxnSpPr>
          <p:spPr>
            <a:xfrm>
              <a:off x="3754" y="1968"/>
              <a:ext cx="527" cy="0"/>
            </a:xfrm>
            <a:prstGeom prst="straightConnector1">
              <a:avLst/>
            </a:prstGeom>
            <a:noFill/>
            <a:ln w="9525" cap="flat" cmpd="sng">
              <a:solidFill>
                <a:schemeClr val="dk1"/>
              </a:solidFill>
              <a:prstDash val="solid"/>
              <a:round/>
              <a:headEnd type="none" w="med" len="med"/>
              <a:tailEnd type="none" w="med" len="med"/>
            </a:ln>
          </p:spPr>
        </p:cxnSp>
        <p:cxnSp>
          <p:nvCxnSpPr>
            <p:cNvPr id="190" name="Google Shape;190;p9"/>
            <p:cNvCxnSpPr/>
            <p:nvPr/>
          </p:nvCxnSpPr>
          <p:spPr>
            <a:xfrm>
              <a:off x="3754" y="2205"/>
              <a:ext cx="527" cy="0"/>
            </a:xfrm>
            <a:prstGeom prst="straightConnector1">
              <a:avLst/>
            </a:prstGeom>
            <a:noFill/>
            <a:ln w="9525" cap="flat" cmpd="sng">
              <a:solidFill>
                <a:schemeClr val="dk1"/>
              </a:solidFill>
              <a:prstDash val="solid"/>
              <a:round/>
              <a:headEnd type="none" w="med" len="med"/>
              <a:tailEnd type="none" w="med" len="med"/>
            </a:ln>
          </p:spPr>
        </p:cxnSp>
        <p:cxnSp>
          <p:nvCxnSpPr>
            <p:cNvPr id="191" name="Google Shape;191;p9"/>
            <p:cNvCxnSpPr/>
            <p:nvPr/>
          </p:nvCxnSpPr>
          <p:spPr>
            <a:xfrm>
              <a:off x="576" y="1971"/>
              <a:ext cx="527" cy="0"/>
            </a:xfrm>
            <a:prstGeom prst="straightConnector1">
              <a:avLst/>
            </a:prstGeom>
            <a:noFill/>
            <a:ln w="9525" cap="flat" cmpd="sng">
              <a:solidFill>
                <a:schemeClr val="dk1"/>
              </a:solidFill>
              <a:prstDash val="solid"/>
              <a:round/>
              <a:headEnd type="none" w="med" len="med"/>
              <a:tailEnd type="none" w="med" len="med"/>
            </a:ln>
          </p:spPr>
        </p:cxnSp>
        <p:cxnSp>
          <p:nvCxnSpPr>
            <p:cNvPr id="192" name="Google Shape;192;p9"/>
            <p:cNvCxnSpPr/>
            <p:nvPr/>
          </p:nvCxnSpPr>
          <p:spPr>
            <a:xfrm>
              <a:off x="576" y="2205"/>
              <a:ext cx="527" cy="0"/>
            </a:xfrm>
            <a:prstGeom prst="straightConnector1">
              <a:avLst/>
            </a:prstGeom>
            <a:noFill/>
            <a:ln w="9525" cap="flat" cmpd="sng">
              <a:solidFill>
                <a:schemeClr val="dk1"/>
              </a:solidFill>
              <a:prstDash val="solid"/>
              <a:round/>
              <a:headEnd type="none" w="med" len="med"/>
              <a:tailEnd type="none" w="med" len="med"/>
            </a:ln>
          </p:spPr>
        </p:cxnSp>
        <p:sp>
          <p:nvSpPr>
            <p:cNvPr id="193" name="Google Shape;193;p9"/>
            <p:cNvSpPr txBox="1"/>
            <p:nvPr/>
          </p:nvSpPr>
          <p:spPr>
            <a:xfrm>
              <a:off x="4346" y="1828"/>
              <a:ext cx="446" cy="477"/>
            </a:xfrm>
            <a:prstGeom prst="rect">
              <a:avLst/>
            </a:prstGeom>
            <a:noFill/>
            <a:ln>
              <a:noFill/>
            </a:ln>
          </p:spPr>
          <p:txBody>
            <a:bodyPr spcFirstLastPara="1" wrap="square" lIns="91425" tIns="45700" rIns="91425" bIns="45700" anchor="t" anchorCtr="0">
              <a:spAutoFit/>
            </a:bodyPr>
            <a:lstStyle/>
            <a:p>
              <a:pPr marL="0" marR="0" lvl="0" indent="0" algn="ctr" rtl="0">
                <a:lnSpc>
                  <a:spcPct val="80000"/>
                </a:lnSpc>
                <a:spcBef>
                  <a:spcPts val="0"/>
                </a:spcBef>
                <a:spcAft>
                  <a:spcPts val="0"/>
                </a:spcAft>
                <a:buClr>
                  <a:schemeClr val="dk1"/>
                </a:buClr>
                <a:buSzPts val="1800"/>
                <a:buFont typeface="Times"/>
                <a:buNone/>
              </a:pPr>
              <a:r>
                <a:rPr lang="en-US" sz="1800" b="0" i="0" u="none" strike="noStrike" cap="none">
                  <a:solidFill>
                    <a:schemeClr val="dk1"/>
                  </a:solidFill>
                  <a:latin typeface="Tahoma"/>
                  <a:ea typeface="Tahoma"/>
                  <a:cs typeface="Tahoma"/>
                  <a:sym typeface="Tahoma"/>
                </a:rPr>
                <a:t>top</a:t>
              </a:r>
              <a:br>
                <a:rPr lang="en-US" sz="1800" b="0" i="0" u="none" strike="noStrike" cap="none">
                  <a:solidFill>
                    <a:schemeClr val="dk1"/>
                  </a:solidFill>
                  <a:latin typeface="Tahoma"/>
                  <a:ea typeface="Tahoma"/>
                  <a:cs typeface="Tahoma"/>
                  <a:sym typeface="Tahoma"/>
                </a:rPr>
              </a:br>
              <a:r>
                <a:rPr lang="en-US" sz="1800" b="0" i="0" u="none" strike="noStrike" cap="none">
                  <a:solidFill>
                    <a:schemeClr val="dk1"/>
                  </a:solidFill>
                  <a:latin typeface="Tahoma"/>
                  <a:ea typeface="Tahoma"/>
                  <a:cs typeface="Tahoma"/>
                  <a:sym typeface="Tahoma"/>
                </a:rPr>
                <a:t>of</a:t>
              </a:r>
              <a:br>
                <a:rPr lang="en-US" sz="1800" b="0" i="0" u="none" strike="noStrike" cap="none">
                  <a:solidFill>
                    <a:schemeClr val="dk1"/>
                  </a:solidFill>
                  <a:latin typeface="Tahoma"/>
                  <a:ea typeface="Tahoma"/>
                  <a:cs typeface="Tahoma"/>
                  <a:sym typeface="Tahoma"/>
                </a:rPr>
              </a:br>
              <a:r>
                <a:rPr lang="en-US" sz="1800" b="0" i="0" u="none" strike="noStrike" cap="none">
                  <a:solidFill>
                    <a:schemeClr val="dk1"/>
                  </a:solidFill>
                  <a:latin typeface="Tahoma"/>
                  <a:ea typeface="Tahoma"/>
                  <a:cs typeface="Tahoma"/>
                  <a:sym typeface="Tahoma"/>
                </a:rPr>
                <a:t>stack</a:t>
              </a:r>
              <a:endParaRPr/>
            </a:p>
          </p:txBody>
        </p:sp>
        <p:cxnSp>
          <p:nvCxnSpPr>
            <p:cNvPr id="194" name="Google Shape;194;p9"/>
            <p:cNvCxnSpPr/>
            <p:nvPr/>
          </p:nvCxnSpPr>
          <p:spPr>
            <a:xfrm rot="10800000">
              <a:off x="1295" y="2300"/>
              <a:ext cx="2017" cy="0"/>
            </a:xfrm>
            <a:prstGeom prst="straightConnector1">
              <a:avLst/>
            </a:prstGeom>
            <a:noFill/>
            <a:ln w="38100" cap="flat" cmpd="sng">
              <a:solidFill>
                <a:schemeClr val="dk1"/>
              </a:solidFill>
              <a:prstDash val="solid"/>
              <a:round/>
              <a:headEnd type="none" w="med" len="med"/>
              <a:tailEnd type="triangle" w="med" len="med"/>
            </a:ln>
          </p:spPr>
        </p:cxnSp>
        <p:sp>
          <p:nvSpPr>
            <p:cNvPr id="195" name="Google Shape;195;p9"/>
            <p:cNvSpPr/>
            <p:nvPr/>
          </p:nvSpPr>
          <p:spPr>
            <a:xfrm>
              <a:off x="1103" y="1971"/>
              <a:ext cx="2651" cy="234"/>
            </a:xfrm>
            <a:prstGeom prst="rect">
              <a:avLst/>
            </a:prstGeom>
            <a:solidFill>
              <a:schemeClr val="hlink"/>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Times"/>
                <a:buNone/>
              </a:pPr>
              <a:r>
                <a:rPr lang="en-US" sz="1800" b="0" i="0" u="none" strike="noStrike" cap="none">
                  <a:solidFill>
                    <a:schemeClr val="dk1"/>
                  </a:solidFill>
                  <a:latin typeface="Tahoma"/>
                  <a:ea typeface="Tahoma"/>
                  <a:cs typeface="Tahoma"/>
                  <a:sym typeface="Tahoma"/>
                </a:rPr>
                <a:t>       *str                 ret    Code for P</a:t>
              </a:r>
              <a:endParaRPr/>
            </a:p>
          </p:txBody>
        </p:sp>
        <p:cxnSp>
          <p:nvCxnSpPr>
            <p:cNvPr id="196" name="Google Shape;196;p9"/>
            <p:cNvCxnSpPr/>
            <p:nvPr/>
          </p:nvCxnSpPr>
          <p:spPr>
            <a:xfrm>
              <a:off x="2076" y="1971"/>
              <a:ext cx="0" cy="234"/>
            </a:xfrm>
            <a:prstGeom prst="straightConnector1">
              <a:avLst/>
            </a:prstGeom>
            <a:noFill/>
            <a:ln w="9525" cap="flat" cmpd="sng">
              <a:solidFill>
                <a:schemeClr val="dk1"/>
              </a:solidFill>
              <a:prstDash val="solid"/>
              <a:round/>
              <a:headEnd type="none" w="med" len="med"/>
              <a:tailEnd type="none" w="med" len="med"/>
            </a:ln>
          </p:spPr>
        </p:cxnSp>
        <p:cxnSp>
          <p:nvCxnSpPr>
            <p:cNvPr id="197" name="Google Shape;197;p9"/>
            <p:cNvCxnSpPr/>
            <p:nvPr/>
          </p:nvCxnSpPr>
          <p:spPr>
            <a:xfrm>
              <a:off x="2388" y="1971"/>
              <a:ext cx="0" cy="234"/>
            </a:xfrm>
            <a:prstGeom prst="straightConnector1">
              <a:avLst/>
            </a:prstGeom>
            <a:noFill/>
            <a:ln w="9525" cap="flat" cmpd="sng">
              <a:solidFill>
                <a:schemeClr val="dk1"/>
              </a:solidFill>
              <a:prstDash val="solid"/>
              <a:round/>
              <a:headEnd type="none" w="med" len="med"/>
              <a:tailEnd type="none" w="med" len="med"/>
            </a:ln>
          </p:spPr>
        </p:cxnSp>
        <p:cxnSp>
          <p:nvCxnSpPr>
            <p:cNvPr id="198" name="Google Shape;198;p9"/>
            <p:cNvCxnSpPr/>
            <p:nvPr/>
          </p:nvCxnSpPr>
          <p:spPr>
            <a:xfrm>
              <a:off x="2750" y="1971"/>
              <a:ext cx="0" cy="234"/>
            </a:xfrm>
            <a:prstGeom prst="straightConnector1">
              <a:avLst/>
            </a:prstGeom>
            <a:noFill/>
            <a:ln w="9525" cap="flat" cmpd="sng">
              <a:solidFill>
                <a:schemeClr val="dk1"/>
              </a:solidFill>
              <a:prstDash val="solid"/>
              <a:round/>
              <a:headEnd type="none" w="med" len="med"/>
              <a:tailEnd type="none" w="med" len="med"/>
            </a:ln>
          </p:spPr>
        </p:cxnSp>
        <p:sp>
          <p:nvSpPr>
            <p:cNvPr id="199" name="Google Shape;199;p9"/>
            <p:cNvSpPr/>
            <p:nvPr/>
          </p:nvSpPr>
          <p:spPr>
            <a:xfrm>
              <a:off x="2558" y="1632"/>
              <a:ext cx="390" cy="340"/>
            </a:xfrm>
            <a:custGeom>
              <a:avLst/>
              <a:gdLst/>
              <a:ahLst/>
              <a:cxnLst/>
              <a:rect l="l" t="t" r="r" b="b"/>
              <a:pathLst>
                <a:path w="390" h="340" extrusionOk="0">
                  <a:moveTo>
                    <a:pt x="0" y="340"/>
                  </a:moveTo>
                  <a:cubicBezTo>
                    <a:pt x="12" y="292"/>
                    <a:pt x="24" y="244"/>
                    <a:pt x="48" y="196"/>
                  </a:cubicBezTo>
                  <a:cubicBezTo>
                    <a:pt x="72" y="148"/>
                    <a:pt x="104" y="84"/>
                    <a:pt x="144" y="52"/>
                  </a:cubicBezTo>
                  <a:cubicBezTo>
                    <a:pt x="184" y="20"/>
                    <a:pt x="254" y="8"/>
                    <a:pt x="288" y="4"/>
                  </a:cubicBezTo>
                  <a:cubicBezTo>
                    <a:pt x="322" y="0"/>
                    <a:pt x="331" y="14"/>
                    <a:pt x="347" y="30"/>
                  </a:cubicBezTo>
                  <a:cubicBezTo>
                    <a:pt x="363" y="46"/>
                    <a:pt x="378" y="64"/>
                    <a:pt x="384" y="100"/>
                  </a:cubicBezTo>
                  <a:cubicBezTo>
                    <a:pt x="390" y="136"/>
                    <a:pt x="385" y="208"/>
                    <a:pt x="384" y="244"/>
                  </a:cubicBezTo>
                  <a:cubicBezTo>
                    <a:pt x="383" y="280"/>
                    <a:pt x="378" y="303"/>
                    <a:pt x="377" y="318"/>
                  </a:cubicBezTo>
                </a:path>
              </a:pathLst>
            </a:custGeom>
            <a:noFill/>
            <a:ln w="571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0" name="Google Shape;200;p9"/>
            <p:cNvSpPr txBox="1"/>
            <p:nvPr/>
          </p:nvSpPr>
          <p:spPr>
            <a:xfrm>
              <a:off x="1056" y="2415"/>
              <a:ext cx="269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imes"/>
                <a:buNone/>
              </a:pPr>
              <a:r>
                <a:rPr lang="en-US" sz="2000" b="0" u="none">
                  <a:solidFill>
                    <a:schemeClr val="dk1"/>
                  </a:solidFill>
                  <a:latin typeface="Tahoma"/>
                  <a:ea typeface="Tahoma"/>
                  <a:cs typeface="Tahoma"/>
                  <a:sym typeface="Tahoma"/>
                </a:rPr>
                <a:t>Program P:   </a:t>
              </a:r>
              <a:r>
                <a:rPr lang="en-US" sz="2000" b="1" u="none">
                  <a:solidFill>
                    <a:schemeClr val="dk1"/>
                  </a:solidFill>
                  <a:latin typeface="Courier New"/>
                  <a:ea typeface="Courier New"/>
                  <a:cs typeface="Courier New"/>
                  <a:sym typeface="Courier New"/>
                </a:rPr>
                <a:t>exec( “/bin/sh” )</a:t>
              </a:r>
              <a:endParaRPr/>
            </a:p>
          </p:txBody>
        </p:sp>
      </p:grpSp>
      <p:sp>
        <p:nvSpPr>
          <p:cNvPr id="201" name="Google Shape;20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Carrying out this attack requires</a:t>
            </a:r>
            <a:endParaRPr/>
          </a:p>
        </p:txBody>
      </p:sp>
      <p:sp>
        <p:nvSpPr>
          <p:cNvPr id="207" name="Google Shape;207;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Determine the location of injected code position on stack when func() is called.</a:t>
            </a:r>
            <a:endParaRPr/>
          </a:p>
          <a:p>
            <a:pPr marL="685800" lvl="1" indent="-228600" algn="l" rtl="0">
              <a:lnSpc>
                <a:spcPct val="90000"/>
              </a:lnSpc>
              <a:spcBef>
                <a:spcPts val="500"/>
              </a:spcBef>
              <a:spcAft>
                <a:spcPts val="0"/>
              </a:spcAft>
              <a:buClr>
                <a:schemeClr val="dk1"/>
              </a:buClr>
              <a:buSzPts val="2400"/>
              <a:buChar char="•"/>
            </a:pPr>
            <a:r>
              <a:rPr lang="en-US"/>
              <a:t>So as to change stored return address on stack to point to it</a:t>
            </a:r>
            <a:endParaRPr/>
          </a:p>
          <a:p>
            <a:pPr marL="685800" lvl="1" indent="-228600" algn="l" rtl="0">
              <a:lnSpc>
                <a:spcPct val="90000"/>
              </a:lnSpc>
              <a:spcBef>
                <a:spcPts val="500"/>
              </a:spcBef>
              <a:spcAft>
                <a:spcPts val="0"/>
              </a:spcAft>
              <a:buClr>
                <a:schemeClr val="dk1"/>
              </a:buClr>
              <a:buSzPts val="2400"/>
              <a:buChar char="•"/>
            </a:pPr>
            <a:r>
              <a:rPr lang="en-US"/>
              <a:t>Location of injected code is fixed relative to the location of the stack frame</a:t>
            </a:r>
            <a:endParaRPr/>
          </a:p>
          <a:p>
            <a:pPr marL="228600" lvl="0" indent="-228600" algn="l" rtl="0">
              <a:lnSpc>
                <a:spcPct val="90000"/>
              </a:lnSpc>
              <a:spcBef>
                <a:spcPts val="1000"/>
              </a:spcBef>
              <a:spcAft>
                <a:spcPts val="0"/>
              </a:spcAft>
              <a:buClr>
                <a:schemeClr val="dk1"/>
              </a:buClr>
              <a:buSzPts val="2800"/>
              <a:buChar char="•"/>
            </a:pPr>
            <a:r>
              <a:rPr lang="en-US"/>
              <a:t>Program P should not contain the ‘\0’  character.</a:t>
            </a:r>
            <a:endParaRPr/>
          </a:p>
          <a:p>
            <a:pPr marL="685800" lvl="1" indent="-228600" algn="l" rtl="0">
              <a:lnSpc>
                <a:spcPct val="90000"/>
              </a:lnSpc>
              <a:spcBef>
                <a:spcPts val="500"/>
              </a:spcBef>
              <a:spcAft>
                <a:spcPts val="0"/>
              </a:spcAft>
              <a:buClr>
                <a:schemeClr val="dk1"/>
              </a:buClr>
              <a:buSzPts val="2400"/>
              <a:buChar char="•"/>
            </a:pPr>
            <a:r>
              <a:rPr lang="en-US"/>
              <a:t>Easy to achieve</a:t>
            </a:r>
            <a:endParaRPr/>
          </a:p>
          <a:p>
            <a:pPr marL="228600" lvl="0" indent="-228600" algn="l" rtl="0">
              <a:lnSpc>
                <a:spcPct val="90000"/>
              </a:lnSpc>
              <a:spcBef>
                <a:spcPts val="1000"/>
              </a:spcBef>
              <a:spcAft>
                <a:spcPts val="0"/>
              </a:spcAft>
              <a:buClr>
                <a:schemeClr val="dk1"/>
              </a:buClr>
              <a:buSzPts val="2800"/>
              <a:buChar char="•"/>
            </a:pPr>
            <a:r>
              <a:rPr lang="en-US"/>
              <a:t>Overflow should not crash program before  func()  exits.</a:t>
            </a:r>
            <a:endParaRPr/>
          </a:p>
          <a:p>
            <a:pPr marL="228600" lvl="0" indent="-50800" algn="l" rtl="0">
              <a:lnSpc>
                <a:spcPct val="90000"/>
              </a:lnSpc>
              <a:spcBef>
                <a:spcPts val="1000"/>
              </a:spcBef>
              <a:spcAft>
                <a:spcPts val="0"/>
              </a:spcAft>
              <a:buClr>
                <a:schemeClr val="dk1"/>
              </a:buClr>
              <a:buSzPts val="2800"/>
              <a:buNone/>
            </a:pPr>
            <a:endParaRPr/>
          </a:p>
        </p:txBody>
      </p:sp>
      <p:sp>
        <p:nvSpPr>
          <p:cNvPr id="208" name="Google Shape;20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Some unsafe C lib functions</a:t>
            </a:r>
            <a:endParaRPr/>
          </a:p>
        </p:txBody>
      </p:sp>
      <p:sp>
        <p:nvSpPr>
          <p:cNvPr id="214" name="Google Shape;214;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Times"/>
              <a:buNone/>
            </a:pPr>
            <a:r>
              <a:rPr lang="en-US"/>
              <a:t>	strcpy (char *dest,  const char *src)</a:t>
            </a:r>
            <a:endParaRPr/>
          </a:p>
          <a:p>
            <a:pPr marL="228600" lvl="0" indent="-228600" algn="l" rtl="0">
              <a:lnSpc>
                <a:spcPct val="90000"/>
              </a:lnSpc>
              <a:spcBef>
                <a:spcPts val="1000"/>
              </a:spcBef>
              <a:spcAft>
                <a:spcPts val="0"/>
              </a:spcAft>
              <a:buClr>
                <a:schemeClr val="dk1"/>
              </a:buClr>
              <a:buSzPts val="2800"/>
              <a:buFont typeface="Times"/>
              <a:buNone/>
            </a:pPr>
            <a:r>
              <a:rPr lang="en-US"/>
              <a:t>	strcat (char *dest, const char *src)</a:t>
            </a:r>
            <a:endParaRPr/>
          </a:p>
          <a:p>
            <a:pPr marL="228600" lvl="0" indent="-228600" algn="l" rtl="0">
              <a:lnSpc>
                <a:spcPct val="90000"/>
              </a:lnSpc>
              <a:spcBef>
                <a:spcPts val="1000"/>
              </a:spcBef>
              <a:spcAft>
                <a:spcPts val="0"/>
              </a:spcAft>
              <a:buClr>
                <a:schemeClr val="dk1"/>
              </a:buClr>
              <a:buSzPts val="2800"/>
              <a:buFont typeface="Times"/>
              <a:buNone/>
            </a:pPr>
            <a:r>
              <a:rPr lang="en-US"/>
              <a:t>	gets (char *s)</a:t>
            </a:r>
            <a:endParaRPr/>
          </a:p>
          <a:p>
            <a:pPr marL="228600" lvl="0" indent="-228600" algn="l" rtl="0">
              <a:lnSpc>
                <a:spcPct val="90000"/>
              </a:lnSpc>
              <a:spcBef>
                <a:spcPts val="1000"/>
              </a:spcBef>
              <a:spcAft>
                <a:spcPts val="0"/>
              </a:spcAft>
              <a:buClr>
                <a:schemeClr val="dk1"/>
              </a:buClr>
              <a:buSzPts val="2800"/>
              <a:buFont typeface="Times"/>
              <a:buNone/>
            </a:pPr>
            <a:r>
              <a:rPr lang="en-US"/>
              <a:t>	scanf ( const char *format, … )</a:t>
            </a:r>
            <a:endParaRPr/>
          </a:p>
          <a:p>
            <a:pPr marL="228600" lvl="0" indent="-228600" algn="l" rtl="0">
              <a:lnSpc>
                <a:spcPct val="90000"/>
              </a:lnSpc>
              <a:spcBef>
                <a:spcPts val="1000"/>
              </a:spcBef>
              <a:spcAft>
                <a:spcPts val="0"/>
              </a:spcAft>
              <a:buClr>
                <a:schemeClr val="dk1"/>
              </a:buClr>
              <a:buSzPts val="2800"/>
              <a:buFont typeface="Times"/>
              <a:buNone/>
            </a:pPr>
            <a:r>
              <a:rPr lang="en-US"/>
              <a:t>	sprintf (conts char *format, … )</a:t>
            </a:r>
            <a:endParaRPr/>
          </a:p>
        </p:txBody>
      </p:sp>
      <p:cxnSp>
        <p:nvCxnSpPr>
          <p:cNvPr id="215" name="Google Shape;215;p11"/>
          <p:cNvCxnSpPr/>
          <p:nvPr/>
        </p:nvCxnSpPr>
        <p:spPr>
          <a:xfrm>
            <a:off x="4953000" y="4495800"/>
            <a:ext cx="0" cy="1219200"/>
          </a:xfrm>
          <a:prstGeom prst="straightConnector1">
            <a:avLst/>
          </a:prstGeom>
          <a:noFill/>
          <a:ln w="57150" cap="flat" cmpd="sng">
            <a:solidFill>
              <a:schemeClr val="dk1"/>
            </a:solidFill>
            <a:prstDash val="dot"/>
            <a:round/>
            <a:headEnd type="none" w="med" len="med"/>
            <a:tailEnd type="none" w="med" len="med"/>
          </a:ln>
        </p:spPr>
      </p:cxnSp>
      <p:sp>
        <p:nvSpPr>
          <p:cNvPr id="216" name="Google Shape;216;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2"/>
          <p:cNvSpPr txBox="1">
            <a:spLocks noGrp="1"/>
          </p:cNvSpPr>
          <p:nvPr>
            <p:ph type="title"/>
          </p:nvPr>
        </p:nvSpPr>
        <p:spPr>
          <a:xfrm>
            <a:off x="1828801" y="533400"/>
            <a:ext cx="8397875" cy="50323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The Problem</a:t>
            </a:r>
            <a:endParaRPr/>
          </a:p>
        </p:txBody>
      </p:sp>
      <p:sp>
        <p:nvSpPr>
          <p:cNvPr id="222" name="Google Shape;222;p12"/>
          <p:cNvSpPr txBox="1">
            <a:spLocks noGrp="1"/>
          </p:cNvSpPr>
          <p:nvPr>
            <p:ph type="body" idx="1"/>
          </p:nvPr>
        </p:nvSpPr>
        <p:spPr>
          <a:xfrm>
            <a:off x="2209800" y="1676400"/>
            <a:ext cx="8153400" cy="44196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Noto Sans Symbols"/>
              <a:buNone/>
            </a:pPr>
            <a:r>
              <a:rPr lang="en-US" b="1">
                <a:solidFill>
                  <a:schemeClr val="dk1"/>
                </a:solidFill>
                <a:latin typeface="Courier New"/>
                <a:ea typeface="Courier New"/>
                <a:cs typeface="Courier New"/>
                <a:sym typeface="Courier New"/>
              </a:rPr>
              <a:t>void foo(char *s) {</a:t>
            </a:r>
            <a:endParaRPr/>
          </a:p>
          <a:p>
            <a:pPr marL="228600" lvl="0" indent="-228600" algn="l" rtl="0">
              <a:lnSpc>
                <a:spcPct val="90000"/>
              </a:lnSpc>
              <a:spcBef>
                <a:spcPts val="1000"/>
              </a:spcBef>
              <a:spcAft>
                <a:spcPts val="0"/>
              </a:spcAft>
              <a:buClr>
                <a:schemeClr val="dk1"/>
              </a:buClr>
              <a:buSzPts val="2800"/>
              <a:buFont typeface="Noto Sans Symbols"/>
              <a:buNone/>
            </a:pPr>
            <a:r>
              <a:rPr lang="en-US" b="1">
                <a:solidFill>
                  <a:schemeClr val="dk1"/>
                </a:solidFill>
                <a:latin typeface="Courier New"/>
                <a:ea typeface="Courier New"/>
                <a:cs typeface="Courier New"/>
                <a:sym typeface="Courier New"/>
              </a:rPr>
              <a:t>	char buf[10];</a:t>
            </a:r>
            <a:endParaRPr/>
          </a:p>
          <a:p>
            <a:pPr marL="228600" lvl="0" indent="-228600" algn="l" rtl="0">
              <a:lnSpc>
                <a:spcPct val="90000"/>
              </a:lnSpc>
              <a:spcBef>
                <a:spcPts val="1000"/>
              </a:spcBef>
              <a:spcAft>
                <a:spcPts val="0"/>
              </a:spcAft>
              <a:buClr>
                <a:schemeClr val="dk1"/>
              </a:buClr>
              <a:buSzPts val="2800"/>
              <a:buFont typeface="Noto Sans Symbols"/>
              <a:buNone/>
            </a:pPr>
            <a:r>
              <a:rPr lang="en-US" b="1">
                <a:solidFill>
                  <a:schemeClr val="dk1"/>
                </a:solidFill>
                <a:latin typeface="Courier New"/>
                <a:ea typeface="Courier New"/>
                <a:cs typeface="Courier New"/>
                <a:sym typeface="Courier New"/>
              </a:rPr>
              <a:t>	strcpy(buf,s);</a:t>
            </a:r>
            <a:endParaRPr/>
          </a:p>
          <a:p>
            <a:pPr marL="228600" lvl="0" indent="-228600" algn="l" rtl="0">
              <a:lnSpc>
                <a:spcPct val="90000"/>
              </a:lnSpc>
              <a:spcBef>
                <a:spcPts val="1000"/>
              </a:spcBef>
              <a:spcAft>
                <a:spcPts val="0"/>
              </a:spcAft>
              <a:buClr>
                <a:schemeClr val="dk1"/>
              </a:buClr>
              <a:buSzPts val="2800"/>
              <a:buFont typeface="Noto Sans Symbols"/>
              <a:buNone/>
            </a:pPr>
            <a:r>
              <a:rPr lang="en-US" b="1">
                <a:solidFill>
                  <a:schemeClr val="dk1"/>
                </a:solidFill>
                <a:latin typeface="Courier New"/>
                <a:ea typeface="Courier New"/>
                <a:cs typeface="Courier New"/>
                <a:sym typeface="Courier New"/>
              </a:rPr>
              <a:t>	printf(“buf is %s\n”,s);</a:t>
            </a:r>
            <a:endParaRPr/>
          </a:p>
          <a:p>
            <a:pPr marL="228600" lvl="0" indent="-228600" algn="l" rtl="0">
              <a:lnSpc>
                <a:spcPct val="90000"/>
              </a:lnSpc>
              <a:spcBef>
                <a:spcPts val="1000"/>
              </a:spcBef>
              <a:spcAft>
                <a:spcPts val="0"/>
              </a:spcAft>
              <a:buClr>
                <a:schemeClr val="dk1"/>
              </a:buClr>
              <a:buSzPts val="2800"/>
              <a:buFont typeface="Noto Sans Symbols"/>
              <a:buNone/>
            </a:pPr>
            <a:r>
              <a:rPr lang="en-US" b="1">
                <a:solidFill>
                  <a:schemeClr val="dk1"/>
                </a:solidFill>
                <a:latin typeface="Courier New"/>
                <a:ea typeface="Courier New"/>
                <a:cs typeface="Courier New"/>
                <a:sym typeface="Courier New"/>
              </a:rPr>
              <a:t>}</a:t>
            </a:r>
            <a:endParaRPr/>
          </a:p>
          <a:p>
            <a:pPr marL="228600" lvl="0" indent="-228600" algn="l" rtl="0">
              <a:lnSpc>
                <a:spcPct val="90000"/>
              </a:lnSpc>
              <a:spcBef>
                <a:spcPts val="1000"/>
              </a:spcBef>
              <a:spcAft>
                <a:spcPts val="0"/>
              </a:spcAft>
              <a:buClr>
                <a:schemeClr val="dk1"/>
              </a:buClr>
              <a:buSzPts val="2800"/>
              <a:buFont typeface="Noto Sans Symbols"/>
              <a:buNone/>
            </a:pPr>
            <a:r>
              <a:rPr lang="en-US" b="1">
                <a:solidFill>
                  <a:schemeClr val="dk1"/>
                </a:solidFill>
                <a:latin typeface="Courier New"/>
                <a:ea typeface="Courier New"/>
                <a:cs typeface="Courier New"/>
                <a:sym typeface="Courier New"/>
              </a:rPr>
              <a:t>…</a:t>
            </a:r>
            <a:endParaRPr/>
          </a:p>
          <a:p>
            <a:pPr marL="228600" lvl="0" indent="-228600" algn="l" rtl="0">
              <a:lnSpc>
                <a:spcPct val="90000"/>
              </a:lnSpc>
              <a:spcBef>
                <a:spcPts val="1000"/>
              </a:spcBef>
              <a:spcAft>
                <a:spcPts val="0"/>
              </a:spcAft>
              <a:buClr>
                <a:schemeClr val="dk1"/>
              </a:buClr>
              <a:buSzPts val="2800"/>
              <a:buFont typeface="Noto Sans Symbols"/>
              <a:buNone/>
            </a:pPr>
            <a:r>
              <a:rPr lang="en-US" b="1">
                <a:solidFill>
                  <a:schemeClr val="dk1"/>
                </a:solidFill>
                <a:latin typeface="Courier New"/>
                <a:ea typeface="Courier New"/>
                <a:cs typeface="Courier New"/>
                <a:sym typeface="Courier New"/>
              </a:rPr>
              <a:t>foo(“thisstringistolongforfoo”);</a:t>
            </a:r>
            <a:endParaRPr/>
          </a:p>
          <a:p>
            <a:pPr marL="228600" lvl="0" indent="-228600" algn="l" rtl="0">
              <a:lnSpc>
                <a:spcPct val="90000"/>
              </a:lnSpc>
              <a:spcBef>
                <a:spcPts val="1000"/>
              </a:spcBef>
              <a:spcAft>
                <a:spcPts val="0"/>
              </a:spcAft>
              <a:buClr>
                <a:schemeClr val="dk1"/>
              </a:buClr>
              <a:buSzPts val="2800"/>
              <a:buFont typeface="Noto Sans Symbols"/>
              <a:buNone/>
            </a:pPr>
            <a:endParaRPr b="1">
              <a:solidFill>
                <a:schemeClr val="dk1"/>
              </a:solidFill>
              <a:latin typeface="Courier New"/>
              <a:ea typeface="Courier New"/>
              <a:cs typeface="Courier New"/>
              <a:sym typeface="Courier New"/>
            </a:endParaRPr>
          </a:p>
        </p:txBody>
      </p:sp>
      <p:sp>
        <p:nvSpPr>
          <p:cNvPr id="223" name="Google Shape;22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Exploitation</a:t>
            </a:r>
            <a:endParaRPr/>
          </a:p>
        </p:txBody>
      </p:sp>
      <p:sp>
        <p:nvSpPr>
          <p:cNvPr id="229" name="Google Shape;229;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 general idea is to give servers very large strings that will overflow a buffer.</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For a server with sloppy code – it’s easy to crash the server by overflowing a buffer.</a:t>
            </a:r>
            <a:endParaRPr/>
          </a:p>
          <a:p>
            <a:pPr marL="228600" lvl="0" indent="-228600" algn="l" rtl="0">
              <a:lnSpc>
                <a:spcPct val="90000"/>
              </a:lnSpc>
              <a:spcBef>
                <a:spcPts val="1000"/>
              </a:spcBef>
              <a:spcAft>
                <a:spcPts val="0"/>
              </a:spcAft>
              <a:buClr>
                <a:schemeClr val="dk1"/>
              </a:buClr>
              <a:buSzPts val="2800"/>
              <a:buFont typeface="Noto Sans Symbols"/>
              <a:buNone/>
            </a:pPr>
            <a:endParaRPr/>
          </a:p>
          <a:p>
            <a:pPr marL="228600" lvl="0" indent="-228600" algn="l" rtl="0">
              <a:lnSpc>
                <a:spcPct val="90000"/>
              </a:lnSpc>
              <a:spcBef>
                <a:spcPts val="1000"/>
              </a:spcBef>
              <a:spcAft>
                <a:spcPts val="0"/>
              </a:spcAft>
              <a:buClr>
                <a:schemeClr val="dk1"/>
              </a:buClr>
              <a:buSzPts val="2800"/>
              <a:buChar char="•"/>
            </a:pPr>
            <a:r>
              <a:rPr lang="en-US"/>
              <a:t>It’s sometimes possible to actually make the server do whatever you want (instead of crashing).</a:t>
            </a:r>
            <a:endParaRPr/>
          </a:p>
        </p:txBody>
      </p:sp>
      <p:sp>
        <p:nvSpPr>
          <p:cNvPr id="230" name="Google Shape;23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Necessary Background</a:t>
            </a:r>
            <a:endParaRPr/>
          </a:p>
        </p:txBody>
      </p:sp>
      <p:sp>
        <p:nvSpPr>
          <p:cNvPr id="236" name="Google Shape;236;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C functions and the stack.</a:t>
            </a:r>
            <a:endParaRPr/>
          </a:p>
          <a:p>
            <a:pPr marL="228600" lvl="0" indent="-228600" algn="l" rtl="0">
              <a:lnSpc>
                <a:spcPct val="90000"/>
              </a:lnSpc>
              <a:spcBef>
                <a:spcPts val="1000"/>
              </a:spcBef>
              <a:spcAft>
                <a:spcPts val="0"/>
              </a:spcAft>
              <a:buClr>
                <a:schemeClr val="dk1"/>
              </a:buClr>
              <a:buSzPts val="2800"/>
              <a:buChar char="•"/>
            </a:pPr>
            <a:r>
              <a:rPr lang="en-US"/>
              <a:t>A little knowledge of assembly/machine language.</a:t>
            </a:r>
            <a:endParaRPr/>
          </a:p>
          <a:p>
            <a:pPr marL="228600" lvl="0" indent="-228600" algn="l" rtl="0">
              <a:lnSpc>
                <a:spcPct val="90000"/>
              </a:lnSpc>
              <a:spcBef>
                <a:spcPts val="1000"/>
              </a:spcBef>
              <a:spcAft>
                <a:spcPts val="0"/>
              </a:spcAft>
              <a:buClr>
                <a:schemeClr val="dk1"/>
              </a:buClr>
              <a:buSzPts val="2800"/>
              <a:buChar char="•"/>
            </a:pPr>
            <a:r>
              <a:rPr lang="en-US"/>
              <a:t>How system calls are made (at the level of machine code level).</a:t>
            </a:r>
            <a:endParaRPr/>
          </a:p>
          <a:p>
            <a:pPr marL="228600" lvl="0" indent="-228600" algn="l" rtl="0">
              <a:lnSpc>
                <a:spcPct val="90000"/>
              </a:lnSpc>
              <a:spcBef>
                <a:spcPts val="1000"/>
              </a:spcBef>
              <a:spcAft>
                <a:spcPts val="0"/>
              </a:spcAft>
              <a:buClr>
                <a:schemeClr val="dk1"/>
              </a:buClr>
              <a:buSzPts val="2800"/>
              <a:buChar char="•"/>
            </a:pPr>
            <a:r>
              <a:rPr lang="en-US" b="1">
                <a:latin typeface="Courier New"/>
                <a:ea typeface="Courier New"/>
                <a:cs typeface="Courier New"/>
                <a:sym typeface="Courier New"/>
              </a:rPr>
              <a:t>exec()</a:t>
            </a:r>
            <a:r>
              <a:rPr lang="en-US"/>
              <a:t> system calls </a:t>
            </a:r>
            <a:endParaRPr/>
          </a:p>
          <a:p>
            <a:pPr marL="228600" lvl="0" indent="-50800" algn="l" rtl="0">
              <a:lnSpc>
                <a:spcPct val="90000"/>
              </a:lnSpc>
              <a:spcBef>
                <a:spcPts val="1000"/>
              </a:spcBef>
              <a:spcAft>
                <a:spcPts val="0"/>
              </a:spcAft>
              <a:buClr>
                <a:schemeClr val="dk1"/>
              </a:buClr>
              <a:buSzPts val="2800"/>
              <a:buNone/>
            </a:pPr>
            <a:endParaRPr/>
          </a:p>
          <a:p>
            <a:pPr marL="685800" lvl="1" indent="-228600" algn="l" rtl="0">
              <a:lnSpc>
                <a:spcPct val="90000"/>
              </a:lnSpc>
              <a:spcBef>
                <a:spcPts val="500"/>
              </a:spcBef>
              <a:spcAft>
                <a:spcPts val="0"/>
              </a:spcAft>
              <a:buClr>
                <a:schemeClr val="dk1"/>
              </a:buClr>
              <a:buSzPts val="2400"/>
              <a:buChar char="•"/>
            </a:pPr>
            <a:r>
              <a:rPr lang="en-US"/>
              <a:t>How to “guess” some key parameters.</a:t>
            </a:r>
            <a:endParaRPr/>
          </a:p>
        </p:txBody>
      </p:sp>
      <p:sp>
        <p:nvSpPr>
          <p:cNvPr id="237" name="Google Shape;23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What is a Buffer Overflow?</a:t>
            </a:r>
            <a:endParaRPr/>
          </a:p>
        </p:txBody>
      </p:sp>
      <p:sp>
        <p:nvSpPr>
          <p:cNvPr id="243" name="Google Shape;243;p15"/>
          <p:cNvSpPr txBox="1">
            <a:spLocks noGrp="1"/>
          </p:cNvSpPr>
          <p:nvPr>
            <p:ph type="body" idx="1"/>
          </p:nvPr>
        </p:nvSpPr>
        <p:spPr>
          <a:xfrm>
            <a:off x="1981200" y="1524001"/>
            <a:ext cx="8153400" cy="47339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Intent</a:t>
            </a:r>
            <a:endParaRPr/>
          </a:p>
          <a:p>
            <a:pPr marL="685800" lvl="1" indent="-228600" algn="l" rtl="0">
              <a:lnSpc>
                <a:spcPct val="90000"/>
              </a:lnSpc>
              <a:spcBef>
                <a:spcPts val="500"/>
              </a:spcBef>
              <a:spcAft>
                <a:spcPts val="0"/>
              </a:spcAft>
              <a:buClr>
                <a:schemeClr val="dk1"/>
              </a:buClr>
              <a:buSzPts val="2400"/>
              <a:buChar char="•"/>
            </a:pPr>
            <a:r>
              <a:rPr lang="en-US"/>
              <a:t>Arbitrary code execution</a:t>
            </a:r>
            <a:endParaRPr/>
          </a:p>
          <a:p>
            <a:pPr marL="1143000" lvl="2" indent="-228600" algn="l" rtl="0">
              <a:lnSpc>
                <a:spcPct val="90000"/>
              </a:lnSpc>
              <a:spcBef>
                <a:spcPts val="500"/>
              </a:spcBef>
              <a:spcAft>
                <a:spcPts val="0"/>
              </a:spcAft>
              <a:buClr>
                <a:schemeClr val="dk1"/>
              </a:buClr>
              <a:buSzPts val="2000"/>
              <a:buChar char="•"/>
            </a:pPr>
            <a:r>
              <a:rPr lang="en-US"/>
              <a:t>Spawn a remote shell or infect with worm/virus</a:t>
            </a:r>
            <a:endParaRPr/>
          </a:p>
          <a:p>
            <a:pPr marL="685800" lvl="1" indent="-228600" algn="l" rtl="0">
              <a:lnSpc>
                <a:spcPct val="90000"/>
              </a:lnSpc>
              <a:spcBef>
                <a:spcPts val="500"/>
              </a:spcBef>
              <a:spcAft>
                <a:spcPts val="0"/>
              </a:spcAft>
              <a:buClr>
                <a:schemeClr val="dk1"/>
              </a:buClr>
              <a:buSzPts val="2400"/>
              <a:buChar char="•"/>
            </a:pPr>
            <a:r>
              <a:rPr lang="en-US"/>
              <a:t>Denial of service</a:t>
            </a:r>
            <a:endParaRPr/>
          </a:p>
          <a:p>
            <a:pPr marL="1143000" lvl="2" indent="-228600" algn="l" rtl="0">
              <a:lnSpc>
                <a:spcPct val="90000"/>
              </a:lnSpc>
              <a:spcBef>
                <a:spcPts val="500"/>
              </a:spcBef>
              <a:spcAft>
                <a:spcPts val="0"/>
              </a:spcAft>
              <a:buClr>
                <a:schemeClr val="dk1"/>
              </a:buClr>
              <a:buSzPts val="2000"/>
              <a:buChar char="•"/>
            </a:pPr>
            <a:r>
              <a:rPr lang="en-US"/>
              <a:t>Cause software to crash</a:t>
            </a:r>
            <a:endParaRPr/>
          </a:p>
          <a:p>
            <a:pPr marL="1600200" lvl="3" indent="-228600" algn="l" rtl="0">
              <a:lnSpc>
                <a:spcPct val="90000"/>
              </a:lnSpc>
              <a:spcBef>
                <a:spcPts val="500"/>
              </a:spcBef>
              <a:spcAft>
                <a:spcPts val="0"/>
              </a:spcAft>
              <a:buClr>
                <a:schemeClr val="dk1"/>
              </a:buClr>
              <a:buSzPts val="1800"/>
              <a:buChar char="•"/>
            </a:pPr>
            <a:r>
              <a:rPr lang="en-US"/>
              <a:t>E.g., ping of death attack</a:t>
            </a:r>
            <a:endParaRPr/>
          </a:p>
          <a:p>
            <a:pPr marL="228600" lvl="0" indent="-228600" algn="l" rtl="0">
              <a:lnSpc>
                <a:spcPct val="90000"/>
              </a:lnSpc>
              <a:spcBef>
                <a:spcPts val="1000"/>
              </a:spcBef>
              <a:spcAft>
                <a:spcPts val="0"/>
              </a:spcAft>
              <a:buClr>
                <a:schemeClr val="dk1"/>
              </a:buClr>
              <a:buSzPts val="2800"/>
              <a:buChar char="•"/>
            </a:pPr>
            <a:r>
              <a:rPr lang="en-US"/>
              <a:t>Steps</a:t>
            </a:r>
            <a:endParaRPr/>
          </a:p>
          <a:p>
            <a:pPr marL="685800" lvl="1" indent="-228600" algn="l" rtl="0">
              <a:lnSpc>
                <a:spcPct val="90000"/>
              </a:lnSpc>
              <a:spcBef>
                <a:spcPts val="500"/>
              </a:spcBef>
              <a:spcAft>
                <a:spcPts val="0"/>
              </a:spcAft>
              <a:buClr>
                <a:schemeClr val="dk1"/>
              </a:buClr>
              <a:buSzPts val="2400"/>
              <a:buChar char="•"/>
            </a:pPr>
            <a:r>
              <a:rPr lang="en-US"/>
              <a:t>Inject attack code into buffer</a:t>
            </a:r>
            <a:endParaRPr/>
          </a:p>
          <a:p>
            <a:pPr marL="685800" lvl="1" indent="-228600" algn="l" rtl="0">
              <a:lnSpc>
                <a:spcPct val="90000"/>
              </a:lnSpc>
              <a:spcBef>
                <a:spcPts val="500"/>
              </a:spcBef>
              <a:spcAft>
                <a:spcPts val="0"/>
              </a:spcAft>
              <a:buClr>
                <a:schemeClr val="dk1"/>
              </a:buClr>
              <a:buSzPts val="2400"/>
              <a:buChar char="•"/>
            </a:pPr>
            <a:r>
              <a:rPr lang="en-US"/>
              <a:t>Overflow return address</a:t>
            </a:r>
            <a:endParaRPr/>
          </a:p>
          <a:p>
            <a:pPr marL="685800" lvl="1" indent="-228600" algn="l" rtl="0">
              <a:lnSpc>
                <a:spcPct val="90000"/>
              </a:lnSpc>
              <a:spcBef>
                <a:spcPts val="500"/>
              </a:spcBef>
              <a:spcAft>
                <a:spcPts val="0"/>
              </a:spcAft>
              <a:buClr>
                <a:schemeClr val="dk1"/>
              </a:buClr>
              <a:buSzPts val="2400"/>
              <a:buChar char="•"/>
            </a:pPr>
            <a:r>
              <a:rPr lang="en-US"/>
              <a:t>Redirect control flow to attack code</a:t>
            </a:r>
            <a:endParaRPr/>
          </a:p>
          <a:p>
            <a:pPr marL="685800" lvl="1" indent="-228600" algn="l" rtl="0">
              <a:lnSpc>
                <a:spcPct val="90000"/>
              </a:lnSpc>
              <a:spcBef>
                <a:spcPts val="500"/>
              </a:spcBef>
              <a:spcAft>
                <a:spcPts val="0"/>
              </a:spcAft>
              <a:buClr>
                <a:schemeClr val="dk1"/>
              </a:buClr>
              <a:buSzPts val="2400"/>
              <a:buChar char="•"/>
            </a:pPr>
            <a:r>
              <a:rPr lang="en-US"/>
              <a:t>Execute attack code</a:t>
            </a:r>
            <a:endParaRPr/>
          </a:p>
        </p:txBody>
      </p:sp>
      <p:sp>
        <p:nvSpPr>
          <p:cNvPr id="244" name="Google Shape;24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Attack Possibilities</a:t>
            </a:r>
            <a:endParaRPr/>
          </a:p>
        </p:txBody>
      </p:sp>
      <p:sp>
        <p:nvSpPr>
          <p:cNvPr id="250" name="Google Shape;250;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Targets</a:t>
            </a:r>
            <a:endParaRPr/>
          </a:p>
          <a:p>
            <a:pPr marL="685800" lvl="1" indent="-228600" algn="l" rtl="0">
              <a:lnSpc>
                <a:spcPct val="90000"/>
              </a:lnSpc>
              <a:spcBef>
                <a:spcPts val="500"/>
              </a:spcBef>
              <a:spcAft>
                <a:spcPts val="0"/>
              </a:spcAft>
              <a:buClr>
                <a:schemeClr val="dk1"/>
              </a:buClr>
              <a:buSzPts val="2400"/>
              <a:buChar char="•"/>
            </a:pPr>
            <a:r>
              <a:rPr lang="en-US"/>
              <a:t>Stack, heap, static area</a:t>
            </a:r>
            <a:endParaRPr/>
          </a:p>
          <a:p>
            <a:pPr marL="685800" lvl="1" indent="-228600" algn="l" rtl="0">
              <a:lnSpc>
                <a:spcPct val="90000"/>
              </a:lnSpc>
              <a:spcBef>
                <a:spcPts val="500"/>
              </a:spcBef>
              <a:spcAft>
                <a:spcPts val="0"/>
              </a:spcAft>
              <a:buClr>
                <a:schemeClr val="dk1"/>
              </a:buClr>
              <a:buSzPts val="2400"/>
              <a:buChar char="•"/>
            </a:pPr>
            <a:r>
              <a:rPr lang="en-US"/>
              <a:t>Parameter modification (non-pointer data)</a:t>
            </a:r>
            <a:endParaRPr/>
          </a:p>
          <a:p>
            <a:pPr marL="1143000" lvl="2" indent="-228600" algn="l" rtl="0">
              <a:lnSpc>
                <a:spcPct val="90000"/>
              </a:lnSpc>
              <a:spcBef>
                <a:spcPts val="500"/>
              </a:spcBef>
              <a:spcAft>
                <a:spcPts val="0"/>
              </a:spcAft>
              <a:buClr>
                <a:schemeClr val="dk1"/>
              </a:buClr>
              <a:buSzPts val="2000"/>
              <a:buChar char="•"/>
            </a:pPr>
            <a:r>
              <a:rPr lang="en-US"/>
              <a:t>Change parameters for existing call to exec()</a:t>
            </a:r>
            <a:endParaRPr/>
          </a:p>
          <a:p>
            <a:pPr marL="1143000" lvl="2" indent="-228600" algn="l" rtl="0">
              <a:lnSpc>
                <a:spcPct val="90000"/>
              </a:lnSpc>
              <a:spcBef>
                <a:spcPts val="500"/>
              </a:spcBef>
              <a:spcAft>
                <a:spcPts val="0"/>
              </a:spcAft>
              <a:buClr>
                <a:schemeClr val="dk1"/>
              </a:buClr>
              <a:buSzPts val="2000"/>
              <a:buChar char="•"/>
            </a:pPr>
            <a:r>
              <a:rPr lang="en-US"/>
              <a:t>Change privilege control variable</a:t>
            </a:r>
            <a:endParaRPr/>
          </a:p>
          <a:p>
            <a:pPr marL="228600" lvl="0" indent="-228600" algn="l" rtl="0">
              <a:lnSpc>
                <a:spcPct val="90000"/>
              </a:lnSpc>
              <a:spcBef>
                <a:spcPts val="1000"/>
              </a:spcBef>
              <a:spcAft>
                <a:spcPts val="0"/>
              </a:spcAft>
              <a:buClr>
                <a:schemeClr val="dk1"/>
              </a:buClr>
              <a:buSzPts val="2800"/>
              <a:buChar char="•"/>
            </a:pPr>
            <a:r>
              <a:rPr lang="en-US"/>
              <a:t>Injected code vs. existing code</a:t>
            </a:r>
            <a:endParaRPr/>
          </a:p>
          <a:p>
            <a:pPr marL="228600" lvl="0" indent="-228600" algn="l" rtl="0">
              <a:lnSpc>
                <a:spcPct val="90000"/>
              </a:lnSpc>
              <a:spcBef>
                <a:spcPts val="1000"/>
              </a:spcBef>
              <a:spcAft>
                <a:spcPts val="0"/>
              </a:spcAft>
              <a:buClr>
                <a:schemeClr val="dk1"/>
              </a:buClr>
              <a:buSzPts val="2800"/>
              <a:buChar char="•"/>
            </a:pPr>
            <a:r>
              <a:rPr lang="en-US"/>
              <a:t>Absolute vs. relative address dependence</a:t>
            </a:r>
            <a:endParaRPr/>
          </a:p>
          <a:p>
            <a:pPr marL="228600" lvl="0" indent="-228600" algn="l" rtl="0">
              <a:lnSpc>
                <a:spcPct val="90000"/>
              </a:lnSpc>
              <a:spcBef>
                <a:spcPts val="1000"/>
              </a:spcBef>
              <a:spcAft>
                <a:spcPts val="0"/>
              </a:spcAft>
              <a:buClr>
                <a:schemeClr val="dk1"/>
              </a:buClr>
              <a:buSzPts val="2800"/>
              <a:buChar char="•"/>
            </a:pPr>
            <a:r>
              <a:rPr lang="en-US"/>
              <a:t>Related Attacks</a:t>
            </a:r>
            <a:endParaRPr/>
          </a:p>
          <a:p>
            <a:pPr marL="685800" lvl="1" indent="-228600" algn="l" rtl="0">
              <a:lnSpc>
                <a:spcPct val="90000"/>
              </a:lnSpc>
              <a:spcBef>
                <a:spcPts val="500"/>
              </a:spcBef>
              <a:spcAft>
                <a:spcPts val="0"/>
              </a:spcAft>
              <a:buClr>
                <a:schemeClr val="dk1"/>
              </a:buClr>
              <a:buSzPts val="2400"/>
              <a:buChar char="•"/>
            </a:pPr>
            <a:r>
              <a:rPr lang="en-US"/>
              <a:t>Integer overflows</a:t>
            </a:r>
            <a:endParaRPr/>
          </a:p>
          <a:p>
            <a:pPr marL="685800" lvl="1" indent="-228600" algn="l" rtl="0">
              <a:lnSpc>
                <a:spcPct val="90000"/>
              </a:lnSpc>
              <a:spcBef>
                <a:spcPts val="500"/>
              </a:spcBef>
              <a:spcAft>
                <a:spcPts val="0"/>
              </a:spcAft>
              <a:buClr>
                <a:schemeClr val="dk1"/>
              </a:buClr>
              <a:buSzPts val="2400"/>
              <a:buChar char="•"/>
            </a:pPr>
            <a:r>
              <a:rPr lang="en-US"/>
              <a:t>Format-string attacks</a:t>
            </a:r>
            <a:endParaRPr/>
          </a:p>
        </p:txBody>
      </p:sp>
      <p:sp>
        <p:nvSpPr>
          <p:cNvPr id="251" name="Google Shape;25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“Smashing the Stack”*</a:t>
            </a:r>
            <a:endParaRPr/>
          </a:p>
        </p:txBody>
      </p:sp>
      <p:sp>
        <p:nvSpPr>
          <p:cNvPr id="257" name="Google Shape;257;p22"/>
          <p:cNvSpPr txBox="1">
            <a:spLocks noGrp="1"/>
          </p:cNvSpPr>
          <p:nvPr>
            <p:ph type="body" idx="1"/>
          </p:nvPr>
        </p:nvSpPr>
        <p:spPr>
          <a:xfrm>
            <a:off x="2209800" y="1676400"/>
            <a:ext cx="7772400" cy="37338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 general idea is to overflow a buffer so that it overwrites the return address.</a:t>
            </a:r>
            <a:endParaRPr/>
          </a:p>
          <a:p>
            <a:pPr marL="228600" lvl="0" indent="-228600" algn="l" rtl="0">
              <a:lnSpc>
                <a:spcPct val="90000"/>
              </a:lnSpc>
              <a:spcBef>
                <a:spcPts val="1000"/>
              </a:spcBef>
              <a:spcAft>
                <a:spcPts val="0"/>
              </a:spcAft>
              <a:buClr>
                <a:schemeClr val="dk1"/>
              </a:buClr>
              <a:buSzPts val="2800"/>
              <a:buChar char="•"/>
            </a:pPr>
            <a:r>
              <a:rPr lang="en-US"/>
              <a:t>When the function is done it will jump to whatever address is on the stack.</a:t>
            </a:r>
            <a:endParaRPr/>
          </a:p>
          <a:p>
            <a:pPr marL="228600" lvl="0" indent="-228600" algn="l" rtl="0">
              <a:lnSpc>
                <a:spcPct val="90000"/>
              </a:lnSpc>
              <a:spcBef>
                <a:spcPts val="1000"/>
              </a:spcBef>
              <a:spcAft>
                <a:spcPts val="0"/>
              </a:spcAft>
              <a:buClr>
                <a:schemeClr val="dk1"/>
              </a:buClr>
              <a:buSzPts val="2800"/>
              <a:buChar char="•"/>
            </a:pPr>
            <a:r>
              <a:rPr lang="en-US"/>
              <a:t>We put some code in the buffer and set the return address to point to it!</a:t>
            </a:r>
            <a:endParaRPr/>
          </a:p>
        </p:txBody>
      </p:sp>
      <p:sp>
        <p:nvSpPr>
          <p:cNvPr id="258" name="Google Shape;258;p22"/>
          <p:cNvSpPr txBox="1"/>
          <p:nvPr/>
        </p:nvSpPr>
        <p:spPr>
          <a:xfrm>
            <a:off x="2819401" y="5638801"/>
            <a:ext cx="6569075"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2"/>
              </a:buClr>
              <a:buSzPts val="2000"/>
              <a:buFont typeface="Noto Sans Symbols"/>
              <a:buNone/>
            </a:pPr>
            <a:r>
              <a:rPr lang="en-US" sz="2000">
                <a:solidFill>
                  <a:schemeClr val="dk2"/>
                </a:solidFill>
                <a:latin typeface="Arial"/>
                <a:ea typeface="Arial"/>
                <a:cs typeface="Arial"/>
                <a:sym typeface="Arial"/>
              </a:rPr>
              <a:t>*taken from the title of an article in Phrack 49-7</a:t>
            </a:r>
            <a:endParaRPr/>
          </a:p>
        </p:txBody>
      </p:sp>
      <p:sp>
        <p:nvSpPr>
          <p:cNvPr id="259" name="Google Shape;25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3"/>
          <p:cNvSpPr txBox="1">
            <a:spLocks noGrp="1"/>
          </p:cNvSpPr>
          <p:nvPr>
            <p:ph type="title"/>
          </p:nvPr>
        </p:nvSpPr>
        <p:spPr>
          <a:xfrm>
            <a:off x="1828800" y="533400"/>
            <a:ext cx="4775200" cy="6858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Before and After</a:t>
            </a:r>
            <a:endParaRPr/>
          </a:p>
        </p:txBody>
      </p:sp>
      <p:sp>
        <p:nvSpPr>
          <p:cNvPr id="265" name="Google Shape;265;p23"/>
          <p:cNvSpPr txBox="1"/>
          <p:nvPr/>
        </p:nvSpPr>
        <p:spPr>
          <a:xfrm>
            <a:off x="6705600" y="381000"/>
            <a:ext cx="3688830" cy="179126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Noto Sans Symbols"/>
              <a:buNone/>
            </a:pPr>
            <a:r>
              <a:rPr lang="en-US" sz="2400">
                <a:solidFill>
                  <a:srgbClr val="000000"/>
                </a:solidFill>
                <a:latin typeface="Courier New"/>
                <a:ea typeface="Courier New"/>
                <a:cs typeface="Courier New"/>
                <a:sym typeface="Courier New"/>
              </a:rPr>
              <a:t>void foo(char *s) {</a:t>
            </a:r>
            <a:endParaRPr/>
          </a:p>
          <a:p>
            <a:pPr marL="0" marR="0" lvl="0" indent="0" algn="l" rtl="0">
              <a:spcBef>
                <a:spcPts val="480"/>
              </a:spcBef>
              <a:spcAft>
                <a:spcPts val="0"/>
              </a:spcAft>
              <a:buClr>
                <a:srgbClr val="000000"/>
              </a:buClr>
              <a:buSzPts val="2400"/>
              <a:buFont typeface="Noto Sans Symbols"/>
              <a:buNone/>
            </a:pPr>
            <a:r>
              <a:rPr lang="en-US" sz="2400">
                <a:solidFill>
                  <a:srgbClr val="000000"/>
                </a:solidFill>
                <a:latin typeface="Courier New"/>
                <a:ea typeface="Courier New"/>
                <a:cs typeface="Courier New"/>
                <a:sym typeface="Courier New"/>
              </a:rPr>
              <a:t>	char buf[100];</a:t>
            </a:r>
            <a:endParaRPr/>
          </a:p>
          <a:p>
            <a:pPr marL="0" marR="0" lvl="0" indent="0" algn="l" rtl="0">
              <a:spcBef>
                <a:spcPts val="480"/>
              </a:spcBef>
              <a:spcAft>
                <a:spcPts val="0"/>
              </a:spcAft>
              <a:buClr>
                <a:srgbClr val="000000"/>
              </a:buClr>
              <a:buSzPts val="2400"/>
              <a:buFont typeface="Noto Sans Symbols"/>
              <a:buNone/>
            </a:pPr>
            <a:r>
              <a:rPr lang="en-US" sz="2400">
                <a:solidFill>
                  <a:srgbClr val="000000"/>
                </a:solidFill>
                <a:latin typeface="Courier New"/>
                <a:ea typeface="Courier New"/>
                <a:cs typeface="Courier New"/>
                <a:sym typeface="Courier New"/>
              </a:rPr>
              <a:t>	strcpy(buf,s);</a:t>
            </a:r>
            <a:endParaRPr/>
          </a:p>
          <a:p>
            <a:pPr marL="0" marR="0" lvl="0" indent="0" algn="l" rtl="0">
              <a:spcBef>
                <a:spcPts val="480"/>
              </a:spcBef>
              <a:spcAft>
                <a:spcPts val="0"/>
              </a:spcAft>
              <a:buClr>
                <a:srgbClr val="000000"/>
              </a:buClr>
              <a:buSzPts val="2400"/>
              <a:buFont typeface="Noto Sans Symbols"/>
              <a:buNone/>
            </a:pPr>
            <a:r>
              <a:rPr lang="en-US" sz="2400">
                <a:solidFill>
                  <a:srgbClr val="000000"/>
                </a:solidFill>
                <a:latin typeface="Courier New"/>
                <a:ea typeface="Courier New"/>
                <a:cs typeface="Courier New"/>
                <a:sym typeface="Courier New"/>
              </a:rPr>
              <a:t>	…</a:t>
            </a:r>
            <a:endParaRPr/>
          </a:p>
        </p:txBody>
      </p:sp>
      <p:sp>
        <p:nvSpPr>
          <p:cNvPr id="266" name="Google Shape;266;p23"/>
          <p:cNvSpPr/>
          <p:nvPr/>
        </p:nvSpPr>
        <p:spPr>
          <a:xfrm>
            <a:off x="2819400" y="2438400"/>
            <a:ext cx="2590800" cy="609600"/>
          </a:xfrm>
          <a:prstGeom prst="rect">
            <a:avLst/>
          </a:prstGeom>
          <a:solidFill>
            <a:srgbClr val="00FF99"/>
          </a:solidFill>
          <a:ln w="57150" cap="flat" cmpd="sng">
            <a:solidFill>
              <a:schemeClr val="lt2"/>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ctr" rtl="0">
              <a:spcBef>
                <a:spcPts val="0"/>
              </a:spcBef>
              <a:spcAft>
                <a:spcPts val="0"/>
              </a:spcAft>
              <a:buClr>
                <a:srgbClr val="000000"/>
              </a:buClr>
              <a:buSzPts val="2400"/>
              <a:buFont typeface="Noto Sans Symbols"/>
              <a:buNone/>
            </a:pPr>
            <a:r>
              <a:rPr lang="en-US" sz="2400">
                <a:solidFill>
                  <a:srgbClr val="000000"/>
                </a:solidFill>
                <a:latin typeface="Arial"/>
                <a:ea typeface="Arial"/>
                <a:cs typeface="Arial"/>
                <a:sym typeface="Arial"/>
              </a:rPr>
              <a:t>address of </a:t>
            </a:r>
            <a:r>
              <a:rPr lang="en-US" sz="3200">
                <a:solidFill>
                  <a:srgbClr val="000000"/>
                </a:solidFill>
                <a:latin typeface="Courier New"/>
                <a:ea typeface="Courier New"/>
                <a:cs typeface="Courier New"/>
                <a:sym typeface="Courier New"/>
              </a:rPr>
              <a:t>s</a:t>
            </a:r>
            <a:endParaRPr/>
          </a:p>
        </p:txBody>
      </p:sp>
      <p:sp>
        <p:nvSpPr>
          <p:cNvPr id="267" name="Google Shape;267;p23"/>
          <p:cNvSpPr/>
          <p:nvPr/>
        </p:nvSpPr>
        <p:spPr>
          <a:xfrm>
            <a:off x="2819400" y="3048000"/>
            <a:ext cx="2590800" cy="609600"/>
          </a:xfrm>
          <a:prstGeom prst="rect">
            <a:avLst/>
          </a:prstGeom>
          <a:solidFill>
            <a:schemeClr val="accent1"/>
          </a:solidFill>
          <a:ln w="57150" cap="flat" cmpd="sng">
            <a:solidFill>
              <a:schemeClr val="lt2"/>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ctr" rtl="0">
              <a:spcBef>
                <a:spcPts val="0"/>
              </a:spcBef>
              <a:spcAft>
                <a:spcPts val="0"/>
              </a:spcAft>
              <a:buClr>
                <a:srgbClr val="000000"/>
              </a:buClr>
              <a:buSzPts val="2400"/>
              <a:buFont typeface="Noto Sans Symbols"/>
              <a:buNone/>
            </a:pPr>
            <a:r>
              <a:rPr lang="en-US" sz="2400">
                <a:solidFill>
                  <a:srgbClr val="000000"/>
                </a:solidFill>
                <a:latin typeface="Arial"/>
                <a:ea typeface="Arial"/>
                <a:cs typeface="Arial"/>
                <a:sym typeface="Arial"/>
              </a:rPr>
              <a:t>return-address</a:t>
            </a:r>
            <a:endParaRPr sz="3200">
              <a:solidFill>
                <a:srgbClr val="000000"/>
              </a:solidFill>
              <a:latin typeface="Courier New"/>
              <a:ea typeface="Courier New"/>
              <a:cs typeface="Courier New"/>
              <a:sym typeface="Courier New"/>
            </a:endParaRPr>
          </a:p>
        </p:txBody>
      </p:sp>
      <p:sp>
        <p:nvSpPr>
          <p:cNvPr id="268" name="Google Shape;268;p23"/>
          <p:cNvSpPr/>
          <p:nvPr/>
        </p:nvSpPr>
        <p:spPr>
          <a:xfrm>
            <a:off x="2819400" y="3657600"/>
            <a:ext cx="2590800" cy="609600"/>
          </a:xfrm>
          <a:prstGeom prst="rect">
            <a:avLst/>
          </a:prstGeom>
          <a:solidFill>
            <a:srgbClr val="FFFF99"/>
          </a:solidFill>
          <a:ln w="57150" cap="flat" cmpd="sng">
            <a:solidFill>
              <a:schemeClr val="lt2"/>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ctr" rtl="0">
              <a:spcBef>
                <a:spcPts val="0"/>
              </a:spcBef>
              <a:spcAft>
                <a:spcPts val="0"/>
              </a:spcAft>
              <a:buClr>
                <a:srgbClr val="000000"/>
              </a:buClr>
              <a:buSzPts val="2400"/>
              <a:buFont typeface="Noto Sans Symbols"/>
              <a:buNone/>
            </a:pPr>
            <a:r>
              <a:rPr lang="en-US" sz="2400">
                <a:solidFill>
                  <a:srgbClr val="000000"/>
                </a:solidFill>
                <a:latin typeface="Arial"/>
                <a:ea typeface="Arial"/>
                <a:cs typeface="Arial"/>
                <a:sym typeface="Arial"/>
              </a:rPr>
              <a:t>saved sp</a:t>
            </a:r>
            <a:endParaRPr sz="3200">
              <a:solidFill>
                <a:srgbClr val="000000"/>
              </a:solidFill>
              <a:latin typeface="Courier New"/>
              <a:ea typeface="Courier New"/>
              <a:cs typeface="Courier New"/>
              <a:sym typeface="Courier New"/>
            </a:endParaRPr>
          </a:p>
        </p:txBody>
      </p:sp>
      <p:sp>
        <p:nvSpPr>
          <p:cNvPr id="269" name="Google Shape;269;p23"/>
          <p:cNvSpPr/>
          <p:nvPr/>
        </p:nvSpPr>
        <p:spPr>
          <a:xfrm>
            <a:off x="2819400" y="4267200"/>
            <a:ext cx="2590800" cy="1828800"/>
          </a:xfrm>
          <a:prstGeom prst="rect">
            <a:avLst/>
          </a:prstGeom>
          <a:solidFill>
            <a:srgbClr val="B2FCBB"/>
          </a:solidFill>
          <a:ln w="57150" cap="flat" cmpd="sng">
            <a:solidFill>
              <a:schemeClr val="lt2"/>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ctr" rtl="0">
              <a:spcBef>
                <a:spcPts val="0"/>
              </a:spcBef>
              <a:spcAft>
                <a:spcPts val="0"/>
              </a:spcAft>
              <a:buClr>
                <a:srgbClr val="990000"/>
              </a:buClr>
              <a:buSzPts val="2400"/>
              <a:buFont typeface="Noto Sans Symbols"/>
              <a:buNone/>
            </a:pPr>
            <a:endParaRPr sz="2400">
              <a:solidFill>
                <a:schemeClr val="lt2"/>
              </a:solidFill>
              <a:latin typeface="Arial"/>
              <a:ea typeface="Arial"/>
              <a:cs typeface="Arial"/>
              <a:sym typeface="Arial"/>
            </a:endParaRPr>
          </a:p>
          <a:p>
            <a:pPr marL="342900" marR="0" lvl="0" indent="-342900" algn="ctr" rtl="0">
              <a:spcBef>
                <a:spcPts val="480"/>
              </a:spcBef>
              <a:spcAft>
                <a:spcPts val="0"/>
              </a:spcAft>
              <a:buClr>
                <a:srgbClr val="000000"/>
              </a:buClr>
              <a:buSzPts val="2400"/>
              <a:buFont typeface="Noto Sans Symbols"/>
              <a:buNone/>
            </a:pPr>
            <a:r>
              <a:rPr lang="en-US" sz="2400">
                <a:solidFill>
                  <a:srgbClr val="000000"/>
                </a:solidFill>
                <a:latin typeface="Arial"/>
                <a:ea typeface="Arial"/>
                <a:cs typeface="Arial"/>
                <a:sym typeface="Arial"/>
              </a:rPr>
              <a:t>buf</a:t>
            </a:r>
            <a:endParaRPr sz="3200">
              <a:solidFill>
                <a:srgbClr val="000000"/>
              </a:solidFill>
              <a:latin typeface="Courier New"/>
              <a:ea typeface="Courier New"/>
              <a:cs typeface="Courier New"/>
              <a:sym typeface="Courier New"/>
            </a:endParaRPr>
          </a:p>
        </p:txBody>
      </p:sp>
      <p:sp>
        <p:nvSpPr>
          <p:cNvPr id="270" name="Google Shape;270;p23"/>
          <p:cNvSpPr/>
          <p:nvPr/>
        </p:nvSpPr>
        <p:spPr>
          <a:xfrm>
            <a:off x="5715000" y="2438400"/>
            <a:ext cx="2590800" cy="609600"/>
          </a:xfrm>
          <a:prstGeom prst="rect">
            <a:avLst/>
          </a:prstGeom>
          <a:solidFill>
            <a:srgbClr val="00FF99"/>
          </a:solidFill>
          <a:ln w="57150" cap="flat" cmpd="sng">
            <a:solidFill>
              <a:schemeClr val="lt2"/>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ctr" rtl="0">
              <a:spcBef>
                <a:spcPts val="0"/>
              </a:spcBef>
              <a:spcAft>
                <a:spcPts val="0"/>
              </a:spcAft>
              <a:buClr>
                <a:srgbClr val="000000"/>
              </a:buClr>
              <a:buSzPts val="2400"/>
              <a:buFont typeface="Noto Sans Symbols"/>
              <a:buNone/>
            </a:pPr>
            <a:r>
              <a:rPr lang="en-US" sz="2400">
                <a:solidFill>
                  <a:srgbClr val="000000"/>
                </a:solidFill>
                <a:latin typeface="Arial"/>
                <a:ea typeface="Arial"/>
                <a:cs typeface="Arial"/>
                <a:sym typeface="Arial"/>
              </a:rPr>
              <a:t>address of </a:t>
            </a:r>
            <a:r>
              <a:rPr lang="en-US" sz="3200">
                <a:solidFill>
                  <a:srgbClr val="000000"/>
                </a:solidFill>
                <a:latin typeface="Courier New"/>
                <a:ea typeface="Courier New"/>
                <a:cs typeface="Courier New"/>
                <a:sym typeface="Courier New"/>
              </a:rPr>
              <a:t>s</a:t>
            </a:r>
            <a:endParaRPr/>
          </a:p>
        </p:txBody>
      </p:sp>
      <p:sp>
        <p:nvSpPr>
          <p:cNvPr id="271" name="Google Shape;271;p23"/>
          <p:cNvSpPr/>
          <p:nvPr/>
        </p:nvSpPr>
        <p:spPr>
          <a:xfrm>
            <a:off x="5715000" y="3048000"/>
            <a:ext cx="2590800" cy="3048000"/>
          </a:xfrm>
          <a:prstGeom prst="rect">
            <a:avLst/>
          </a:prstGeom>
          <a:solidFill>
            <a:srgbClr val="DDDDDD"/>
          </a:solidFill>
          <a:ln w="57150" cap="flat" cmpd="sng">
            <a:solidFill>
              <a:schemeClr val="lt2"/>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ctr" rtl="0">
              <a:spcBef>
                <a:spcPts val="0"/>
              </a:spcBef>
              <a:spcAft>
                <a:spcPts val="0"/>
              </a:spcAft>
              <a:buClr>
                <a:srgbClr val="000000"/>
              </a:buClr>
              <a:buSzPts val="2400"/>
              <a:buFont typeface="Noto Sans Symbols"/>
              <a:buNone/>
            </a:pPr>
            <a:r>
              <a:rPr lang="en-US" sz="2400">
                <a:solidFill>
                  <a:srgbClr val="000000"/>
                </a:solidFill>
                <a:latin typeface="Arial"/>
                <a:ea typeface="Arial"/>
                <a:cs typeface="Arial"/>
                <a:sym typeface="Arial"/>
              </a:rPr>
              <a:t>pointer to pgm</a:t>
            </a:r>
            <a:endParaRPr/>
          </a:p>
          <a:p>
            <a:pPr marL="342900" marR="0" lvl="0" indent="-342900" algn="ctr" rtl="0">
              <a:spcBef>
                <a:spcPts val="480"/>
              </a:spcBef>
              <a:spcAft>
                <a:spcPts val="0"/>
              </a:spcAft>
              <a:buClr>
                <a:srgbClr val="990000"/>
              </a:buClr>
              <a:buSzPts val="2400"/>
              <a:buFont typeface="Noto Sans Symbols"/>
              <a:buNone/>
            </a:pPr>
            <a:endParaRPr sz="2400">
              <a:solidFill>
                <a:srgbClr val="000000"/>
              </a:solidFill>
              <a:latin typeface="Arial"/>
              <a:ea typeface="Arial"/>
              <a:cs typeface="Arial"/>
              <a:sym typeface="Arial"/>
            </a:endParaRPr>
          </a:p>
          <a:p>
            <a:pPr marL="342900" marR="0" lvl="0" indent="-342900" algn="ctr" rtl="0">
              <a:spcBef>
                <a:spcPts val="480"/>
              </a:spcBef>
              <a:spcAft>
                <a:spcPts val="0"/>
              </a:spcAft>
              <a:buClr>
                <a:srgbClr val="990000"/>
              </a:buClr>
              <a:buSzPts val="2400"/>
              <a:buFont typeface="Noto Sans Symbols"/>
              <a:buNone/>
            </a:pPr>
            <a:endParaRPr sz="2400">
              <a:solidFill>
                <a:srgbClr val="000000"/>
              </a:solidFill>
              <a:latin typeface="Arial"/>
              <a:ea typeface="Arial"/>
              <a:cs typeface="Arial"/>
              <a:sym typeface="Arial"/>
            </a:endParaRPr>
          </a:p>
          <a:p>
            <a:pPr marL="342900" marR="0" lvl="0" indent="-342900" algn="ctr" rtl="0">
              <a:spcBef>
                <a:spcPts val="480"/>
              </a:spcBef>
              <a:spcAft>
                <a:spcPts val="0"/>
              </a:spcAft>
              <a:buClr>
                <a:srgbClr val="990000"/>
              </a:buClr>
              <a:buSzPts val="2400"/>
              <a:buFont typeface="Noto Sans Symbols"/>
              <a:buNone/>
            </a:pPr>
            <a:endParaRPr sz="2400">
              <a:solidFill>
                <a:srgbClr val="000000"/>
              </a:solidFill>
              <a:latin typeface="Arial"/>
              <a:ea typeface="Arial"/>
              <a:cs typeface="Arial"/>
              <a:sym typeface="Arial"/>
            </a:endParaRPr>
          </a:p>
          <a:p>
            <a:pPr marL="342900" marR="0" lvl="0" indent="-342900" algn="ctr" rtl="0">
              <a:spcBef>
                <a:spcPts val="480"/>
              </a:spcBef>
              <a:spcAft>
                <a:spcPts val="0"/>
              </a:spcAft>
              <a:buClr>
                <a:srgbClr val="990000"/>
              </a:buClr>
              <a:buSzPts val="2400"/>
              <a:buFont typeface="Noto Sans Symbols"/>
              <a:buNone/>
            </a:pPr>
            <a:endParaRPr sz="2400">
              <a:solidFill>
                <a:srgbClr val="000000"/>
              </a:solidFill>
              <a:latin typeface="Arial"/>
              <a:ea typeface="Arial"/>
              <a:cs typeface="Arial"/>
              <a:sym typeface="Arial"/>
            </a:endParaRPr>
          </a:p>
          <a:p>
            <a:pPr marL="342900" marR="0" lvl="0" indent="-342900" algn="ctr" rtl="0">
              <a:spcBef>
                <a:spcPts val="480"/>
              </a:spcBef>
              <a:spcAft>
                <a:spcPts val="0"/>
              </a:spcAft>
              <a:buClr>
                <a:srgbClr val="000000"/>
              </a:buClr>
              <a:buSzPts val="2400"/>
              <a:buFont typeface="Noto Sans Symbols"/>
              <a:buNone/>
            </a:pPr>
            <a:r>
              <a:rPr lang="en-US" sz="2400">
                <a:solidFill>
                  <a:srgbClr val="000000"/>
                </a:solidFill>
                <a:latin typeface="Arial"/>
                <a:ea typeface="Arial"/>
                <a:cs typeface="Arial"/>
                <a:sym typeface="Arial"/>
              </a:rPr>
              <a:t>Small Program</a:t>
            </a:r>
            <a:endParaRPr/>
          </a:p>
        </p:txBody>
      </p:sp>
      <p:sp>
        <p:nvSpPr>
          <p:cNvPr id="272" name="Google Shape;272;p23"/>
          <p:cNvSpPr/>
          <p:nvPr/>
        </p:nvSpPr>
        <p:spPr>
          <a:xfrm>
            <a:off x="8207376" y="3086100"/>
            <a:ext cx="1196975" cy="2833688"/>
          </a:xfrm>
          <a:custGeom>
            <a:avLst/>
            <a:gdLst/>
            <a:ahLst/>
            <a:cxnLst/>
            <a:rect l="l" t="t" r="r" b="b"/>
            <a:pathLst>
              <a:path w="754" h="1785" extrusionOk="0">
                <a:moveTo>
                  <a:pt x="78" y="161"/>
                </a:moveTo>
                <a:cubicBezTo>
                  <a:pt x="176" y="173"/>
                  <a:pt x="568" y="0"/>
                  <a:pt x="661" y="232"/>
                </a:cubicBezTo>
                <a:cubicBezTo>
                  <a:pt x="754" y="464"/>
                  <a:pt x="748" y="1319"/>
                  <a:pt x="638" y="1552"/>
                </a:cubicBezTo>
                <a:cubicBezTo>
                  <a:pt x="528" y="1785"/>
                  <a:pt x="133" y="1616"/>
                  <a:pt x="0" y="1633"/>
                </a:cubicBezTo>
              </a:path>
            </a:pathLst>
          </a:custGeom>
          <a:noFill/>
          <a:ln w="76200"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3" name="Google Shape;27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279" name="Google Shape;279;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None/>
            </a:pPr>
            <a:r>
              <a:rPr lang="en-US" sz="4400"/>
              <a:t>What causes buffer overflow?</a:t>
            </a:r>
            <a:endParaRPr/>
          </a:p>
        </p:txBody>
      </p:sp>
      <p:sp>
        <p:nvSpPr>
          <p:cNvPr id="280" name="Google Shape;28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Example: gets()</a:t>
            </a:r>
            <a:endParaRPr/>
          </a:p>
        </p:txBody>
      </p:sp>
      <p:sp>
        <p:nvSpPr>
          <p:cNvPr id="286" name="Google Shape;286;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Noto Sans Symbols"/>
              <a:buNone/>
            </a:pPr>
            <a:r>
              <a:rPr lang="en-US" b="1"/>
              <a:t>char buf[20];</a:t>
            </a:r>
            <a:endParaRPr/>
          </a:p>
          <a:p>
            <a:pPr marL="228600" lvl="0" indent="-228600" algn="l" rtl="0">
              <a:lnSpc>
                <a:spcPct val="90000"/>
              </a:lnSpc>
              <a:spcBef>
                <a:spcPts val="1000"/>
              </a:spcBef>
              <a:spcAft>
                <a:spcPts val="0"/>
              </a:spcAft>
              <a:buClr>
                <a:schemeClr val="dk1"/>
              </a:buClr>
              <a:buSzPts val="2800"/>
              <a:buFont typeface="Noto Sans Symbols"/>
              <a:buNone/>
            </a:pPr>
            <a:r>
              <a:rPr lang="en-US" b="1"/>
              <a:t>gets(buf);  // read user input until</a:t>
            </a:r>
            <a:endParaRPr/>
          </a:p>
          <a:p>
            <a:pPr marL="228600" lvl="0" indent="-228600" algn="l" rtl="0">
              <a:lnSpc>
                <a:spcPct val="90000"/>
              </a:lnSpc>
              <a:spcBef>
                <a:spcPts val="1000"/>
              </a:spcBef>
              <a:spcAft>
                <a:spcPts val="0"/>
              </a:spcAft>
              <a:buClr>
                <a:schemeClr val="dk1"/>
              </a:buClr>
              <a:buSzPts val="2800"/>
              <a:buFont typeface="Noto Sans Symbols"/>
              <a:buNone/>
            </a:pPr>
            <a:r>
              <a:rPr lang="en-US" b="1"/>
              <a:t>                  // first EoL or EoF character</a:t>
            </a: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Never use </a:t>
            </a:r>
            <a:r>
              <a:rPr lang="en-US" b="1"/>
              <a:t>gets</a:t>
            </a:r>
            <a:endParaRPr/>
          </a:p>
          <a:p>
            <a:pPr marL="228600" lvl="0" indent="-228600" algn="l" rtl="0">
              <a:lnSpc>
                <a:spcPct val="90000"/>
              </a:lnSpc>
              <a:spcBef>
                <a:spcPts val="1000"/>
              </a:spcBef>
              <a:spcAft>
                <a:spcPts val="0"/>
              </a:spcAft>
              <a:buClr>
                <a:schemeClr val="dk1"/>
              </a:buClr>
              <a:buSzPts val="2800"/>
              <a:buChar char="•"/>
            </a:pPr>
            <a:r>
              <a:rPr lang="en-US"/>
              <a:t>Use </a:t>
            </a:r>
            <a:r>
              <a:rPr lang="en-US" b="1"/>
              <a:t>fgets(buf, </a:t>
            </a:r>
            <a:r>
              <a:rPr lang="en-US" b="1">
                <a:solidFill>
                  <a:schemeClr val="dk1"/>
                </a:solidFill>
              </a:rPr>
              <a:t>size</a:t>
            </a:r>
            <a:r>
              <a:rPr lang="en-US" b="1"/>
              <a:t>, stdout) </a:t>
            </a:r>
            <a:r>
              <a:rPr lang="en-US"/>
              <a:t>instead</a:t>
            </a:r>
            <a:endParaRPr/>
          </a:p>
          <a:p>
            <a:pPr marL="228600" lvl="0" indent="-50800" algn="l" rtl="0">
              <a:lnSpc>
                <a:spcPct val="90000"/>
              </a:lnSpc>
              <a:spcBef>
                <a:spcPts val="1000"/>
              </a:spcBef>
              <a:spcAft>
                <a:spcPts val="0"/>
              </a:spcAft>
              <a:buClr>
                <a:schemeClr val="dk1"/>
              </a:buClr>
              <a:buSzPts val="2800"/>
              <a:buNone/>
            </a:pPr>
            <a:endParaRPr/>
          </a:p>
        </p:txBody>
      </p:sp>
      <p:sp>
        <p:nvSpPr>
          <p:cNvPr id="287" name="Google Shape;28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Example: strcpy()</a:t>
            </a:r>
            <a:endParaRPr/>
          </a:p>
        </p:txBody>
      </p:sp>
      <p:sp>
        <p:nvSpPr>
          <p:cNvPr id="293" name="Google Shape;293;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Noto Sans Symbols"/>
              <a:buNone/>
            </a:pPr>
            <a:r>
              <a:rPr lang="en-US" b="1"/>
              <a:t>char dest[20];</a:t>
            </a:r>
            <a:endParaRPr/>
          </a:p>
          <a:p>
            <a:pPr marL="228600" lvl="0" indent="-228600" algn="l" rtl="0">
              <a:lnSpc>
                <a:spcPct val="90000"/>
              </a:lnSpc>
              <a:spcBef>
                <a:spcPts val="1000"/>
              </a:spcBef>
              <a:spcAft>
                <a:spcPts val="0"/>
              </a:spcAft>
              <a:buClr>
                <a:schemeClr val="dk1"/>
              </a:buClr>
              <a:buSzPts val="2800"/>
              <a:buFont typeface="Noto Sans Symbols"/>
              <a:buNone/>
            </a:pPr>
            <a:r>
              <a:rPr lang="en-US" b="1"/>
              <a:t>strcpy(dest, src); // copies string src to dest</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b="1"/>
              <a:t>strcpy </a:t>
            </a:r>
            <a:r>
              <a:rPr lang="en-US"/>
              <a:t>assumes </a:t>
            </a:r>
            <a:r>
              <a:rPr lang="en-US" b="1"/>
              <a:t>dest </a:t>
            </a:r>
            <a:r>
              <a:rPr lang="en-US"/>
              <a:t>is long enough , and assumes </a:t>
            </a:r>
            <a:r>
              <a:rPr lang="en-US" b="1"/>
              <a:t>src </a:t>
            </a:r>
            <a:r>
              <a:rPr lang="en-US"/>
              <a:t>is null-terminated</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Use </a:t>
            </a:r>
            <a:r>
              <a:rPr lang="en-US" b="1"/>
              <a:t>strncpy(dest, src, size) </a:t>
            </a:r>
            <a:r>
              <a:rPr lang="en-US"/>
              <a:t>instead</a:t>
            </a:r>
            <a:endParaRPr/>
          </a:p>
          <a:p>
            <a:pPr marL="228600" lvl="0" indent="-50800" algn="l" rtl="0">
              <a:lnSpc>
                <a:spcPct val="90000"/>
              </a:lnSpc>
              <a:spcBef>
                <a:spcPts val="1000"/>
              </a:spcBef>
              <a:spcAft>
                <a:spcPts val="0"/>
              </a:spcAft>
              <a:buClr>
                <a:schemeClr val="dk1"/>
              </a:buClr>
              <a:buSzPts val="2800"/>
              <a:buNone/>
            </a:pPr>
            <a:endParaRPr/>
          </a:p>
        </p:txBody>
      </p:sp>
      <p:sp>
        <p:nvSpPr>
          <p:cNvPr id="294" name="Google Shape;29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Spot the defect! (1)</a:t>
            </a:r>
            <a:endParaRPr sz="4000"/>
          </a:p>
        </p:txBody>
      </p:sp>
      <p:sp>
        <p:nvSpPr>
          <p:cNvPr id="300" name="Google Shape;300;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800"/>
              <a:buFont typeface="Noto Sans Symbols"/>
              <a:buNone/>
            </a:pPr>
            <a:r>
              <a:rPr lang="en-US" b="1">
                <a:solidFill>
                  <a:srgbClr val="000000"/>
                </a:solidFill>
                <a:latin typeface="Times New Roman"/>
                <a:ea typeface="Times New Roman"/>
                <a:cs typeface="Times New Roman"/>
                <a:sym typeface="Times New Roman"/>
              </a:rPr>
              <a:t>char buf[20];</a:t>
            </a:r>
            <a:endParaRPr/>
          </a:p>
          <a:p>
            <a:pPr marL="228600" lvl="0" indent="-228600" algn="l" rtl="0">
              <a:lnSpc>
                <a:spcPct val="90000"/>
              </a:lnSpc>
              <a:spcBef>
                <a:spcPts val="1000"/>
              </a:spcBef>
              <a:spcAft>
                <a:spcPts val="0"/>
              </a:spcAft>
              <a:buClr>
                <a:srgbClr val="000000"/>
              </a:buClr>
              <a:buSzPts val="2800"/>
              <a:buFont typeface="Noto Sans Symbols"/>
              <a:buNone/>
            </a:pPr>
            <a:r>
              <a:rPr lang="en-US" b="1">
                <a:solidFill>
                  <a:srgbClr val="000000"/>
                </a:solidFill>
                <a:latin typeface="Times New Roman"/>
                <a:ea typeface="Times New Roman"/>
                <a:cs typeface="Times New Roman"/>
                <a:sym typeface="Times New Roman"/>
              </a:rPr>
              <a:t>char prefix[] = ”http://”;</a:t>
            </a:r>
            <a:endParaRPr/>
          </a:p>
          <a:p>
            <a:pPr marL="228600" lvl="0" indent="-228600" algn="l" rtl="0">
              <a:lnSpc>
                <a:spcPct val="90000"/>
              </a:lnSpc>
              <a:spcBef>
                <a:spcPts val="1000"/>
              </a:spcBef>
              <a:spcAft>
                <a:spcPts val="0"/>
              </a:spcAft>
              <a:buClr>
                <a:srgbClr val="000000"/>
              </a:buClr>
              <a:buSzPts val="2800"/>
              <a:buFont typeface="Noto Sans Symbols"/>
              <a:buNone/>
            </a:pPr>
            <a:r>
              <a:rPr lang="en-US" b="1">
                <a:solidFill>
                  <a:srgbClr val="000000"/>
                </a:solidFill>
                <a:latin typeface="Times New Roman"/>
                <a:ea typeface="Times New Roman"/>
                <a:cs typeface="Times New Roman"/>
                <a:sym typeface="Times New Roman"/>
              </a:rPr>
              <a:t>...</a:t>
            </a:r>
            <a:endParaRPr/>
          </a:p>
          <a:p>
            <a:pPr marL="228600" lvl="0" indent="-228600" algn="l" rtl="0">
              <a:lnSpc>
                <a:spcPct val="90000"/>
              </a:lnSpc>
              <a:spcBef>
                <a:spcPts val="1000"/>
              </a:spcBef>
              <a:spcAft>
                <a:spcPts val="0"/>
              </a:spcAft>
              <a:buClr>
                <a:srgbClr val="000000"/>
              </a:buClr>
              <a:buSzPts val="2800"/>
              <a:buFont typeface="Noto Sans Symbols"/>
              <a:buNone/>
            </a:pPr>
            <a:r>
              <a:rPr lang="en-US" b="1">
                <a:solidFill>
                  <a:srgbClr val="000000"/>
                </a:solidFill>
                <a:latin typeface="Times New Roman"/>
                <a:ea typeface="Times New Roman"/>
                <a:cs typeface="Times New Roman"/>
                <a:sym typeface="Times New Roman"/>
              </a:rPr>
              <a:t>strcpy(buf, prefix);</a:t>
            </a:r>
            <a:endParaRPr/>
          </a:p>
          <a:p>
            <a:pPr marL="228600" lvl="0" indent="-228600" algn="l" rtl="0">
              <a:lnSpc>
                <a:spcPct val="90000"/>
              </a:lnSpc>
              <a:spcBef>
                <a:spcPts val="1000"/>
              </a:spcBef>
              <a:spcAft>
                <a:spcPts val="0"/>
              </a:spcAft>
              <a:buClr>
                <a:srgbClr val="000000"/>
              </a:buClr>
              <a:buSzPts val="2800"/>
              <a:buFont typeface="Noto Sans Symbols"/>
              <a:buNone/>
            </a:pPr>
            <a:r>
              <a:rPr lang="en-US" b="1">
                <a:solidFill>
                  <a:srgbClr val="000000"/>
                </a:solidFill>
                <a:latin typeface="Times New Roman"/>
                <a:ea typeface="Times New Roman"/>
                <a:cs typeface="Times New Roman"/>
                <a:sym typeface="Times New Roman"/>
              </a:rPr>
              <a:t>	</a:t>
            </a:r>
            <a:r>
              <a:rPr lang="en-US" b="1">
                <a:solidFill>
                  <a:srgbClr val="A50021"/>
                </a:solidFill>
                <a:latin typeface="Times New Roman"/>
                <a:ea typeface="Times New Roman"/>
                <a:cs typeface="Times New Roman"/>
                <a:sym typeface="Times New Roman"/>
              </a:rPr>
              <a:t>// copies the string prefix to buf</a:t>
            </a:r>
            <a:endParaRPr/>
          </a:p>
          <a:p>
            <a:pPr marL="228600" lvl="0" indent="-228600" algn="l" rtl="0">
              <a:lnSpc>
                <a:spcPct val="90000"/>
              </a:lnSpc>
              <a:spcBef>
                <a:spcPts val="1000"/>
              </a:spcBef>
              <a:spcAft>
                <a:spcPts val="0"/>
              </a:spcAft>
              <a:buClr>
                <a:srgbClr val="000000"/>
              </a:buClr>
              <a:buSzPts val="2800"/>
              <a:buFont typeface="Noto Sans Symbols"/>
              <a:buNone/>
            </a:pPr>
            <a:r>
              <a:rPr lang="en-US" b="1">
                <a:solidFill>
                  <a:srgbClr val="000000"/>
                </a:solidFill>
                <a:latin typeface="Times New Roman"/>
                <a:ea typeface="Times New Roman"/>
                <a:cs typeface="Times New Roman"/>
                <a:sym typeface="Times New Roman"/>
              </a:rPr>
              <a:t>strncat(buf, path, sizeof(buf));</a:t>
            </a:r>
            <a:endParaRPr/>
          </a:p>
          <a:p>
            <a:pPr marL="228600" lvl="0" indent="-228600" algn="l" rtl="0">
              <a:lnSpc>
                <a:spcPct val="90000"/>
              </a:lnSpc>
              <a:spcBef>
                <a:spcPts val="1000"/>
              </a:spcBef>
              <a:spcAft>
                <a:spcPts val="0"/>
              </a:spcAft>
              <a:buClr>
                <a:srgbClr val="000000"/>
              </a:buClr>
              <a:buSzPts val="2800"/>
              <a:buFont typeface="Noto Sans Symbols"/>
              <a:buNone/>
            </a:pPr>
            <a:r>
              <a:rPr lang="en-US" b="1">
                <a:solidFill>
                  <a:srgbClr val="000000"/>
                </a:solidFill>
                <a:latin typeface="Times New Roman"/>
                <a:ea typeface="Times New Roman"/>
                <a:cs typeface="Times New Roman"/>
                <a:sym typeface="Times New Roman"/>
              </a:rPr>
              <a:t>	</a:t>
            </a:r>
            <a:r>
              <a:rPr lang="en-US" b="1">
                <a:solidFill>
                  <a:srgbClr val="A50021"/>
                </a:solidFill>
                <a:latin typeface="Times New Roman"/>
                <a:ea typeface="Times New Roman"/>
                <a:cs typeface="Times New Roman"/>
                <a:sym typeface="Times New Roman"/>
              </a:rPr>
              <a:t>// concatenates path to the string buf</a:t>
            </a:r>
            <a:endParaRPr>
              <a:solidFill>
                <a:srgbClr val="A50021"/>
              </a:solidFill>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a:solidFill>
                <a:srgbClr val="A50021"/>
              </a:solidFill>
              <a:latin typeface="Times New Roman"/>
              <a:ea typeface="Times New Roman"/>
              <a:cs typeface="Times New Roman"/>
              <a:sym typeface="Times New Roman"/>
            </a:endParaRPr>
          </a:p>
        </p:txBody>
      </p:sp>
      <p:sp>
        <p:nvSpPr>
          <p:cNvPr id="301" name="Google Shape;301;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Spot the defect! (1)</a:t>
            </a:r>
            <a:endParaRPr sz="4000"/>
          </a:p>
        </p:txBody>
      </p:sp>
      <p:sp>
        <p:nvSpPr>
          <p:cNvPr id="307" name="Google Shape;307;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800"/>
              <a:buFont typeface="Noto Sans Symbols"/>
              <a:buNone/>
            </a:pPr>
            <a:r>
              <a:rPr lang="en-US" b="1">
                <a:solidFill>
                  <a:srgbClr val="000000"/>
                </a:solidFill>
                <a:latin typeface="Times New Roman"/>
                <a:ea typeface="Times New Roman"/>
                <a:cs typeface="Times New Roman"/>
                <a:sym typeface="Times New Roman"/>
              </a:rPr>
              <a:t>char buf[20];</a:t>
            </a:r>
            <a:endParaRPr/>
          </a:p>
          <a:p>
            <a:pPr marL="228600" lvl="0" indent="-228600" algn="l" rtl="0">
              <a:lnSpc>
                <a:spcPct val="90000"/>
              </a:lnSpc>
              <a:spcBef>
                <a:spcPts val="1000"/>
              </a:spcBef>
              <a:spcAft>
                <a:spcPts val="0"/>
              </a:spcAft>
              <a:buClr>
                <a:srgbClr val="000000"/>
              </a:buClr>
              <a:buSzPts val="2800"/>
              <a:buFont typeface="Noto Sans Symbols"/>
              <a:buNone/>
            </a:pPr>
            <a:r>
              <a:rPr lang="en-US" b="1">
                <a:solidFill>
                  <a:srgbClr val="000000"/>
                </a:solidFill>
                <a:latin typeface="Times New Roman"/>
                <a:ea typeface="Times New Roman"/>
                <a:cs typeface="Times New Roman"/>
                <a:sym typeface="Times New Roman"/>
              </a:rPr>
              <a:t>char prefix[] = ”http://”;</a:t>
            </a:r>
            <a:endParaRPr/>
          </a:p>
          <a:p>
            <a:pPr marL="228600" lvl="0" indent="-228600" algn="l" rtl="0">
              <a:lnSpc>
                <a:spcPct val="90000"/>
              </a:lnSpc>
              <a:spcBef>
                <a:spcPts val="1000"/>
              </a:spcBef>
              <a:spcAft>
                <a:spcPts val="0"/>
              </a:spcAft>
              <a:buClr>
                <a:srgbClr val="000000"/>
              </a:buClr>
              <a:buSzPts val="2800"/>
              <a:buFont typeface="Noto Sans Symbols"/>
              <a:buNone/>
            </a:pPr>
            <a:r>
              <a:rPr lang="en-US" b="1">
                <a:solidFill>
                  <a:srgbClr val="000000"/>
                </a:solidFill>
                <a:latin typeface="Times New Roman"/>
                <a:ea typeface="Times New Roman"/>
                <a:cs typeface="Times New Roman"/>
                <a:sym typeface="Times New Roman"/>
              </a:rPr>
              <a:t>...</a:t>
            </a:r>
            <a:endParaRPr/>
          </a:p>
          <a:p>
            <a:pPr marL="228600" lvl="0" indent="-228600" algn="l" rtl="0">
              <a:lnSpc>
                <a:spcPct val="90000"/>
              </a:lnSpc>
              <a:spcBef>
                <a:spcPts val="1000"/>
              </a:spcBef>
              <a:spcAft>
                <a:spcPts val="0"/>
              </a:spcAft>
              <a:buClr>
                <a:srgbClr val="000000"/>
              </a:buClr>
              <a:buSzPts val="2800"/>
              <a:buFont typeface="Noto Sans Symbols"/>
              <a:buNone/>
            </a:pPr>
            <a:r>
              <a:rPr lang="en-US" b="1">
                <a:solidFill>
                  <a:srgbClr val="000000"/>
                </a:solidFill>
                <a:latin typeface="Times New Roman"/>
                <a:ea typeface="Times New Roman"/>
                <a:cs typeface="Times New Roman"/>
                <a:sym typeface="Times New Roman"/>
              </a:rPr>
              <a:t>strcpy(buf, prefix);</a:t>
            </a:r>
            <a:endParaRPr/>
          </a:p>
          <a:p>
            <a:pPr marL="228600" lvl="0" indent="-228600" algn="l" rtl="0">
              <a:lnSpc>
                <a:spcPct val="90000"/>
              </a:lnSpc>
              <a:spcBef>
                <a:spcPts val="1000"/>
              </a:spcBef>
              <a:spcAft>
                <a:spcPts val="0"/>
              </a:spcAft>
              <a:buClr>
                <a:srgbClr val="000000"/>
              </a:buClr>
              <a:buSzPts val="2800"/>
              <a:buFont typeface="Noto Sans Symbols"/>
              <a:buNone/>
            </a:pPr>
            <a:r>
              <a:rPr lang="en-US" b="1">
                <a:solidFill>
                  <a:srgbClr val="000000"/>
                </a:solidFill>
                <a:latin typeface="Times New Roman"/>
                <a:ea typeface="Times New Roman"/>
                <a:cs typeface="Times New Roman"/>
                <a:sym typeface="Times New Roman"/>
              </a:rPr>
              <a:t>	// copies the string prefix to buf</a:t>
            </a:r>
            <a:endParaRPr/>
          </a:p>
          <a:p>
            <a:pPr marL="228600" lvl="0" indent="-228600" algn="l" rtl="0">
              <a:lnSpc>
                <a:spcPct val="90000"/>
              </a:lnSpc>
              <a:spcBef>
                <a:spcPts val="1000"/>
              </a:spcBef>
              <a:spcAft>
                <a:spcPts val="0"/>
              </a:spcAft>
              <a:buClr>
                <a:srgbClr val="000000"/>
              </a:buClr>
              <a:buSzPts val="2800"/>
              <a:buFont typeface="Noto Sans Symbols"/>
              <a:buNone/>
            </a:pPr>
            <a:r>
              <a:rPr lang="en-US" b="1">
                <a:solidFill>
                  <a:srgbClr val="000000"/>
                </a:solidFill>
                <a:latin typeface="Times New Roman"/>
                <a:ea typeface="Times New Roman"/>
                <a:cs typeface="Times New Roman"/>
                <a:sym typeface="Times New Roman"/>
              </a:rPr>
              <a:t>strncat(buf, path, sizeof(buf));</a:t>
            </a:r>
            <a:endParaRPr/>
          </a:p>
          <a:p>
            <a:pPr marL="228600" lvl="0" indent="-228600" algn="l" rtl="0">
              <a:lnSpc>
                <a:spcPct val="90000"/>
              </a:lnSpc>
              <a:spcBef>
                <a:spcPts val="1000"/>
              </a:spcBef>
              <a:spcAft>
                <a:spcPts val="0"/>
              </a:spcAft>
              <a:buClr>
                <a:srgbClr val="000000"/>
              </a:buClr>
              <a:buSzPts val="2800"/>
              <a:buFont typeface="Noto Sans Symbols"/>
              <a:buNone/>
            </a:pPr>
            <a:r>
              <a:rPr lang="en-US" b="1">
                <a:solidFill>
                  <a:srgbClr val="000000"/>
                </a:solidFill>
                <a:latin typeface="Times New Roman"/>
                <a:ea typeface="Times New Roman"/>
                <a:cs typeface="Times New Roman"/>
                <a:sym typeface="Times New Roman"/>
              </a:rPr>
              <a:t>	// concatenates path to the string buf</a:t>
            </a:r>
            <a:endParaRPr>
              <a:solidFill>
                <a:srgbClr val="000000"/>
              </a:solidFill>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a:solidFill>
                <a:srgbClr val="000000"/>
              </a:solidFill>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800"/>
              <a:buFont typeface="Noto Sans Symbols"/>
              <a:buNone/>
            </a:pPr>
            <a:endParaRPr/>
          </a:p>
        </p:txBody>
      </p:sp>
      <p:sp>
        <p:nvSpPr>
          <p:cNvPr id="308" name="Google Shape;308;p28"/>
          <p:cNvSpPr txBox="1"/>
          <p:nvPr/>
        </p:nvSpPr>
        <p:spPr>
          <a:xfrm>
            <a:off x="6492683" y="2909888"/>
            <a:ext cx="5172075" cy="83502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Clr>
                <a:srgbClr val="00279F"/>
              </a:buClr>
              <a:buSzPts val="2400"/>
              <a:buFont typeface="Noto Sans Symbols"/>
              <a:buNone/>
            </a:pPr>
            <a:r>
              <a:rPr lang="en-US" sz="2400" dirty="0" err="1">
                <a:solidFill>
                  <a:srgbClr val="00279F"/>
                </a:solidFill>
                <a:latin typeface="Times New Roman"/>
                <a:ea typeface="Times New Roman"/>
                <a:cs typeface="Times New Roman"/>
                <a:sym typeface="Times New Roman"/>
              </a:rPr>
              <a:t>strncat’s</a:t>
            </a:r>
            <a:r>
              <a:rPr lang="en-US" sz="2400" dirty="0">
                <a:solidFill>
                  <a:srgbClr val="00279F"/>
                </a:solidFill>
                <a:latin typeface="Times New Roman"/>
                <a:ea typeface="Times New Roman"/>
                <a:cs typeface="Times New Roman"/>
                <a:sym typeface="Times New Roman"/>
              </a:rPr>
              <a:t> 3rd parameter is number of</a:t>
            </a:r>
            <a:endParaRPr dirty="0"/>
          </a:p>
          <a:p>
            <a:pPr marL="0" marR="0" lvl="0" indent="0" algn="ctr" rtl="0">
              <a:spcBef>
                <a:spcPts val="0"/>
              </a:spcBef>
              <a:spcAft>
                <a:spcPts val="0"/>
              </a:spcAft>
              <a:buClr>
                <a:srgbClr val="00279F"/>
              </a:buClr>
              <a:buSzPts val="2400"/>
              <a:buFont typeface="Noto Sans Symbols"/>
              <a:buNone/>
            </a:pPr>
            <a:r>
              <a:rPr lang="en-US" sz="2400" dirty="0">
                <a:solidFill>
                  <a:srgbClr val="00279F"/>
                </a:solidFill>
                <a:latin typeface="Times New Roman"/>
                <a:ea typeface="Times New Roman"/>
                <a:cs typeface="Times New Roman"/>
                <a:sym typeface="Times New Roman"/>
              </a:rPr>
              <a:t>chars to copy, not the buffer size</a:t>
            </a:r>
            <a:endParaRPr sz="2400" dirty="0">
              <a:solidFill>
                <a:srgbClr val="00279F"/>
              </a:solidFill>
              <a:latin typeface="Batang"/>
              <a:ea typeface="Batang"/>
              <a:cs typeface="Batang"/>
              <a:sym typeface="Batang"/>
            </a:endParaRPr>
          </a:p>
        </p:txBody>
      </p:sp>
      <p:cxnSp>
        <p:nvCxnSpPr>
          <p:cNvPr id="309" name="Google Shape;309;p28"/>
          <p:cNvCxnSpPr/>
          <p:nvPr/>
        </p:nvCxnSpPr>
        <p:spPr>
          <a:xfrm rot="10800000">
            <a:off x="5754689" y="4167188"/>
            <a:ext cx="922337" cy="563562"/>
          </a:xfrm>
          <a:prstGeom prst="straightConnector1">
            <a:avLst/>
          </a:prstGeom>
          <a:noFill/>
          <a:ln w="57150" cap="flat" cmpd="sng">
            <a:solidFill>
              <a:srgbClr val="A50021"/>
            </a:solidFill>
            <a:prstDash val="solid"/>
            <a:round/>
            <a:headEnd type="none" w="med" len="med"/>
            <a:tailEnd type="triangle" w="med" len="med"/>
          </a:ln>
        </p:spPr>
      </p:cxnSp>
      <p:sp>
        <p:nvSpPr>
          <p:cNvPr id="310" name="Google Shape;310;p28"/>
          <p:cNvSpPr txBox="1"/>
          <p:nvPr/>
        </p:nvSpPr>
        <p:spPr>
          <a:xfrm>
            <a:off x="2713038" y="5664201"/>
            <a:ext cx="6978650"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279F"/>
              </a:buClr>
              <a:buSzPts val="2000"/>
              <a:buFont typeface="Noto Sans Symbols"/>
              <a:buNone/>
            </a:pPr>
            <a:r>
              <a:rPr lang="en-US" sz="2000">
                <a:solidFill>
                  <a:srgbClr val="00279F"/>
                </a:solidFill>
                <a:latin typeface="Times New Roman"/>
                <a:ea typeface="Times New Roman"/>
                <a:cs typeface="Times New Roman"/>
                <a:sym typeface="Times New Roman"/>
              </a:rPr>
              <a:t>Another common mistake is giving sizeof(path) as 3rd argument...</a:t>
            </a:r>
            <a:endParaRPr sz="2000">
              <a:solidFill>
                <a:srgbClr val="00279F"/>
              </a:solidFill>
              <a:latin typeface="Times New Roman"/>
              <a:ea typeface="Times New Roman"/>
              <a:cs typeface="Times New Roman"/>
              <a:sym typeface="Times New Roman"/>
            </a:endParaRPr>
          </a:p>
        </p:txBody>
      </p:sp>
      <p:sp>
        <p:nvSpPr>
          <p:cNvPr id="311" name="Google Shape;31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Spot the defect! (2)</a:t>
            </a:r>
            <a:endParaRPr sz="4000"/>
          </a:p>
        </p:txBody>
      </p:sp>
      <p:sp>
        <p:nvSpPr>
          <p:cNvPr id="317" name="Google Shape;317;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400"/>
              <a:buFont typeface="Noto Sans Symbols"/>
              <a:buNone/>
            </a:pPr>
            <a:r>
              <a:rPr lang="en-US" sz="2400" b="1">
                <a:solidFill>
                  <a:srgbClr val="000000"/>
                </a:solidFill>
                <a:latin typeface="Times New Roman"/>
                <a:ea typeface="Times New Roman"/>
                <a:cs typeface="Times New Roman"/>
                <a:sym typeface="Times New Roman"/>
              </a:rPr>
              <a:t>char src[9];</a:t>
            </a:r>
            <a:endParaRPr/>
          </a:p>
          <a:p>
            <a:pPr marL="228600" lvl="0" indent="-228600" algn="l" rtl="0">
              <a:lnSpc>
                <a:spcPct val="90000"/>
              </a:lnSpc>
              <a:spcBef>
                <a:spcPts val="1000"/>
              </a:spcBef>
              <a:spcAft>
                <a:spcPts val="0"/>
              </a:spcAft>
              <a:buClr>
                <a:srgbClr val="000000"/>
              </a:buClr>
              <a:buSzPts val="2400"/>
              <a:buFont typeface="Noto Sans Symbols"/>
              <a:buNone/>
            </a:pPr>
            <a:r>
              <a:rPr lang="en-US" sz="2400" b="1">
                <a:solidFill>
                  <a:srgbClr val="000000"/>
                </a:solidFill>
                <a:latin typeface="Times New Roman"/>
                <a:ea typeface="Times New Roman"/>
                <a:cs typeface="Times New Roman"/>
                <a:sym typeface="Times New Roman"/>
              </a:rPr>
              <a:t>char dest[9];</a:t>
            </a:r>
            <a:endParaRPr/>
          </a:p>
          <a:p>
            <a:pPr marL="228600" lvl="0" indent="-228600" algn="l" rtl="0">
              <a:lnSpc>
                <a:spcPct val="90000"/>
              </a:lnSpc>
              <a:spcBef>
                <a:spcPts val="1000"/>
              </a:spcBef>
              <a:spcAft>
                <a:spcPts val="0"/>
              </a:spcAft>
              <a:buClr>
                <a:schemeClr val="dk1"/>
              </a:buClr>
              <a:buSzPts val="2400"/>
              <a:buFont typeface="Noto Sans Symbols"/>
              <a:buNone/>
            </a:pPr>
            <a:endParaRPr sz="2400" b="1">
              <a:solidFill>
                <a:srgbClr val="000000"/>
              </a:solidFill>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rgbClr val="000000"/>
              </a:buClr>
              <a:buSzPts val="2400"/>
              <a:buFont typeface="Noto Sans Symbols"/>
              <a:buNone/>
            </a:pPr>
            <a:r>
              <a:rPr lang="en-US" sz="2400" b="1">
                <a:solidFill>
                  <a:srgbClr val="000000"/>
                </a:solidFill>
                <a:latin typeface="Times New Roman"/>
                <a:ea typeface="Times New Roman"/>
                <a:cs typeface="Times New Roman"/>
                <a:sym typeface="Times New Roman"/>
              </a:rPr>
              <a:t>char base_url = ”www.ru.nl”;</a:t>
            </a:r>
            <a:endParaRPr/>
          </a:p>
          <a:p>
            <a:pPr marL="228600" lvl="0" indent="-228600" algn="l" rtl="0">
              <a:lnSpc>
                <a:spcPct val="90000"/>
              </a:lnSpc>
              <a:spcBef>
                <a:spcPts val="1000"/>
              </a:spcBef>
              <a:spcAft>
                <a:spcPts val="0"/>
              </a:spcAft>
              <a:buClr>
                <a:srgbClr val="000000"/>
              </a:buClr>
              <a:buSzPts val="2400"/>
              <a:buFont typeface="Noto Sans Symbols"/>
              <a:buNone/>
            </a:pPr>
            <a:r>
              <a:rPr lang="en-US" sz="2400" b="1">
                <a:solidFill>
                  <a:srgbClr val="000000"/>
                </a:solidFill>
                <a:latin typeface="Times New Roman"/>
                <a:ea typeface="Times New Roman"/>
                <a:cs typeface="Times New Roman"/>
                <a:sym typeface="Times New Roman"/>
              </a:rPr>
              <a:t>strncpy(src, base_url, 9);</a:t>
            </a:r>
            <a:endParaRPr/>
          </a:p>
          <a:p>
            <a:pPr marL="228600" lvl="0" indent="-228600" algn="l" rtl="0">
              <a:lnSpc>
                <a:spcPct val="90000"/>
              </a:lnSpc>
              <a:spcBef>
                <a:spcPts val="1000"/>
              </a:spcBef>
              <a:spcAft>
                <a:spcPts val="0"/>
              </a:spcAft>
              <a:buClr>
                <a:srgbClr val="000000"/>
              </a:buClr>
              <a:buSzPts val="2400"/>
              <a:buFont typeface="Noto Sans Symbols"/>
              <a:buNone/>
            </a:pPr>
            <a:r>
              <a:rPr lang="en-US" sz="2400" b="1">
                <a:solidFill>
                  <a:srgbClr val="000000"/>
                </a:solidFill>
                <a:latin typeface="Times New Roman"/>
                <a:ea typeface="Times New Roman"/>
                <a:cs typeface="Times New Roman"/>
                <a:sym typeface="Times New Roman"/>
              </a:rPr>
              <a:t>	// copies base_url to src</a:t>
            </a:r>
            <a:endParaRPr/>
          </a:p>
          <a:p>
            <a:pPr marL="228600" lvl="0" indent="-228600" algn="l" rtl="0">
              <a:lnSpc>
                <a:spcPct val="90000"/>
              </a:lnSpc>
              <a:spcBef>
                <a:spcPts val="1000"/>
              </a:spcBef>
              <a:spcAft>
                <a:spcPts val="0"/>
              </a:spcAft>
              <a:buClr>
                <a:srgbClr val="000000"/>
              </a:buClr>
              <a:buSzPts val="2400"/>
              <a:buFont typeface="Noto Sans Symbols"/>
              <a:buNone/>
            </a:pPr>
            <a:r>
              <a:rPr lang="en-US" sz="2400" b="1">
                <a:solidFill>
                  <a:srgbClr val="000000"/>
                </a:solidFill>
                <a:latin typeface="Times New Roman"/>
                <a:ea typeface="Times New Roman"/>
                <a:cs typeface="Times New Roman"/>
                <a:sym typeface="Times New Roman"/>
              </a:rPr>
              <a:t>strcpy(dest, src);</a:t>
            </a:r>
            <a:endParaRPr/>
          </a:p>
          <a:p>
            <a:pPr marL="228600" lvl="0" indent="-228600" algn="l" rtl="0">
              <a:lnSpc>
                <a:spcPct val="90000"/>
              </a:lnSpc>
              <a:spcBef>
                <a:spcPts val="1000"/>
              </a:spcBef>
              <a:spcAft>
                <a:spcPts val="0"/>
              </a:spcAft>
              <a:buClr>
                <a:srgbClr val="000000"/>
              </a:buClr>
              <a:buSzPts val="2400"/>
              <a:buFont typeface="Noto Sans Symbols"/>
              <a:buNone/>
            </a:pPr>
            <a:r>
              <a:rPr lang="en-US" sz="2400" b="1">
                <a:solidFill>
                  <a:srgbClr val="000000"/>
                </a:solidFill>
                <a:latin typeface="Times New Roman"/>
                <a:ea typeface="Times New Roman"/>
                <a:cs typeface="Times New Roman"/>
                <a:sym typeface="Times New Roman"/>
              </a:rPr>
              <a:t>	// copies src to dest</a:t>
            </a:r>
            <a:endParaRPr sz="2400">
              <a:solidFill>
                <a:srgbClr val="000000"/>
              </a:solidFill>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400"/>
              <a:buFont typeface="Noto Sans Symbols"/>
              <a:buNone/>
            </a:pPr>
            <a:endParaRPr sz="2400">
              <a:solidFill>
                <a:srgbClr val="000000"/>
              </a:solidFill>
              <a:latin typeface="Times New Roman"/>
              <a:ea typeface="Times New Roman"/>
              <a:cs typeface="Times New Roman"/>
              <a:sym typeface="Times New Roman"/>
            </a:endParaRPr>
          </a:p>
        </p:txBody>
      </p:sp>
      <p:sp>
        <p:nvSpPr>
          <p:cNvPr id="318" name="Google Shape;318;p29"/>
          <p:cNvSpPr txBox="1"/>
          <p:nvPr/>
        </p:nvSpPr>
        <p:spPr>
          <a:xfrm>
            <a:off x="5935664" y="1473200"/>
            <a:ext cx="4359275" cy="1200150"/>
          </a:xfrm>
          <a:prstGeom prst="rect">
            <a:avLst/>
          </a:prstGeom>
          <a:noFill/>
          <a:ln w="12700" cap="flat" cmpd="sng">
            <a:solidFill>
              <a:srgbClr val="A5002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Clr>
                <a:srgbClr val="00279F"/>
              </a:buClr>
              <a:buSzPts val="2400"/>
              <a:buFont typeface="Noto Sans Symbols"/>
              <a:buNone/>
            </a:pPr>
            <a:r>
              <a:rPr lang="en-US" sz="2400">
                <a:solidFill>
                  <a:srgbClr val="00279F"/>
                </a:solidFill>
                <a:latin typeface="Times New Roman"/>
                <a:ea typeface="Times New Roman"/>
                <a:cs typeface="Times New Roman"/>
                <a:sym typeface="Times New Roman"/>
              </a:rPr>
              <a:t>base_url is 10 chars long, incl. its</a:t>
            </a:r>
            <a:endParaRPr/>
          </a:p>
          <a:p>
            <a:pPr marL="0" marR="0" lvl="0" indent="0" algn="ctr" rtl="0">
              <a:spcBef>
                <a:spcPts val="0"/>
              </a:spcBef>
              <a:spcAft>
                <a:spcPts val="0"/>
              </a:spcAft>
              <a:buClr>
                <a:srgbClr val="00279F"/>
              </a:buClr>
              <a:buSzPts val="2400"/>
              <a:buFont typeface="Noto Sans Symbols"/>
              <a:buNone/>
            </a:pPr>
            <a:r>
              <a:rPr lang="en-US" sz="2400">
                <a:solidFill>
                  <a:srgbClr val="00279F"/>
                </a:solidFill>
                <a:latin typeface="Times New Roman"/>
                <a:ea typeface="Times New Roman"/>
                <a:cs typeface="Times New Roman"/>
                <a:sym typeface="Times New Roman"/>
              </a:rPr>
              <a:t>null terminator, so src won’t be</a:t>
            </a:r>
            <a:endParaRPr/>
          </a:p>
          <a:p>
            <a:pPr marL="0" marR="0" lvl="0" indent="0" algn="ctr" rtl="0">
              <a:spcBef>
                <a:spcPts val="0"/>
              </a:spcBef>
              <a:spcAft>
                <a:spcPts val="0"/>
              </a:spcAft>
              <a:buClr>
                <a:srgbClr val="00279F"/>
              </a:buClr>
              <a:buSzPts val="2400"/>
              <a:buFont typeface="Noto Sans Symbols"/>
              <a:buNone/>
            </a:pPr>
            <a:r>
              <a:rPr lang="en-US" sz="2400">
                <a:solidFill>
                  <a:srgbClr val="00279F"/>
                </a:solidFill>
                <a:latin typeface="Times New Roman"/>
                <a:ea typeface="Times New Roman"/>
                <a:cs typeface="Times New Roman"/>
                <a:sym typeface="Times New Roman"/>
              </a:rPr>
              <a:t>not null-terminated</a:t>
            </a:r>
            <a:endParaRPr sz="2400">
              <a:solidFill>
                <a:srgbClr val="00279F"/>
              </a:solidFill>
              <a:latin typeface="Times New Roman"/>
              <a:ea typeface="Times New Roman"/>
              <a:cs typeface="Times New Roman"/>
              <a:sym typeface="Times New Roman"/>
            </a:endParaRPr>
          </a:p>
        </p:txBody>
      </p:sp>
      <p:cxnSp>
        <p:nvCxnSpPr>
          <p:cNvPr id="319" name="Google Shape;319;p29"/>
          <p:cNvCxnSpPr/>
          <p:nvPr/>
        </p:nvCxnSpPr>
        <p:spPr>
          <a:xfrm flipH="1">
            <a:off x="5078413" y="2185988"/>
            <a:ext cx="747712" cy="876300"/>
          </a:xfrm>
          <a:prstGeom prst="straightConnector1">
            <a:avLst/>
          </a:prstGeom>
          <a:noFill/>
          <a:ln w="57150" cap="flat" cmpd="sng">
            <a:solidFill>
              <a:srgbClr val="A50021"/>
            </a:solidFill>
            <a:prstDash val="solid"/>
            <a:round/>
            <a:headEnd type="none" w="med" len="med"/>
            <a:tailEnd type="triangle" w="med" len="med"/>
          </a:ln>
        </p:spPr>
      </p:cxnSp>
      <p:sp>
        <p:nvSpPr>
          <p:cNvPr id="320" name="Google Shape;320;p29"/>
          <p:cNvSpPr txBox="1"/>
          <p:nvPr/>
        </p:nvSpPr>
        <p:spPr>
          <a:xfrm>
            <a:off x="3267075" y="4757738"/>
            <a:ext cx="4800600" cy="469900"/>
          </a:xfrm>
          <a:prstGeom prst="rect">
            <a:avLst/>
          </a:prstGeom>
          <a:noFill/>
          <a:ln w="12700" cap="flat" cmpd="sng">
            <a:solidFill>
              <a:srgbClr val="A5002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Clr>
                <a:srgbClr val="00279F"/>
              </a:buClr>
              <a:buSzPts val="2400"/>
              <a:buFont typeface="Noto Sans Symbols"/>
              <a:buNone/>
            </a:pPr>
            <a:r>
              <a:rPr lang="en-US" sz="2400">
                <a:solidFill>
                  <a:srgbClr val="00279F"/>
                </a:solidFill>
                <a:latin typeface="Times New Roman"/>
                <a:ea typeface="Times New Roman"/>
                <a:cs typeface="Times New Roman"/>
                <a:sym typeface="Times New Roman"/>
              </a:rPr>
              <a:t>so strcpy will overrun the buffer dest</a:t>
            </a:r>
            <a:endParaRPr sz="2400">
              <a:solidFill>
                <a:srgbClr val="00279F"/>
              </a:solidFill>
              <a:latin typeface="Times New Roman"/>
              <a:ea typeface="Times New Roman"/>
              <a:cs typeface="Times New Roman"/>
              <a:sym typeface="Times New Roman"/>
            </a:endParaRPr>
          </a:p>
        </p:txBody>
      </p:sp>
      <p:cxnSp>
        <p:nvCxnSpPr>
          <p:cNvPr id="321" name="Google Shape;321;p29"/>
          <p:cNvCxnSpPr/>
          <p:nvPr/>
        </p:nvCxnSpPr>
        <p:spPr>
          <a:xfrm rot="10800000">
            <a:off x="3297238" y="4121150"/>
            <a:ext cx="1255712" cy="577850"/>
          </a:xfrm>
          <a:prstGeom prst="straightConnector1">
            <a:avLst/>
          </a:prstGeom>
          <a:noFill/>
          <a:ln w="57150" cap="flat" cmpd="sng">
            <a:solidFill>
              <a:srgbClr val="A50021"/>
            </a:solidFill>
            <a:prstDash val="solid"/>
            <a:round/>
            <a:headEnd type="none" w="med" len="med"/>
            <a:tailEnd type="triangle" w="med" len="med"/>
          </a:ln>
        </p:spPr>
      </p:cxnSp>
      <p:sp>
        <p:nvSpPr>
          <p:cNvPr id="322" name="Google Shape;32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Example: strcpy and strncpy</a:t>
            </a:r>
            <a:endParaRPr sz="4000"/>
          </a:p>
        </p:txBody>
      </p:sp>
      <p:sp>
        <p:nvSpPr>
          <p:cNvPr id="328" name="Google Shape;328;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a:t>Don’t replace </a:t>
            </a:r>
            <a:r>
              <a:rPr lang="en-US" b="1"/>
              <a:t>strcpy(dest, src) </a:t>
            </a:r>
            <a:r>
              <a:rPr lang="en-US"/>
              <a:t>by</a:t>
            </a:r>
            <a:endParaRPr/>
          </a:p>
          <a:p>
            <a:pPr marL="685800" lvl="1" indent="-228600" algn="l" rtl="0">
              <a:lnSpc>
                <a:spcPct val="90000"/>
              </a:lnSpc>
              <a:spcBef>
                <a:spcPts val="500"/>
              </a:spcBef>
              <a:spcAft>
                <a:spcPts val="0"/>
              </a:spcAft>
              <a:buClr>
                <a:schemeClr val="dk1"/>
              </a:buClr>
              <a:buSzPts val="2400"/>
              <a:buChar char="•"/>
            </a:pPr>
            <a:r>
              <a:rPr lang="en-US" b="1"/>
              <a:t>strncpy(dest, src, sizeof(dest))</a:t>
            </a:r>
            <a:endParaRPr/>
          </a:p>
          <a:p>
            <a:pPr marL="228600" lvl="0" indent="-228600" algn="l" rtl="0">
              <a:lnSpc>
                <a:spcPct val="90000"/>
              </a:lnSpc>
              <a:spcBef>
                <a:spcPts val="1000"/>
              </a:spcBef>
              <a:spcAft>
                <a:spcPts val="0"/>
              </a:spcAft>
              <a:buClr>
                <a:schemeClr val="dk1"/>
              </a:buClr>
              <a:buSzPts val="2800"/>
              <a:buChar char="•"/>
            </a:pPr>
            <a:r>
              <a:rPr lang="en-US"/>
              <a:t>but by</a:t>
            </a:r>
            <a:endParaRPr/>
          </a:p>
          <a:p>
            <a:pPr marL="685800" lvl="1" indent="-228600" algn="l" rtl="0">
              <a:lnSpc>
                <a:spcPct val="90000"/>
              </a:lnSpc>
              <a:spcBef>
                <a:spcPts val="500"/>
              </a:spcBef>
              <a:spcAft>
                <a:spcPts val="0"/>
              </a:spcAft>
              <a:buClr>
                <a:schemeClr val="dk1"/>
              </a:buClr>
              <a:buSzPts val="2400"/>
              <a:buChar char="•"/>
            </a:pPr>
            <a:r>
              <a:rPr lang="en-US" b="1"/>
              <a:t>strncpy(dest, src, sizeof(dest)-1)</a:t>
            </a:r>
            <a:endParaRPr/>
          </a:p>
          <a:p>
            <a:pPr marL="685800" lvl="1" indent="-228600" algn="l" rtl="0">
              <a:lnSpc>
                <a:spcPct val="90000"/>
              </a:lnSpc>
              <a:spcBef>
                <a:spcPts val="500"/>
              </a:spcBef>
              <a:spcAft>
                <a:spcPts val="0"/>
              </a:spcAft>
              <a:buClr>
                <a:schemeClr val="dk1"/>
              </a:buClr>
              <a:buSzPts val="2400"/>
              <a:buChar char="•"/>
            </a:pPr>
            <a:r>
              <a:rPr lang="en-US" b="1"/>
              <a:t>dest[sizeof(dest)-1] = `\0`;</a:t>
            </a:r>
            <a:endParaRPr/>
          </a:p>
          <a:p>
            <a:pPr marL="685800" lvl="1" indent="-228600" algn="l" rtl="0">
              <a:lnSpc>
                <a:spcPct val="90000"/>
              </a:lnSpc>
              <a:spcBef>
                <a:spcPts val="500"/>
              </a:spcBef>
              <a:spcAft>
                <a:spcPts val="0"/>
              </a:spcAft>
              <a:buClr>
                <a:schemeClr val="dk1"/>
              </a:buClr>
              <a:buSzPts val="2400"/>
              <a:buChar char="•"/>
            </a:pPr>
            <a:r>
              <a:rPr lang="en-US"/>
              <a:t>if </a:t>
            </a:r>
            <a:r>
              <a:rPr lang="en-US" b="1"/>
              <a:t>dest </a:t>
            </a:r>
            <a:r>
              <a:rPr lang="en-US"/>
              <a:t>should be null-terminated!</a:t>
            </a: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A strongly typed programming language could of course enforce that strings are always null-terminated...</a:t>
            </a:r>
            <a:endParaRPr/>
          </a:p>
          <a:p>
            <a:pPr marL="228600" lvl="0" indent="-50800" algn="l" rtl="0">
              <a:lnSpc>
                <a:spcPct val="90000"/>
              </a:lnSpc>
              <a:spcBef>
                <a:spcPts val="1000"/>
              </a:spcBef>
              <a:spcAft>
                <a:spcPts val="0"/>
              </a:spcAft>
              <a:buClr>
                <a:schemeClr val="dk1"/>
              </a:buClr>
              <a:buSzPts val="2800"/>
              <a:buNone/>
            </a:pPr>
            <a:endParaRPr/>
          </a:p>
        </p:txBody>
      </p:sp>
      <p:sp>
        <p:nvSpPr>
          <p:cNvPr id="329" name="Google Shape;32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Spot the defect! (3)</a:t>
            </a:r>
            <a:endParaRPr sz="4000"/>
          </a:p>
        </p:txBody>
      </p:sp>
      <p:sp>
        <p:nvSpPr>
          <p:cNvPr id="335" name="Google Shape;335;p3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Noto Sans Symbols"/>
              <a:buNone/>
            </a:pPr>
            <a:r>
              <a:rPr lang="en-US">
                <a:latin typeface="Times New Roman"/>
                <a:ea typeface="Times New Roman"/>
                <a:cs typeface="Times New Roman"/>
                <a:sym typeface="Times New Roman"/>
              </a:rPr>
              <a:t>char *buf;</a:t>
            </a:r>
            <a:endParaRPr/>
          </a:p>
          <a:p>
            <a:pPr marL="228600" lvl="0" indent="-228600" algn="l" rtl="0">
              <a:lnSpc>
                <a:spcPct val="90000"/>
              </a:lnSpc>
              <a:spcBef>
                <a:spcPts val="1000"/>
              </a:spcBef>
              <a:spcAft>
                <a:spcPts val="0"/>
              </a:spcAft>
              <a:buClr>
                <a:schemeClr val="dk1"/>
              </a:buClr>
              <a:buSzPts val="2800"/>
              <a:buFont typeface="Noto Sans Symbols"/>
              <a:buNone/>
            </a:pPr>
            <a:r>
              <a:rPr lang="en-US">
                <a:latin typeface="Times New Roman"/>
                <a:ea typeface="Times New Roman"/>
                <a:cs typeface="Times New Roman"/>
                <a:sym typeface="Times New Roman"/>
              </a:rPr>
              <a:t>int i, len;</a:t>
            </a:r>
            <a:endParaRPr/>
          </a:p>
          <a:p>
            <a:pPr marL="228600" lvl="0" indent="-228600" algn="l" rtl="0">
              <a:lnSpc>
                <a:spcPct val="90000"/>
              </a:lnSpc>
              <a:spcBef>
                <a:spcPts val="1000"/>
              </a:spcBef>
              <a:spcAft>
                <a:spcPts val="0"/>
              </a:spcAft>
              <a:buClr>
                <a:schemeClr val="dk1"/>
              </a:buClr>
              <a:buSzPts val="2800"/>
              <a:buFont typeface="Noto Sans Symbols"/>
              <a:buNone/>
            </a:pPr>
            <a:r>
              <a:rPr lang="en-US">
                <a:latin typeface="Times New Roman"/>
                <a:ea typeface="Times New Roman"/>
                <a:cs typeface="Times New Roman"/>
                <a:sym typeface="Times New Roman"/>
              </a:rPr>
              <a:t>read(fd, &amp;len, sizeof(len));</a:t>
            </a:r>
            <a:endParaRPr/>
          </a:p>
          <a:p>
            <a:pPr marL="228600" lvl="0" indent="-228600" algn="l" rtl="0">
              <a:lnSpc>
                <a:spcPct val="90000"/>
              </a:lnSpc>
              <a:spcBef>
                <a:spcPts val="1000"/>
              </a:spcBef>
              <a:spcAft>
                <a:spcPts val="0"/>
              </a:spcAft>
              <a:buClr>
                <a:schemeClr val="dk1"/>
              </a:buClr>
              <a:buSzPts val="2800"/>
              <a:buFont typeface="Noto Sans Symbols"/>
              <a:buNone/>
            </a:pPr>
            <a:r>
              <a:rPr lang="en-US">
                <a:latin typeface="Times New Roman"/>
                <a:ea typeface="Times New Roman"/>
                <a:cs typeface="Times New Roman"/>
                <a:sym typeface="Times New Roman"/>
              </a:rPr>
              <a:t>buf = malloc(len);</a:t>
            </a:r>
            <a:endParaRPr/>
          </a:p>
          <a:p>
            <a:pPr marL="228600" lvl="0" indent="-228600" algn="l" rtl="0">
              <a:lnSpc>
                <a:spcPct val="90000"/>
              </a:lnSpc>
              <a:spcBef>
                <a:spcPts val="1000"/>
              </a:spcBef>
              <a:spcAft>
                <a:spcPts val="0"/>
              </a:spcAft>
              <a:buClr>
                <a:schemeClr val="dk1"/>
              </a:buClr>
              <a:buSzPts val="2800"/>
              <a:buFont typeface="Noto Sans Symbols"/>
              <a:buNone/>
            </a:pPr>
            <a:r>
              <a:rPr lang="en-US">
                <a:latin typeface="Times New Roman"/>
                <a:ea typeface="Times New Roman"/>
                <a:cs typeface="Times New Roman"/>
                <a:sym typeface="Times New Roman"/>
              </a:rPr>
              <a:t>read(fd,buf,len);</a:t>
            </a:r>
            <a:endParaRPr/>
          </a:p>
          <a:p>
            <a:pPr marL="228600" lvl="0" indent="-228600" algn="l" rtl="0">
              <a:lnSpc>
                <a:spcPct val="90000"/>
              </a:lnSpc>
              <a:spcBef>
                <a:spcPts val="1000"/>
              </a:spcBef>
              <a:spcAft>
                <a:spcPts val="0"/>
              </a:spcAft>
              <a:buClr>
                <a:schemeClr val="dk1"/>
              </a:buClr>
              <a:buSzPts val="2800"/>
              <a:buFont typeface="Noto Sans Symbols"/>
              <a:buNone/>
            </a:pPr>
            <a:endParaRPr>
              <a:latin typeface="Times New Roman"/>
              <a:ea typeface="Times New Roman"/>
              <a:cs typeface="Times New Roman"/>
              <a:sym typeface="Times New Roman"/>
            </a:endParaRPr>
          </a:p>
        </p:txBody>
      </p:sp>
      <p:sp>
        <p:nvSpPr>
          <p:cNvPr id="336" name="Google Shape;336;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Spot the defect! (3)</a:t>
            </a:r>
            <a:endParaRPr sz="4000"/>
          </a:p>
        </p:txBody>
      </p:sp>
      <p:sp>
        <p:nvSpPr>
          <p:cNvPr id="342" name="Google Shape;342;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ct val="100000"/>
              <a:buFont typeface="Noto Sans Symbols"/>
              <a:buNone/>
            </a:pPr>
            <a:r>
              <a:rPr lang="en-US">
                <a:latin typeface="Times New Roman"/>
                <a:ea typeface="Times New Roman"/>
                <a:cs typeface="Times New Roman"/>
                <a:sym typeface="Times New Roman"/>
              </a:rPr>
              <a:t>char *buf;</a:t>
            </a:r>
            <a:endParaRPr/>
          </a:p>
          <a:p>
            <a:pPr marL="228600" lvl="0" indent="-228600" algn="l" rtl="0">
              <a:lnSpc>
                <a:spcPct val="90000"/>
              </a:lnSpc>
              <a:spcBef>
                <a:spcPts val="1000"/>
              </a:spcBef>
              <a:spcAft>
                <a:spcPts val="0"/>
              </a:spcAft>
              <a:buClr>
                <a:schemeClr val="dk1"/>
              </a:buClr>
              <a:buSzPct val="100000"/>
              <a:buFont typeface="Noto Sans Symbols"/>
              <a:buNone/>
            </a:pPr>
            <a:r>
              <a:rPr lang="en-US">
                <a:latin typeface="Times New Roman"/>
                <a:ea typeface="Times New Roman"/>
                <a:cs typeface="Times New Roman"/>
                <a:sym typeface="Times New Roman"/>
              </a:rPr>
              <a:t>int i, len;</a:t>
            </a:r>
            <a:endParaRPr/>
          </a:p>
          <a:p>
            <a:pPr marL="228600" lvl="0" indent="-228600" algn="l" rtl="0">
              <a:lnSpc>
                <a:spcPct val="90000"/>
              </a:lnSpc>
              <a:spcBef>
                <a:spcPts val="1000"/>
              </a:spcBef>
              <a:spcAft>
                <a:spcPts val="0"/>
              </a:spcAft>
              <a:buClr>
                <a:schemeClr val="dk1"/>
              </a:buClr>
              <a:buSzPct val="100000"/>
              <a:buFont typeface="Noto Sans Symbols"/>
              <a:buNone/>
            </a:pPr>
            <a:r>
              <a:rPr lang="en-US">
                <a:latin typeface="Times New Roman"/>
                <a:ea typeface="Times New Roman"/>
                <a:cs typeface="Times New Roman"/>
                <a:sym typeface="Times New Roman"/>
              </a:rPr>
              <a:t>read(fd, &amp;len, sizeof(len));</a:t>
            </a:r>
            <a:endParaRPr/>
          </a:p>
          <a:p>
            <a:pPr marL="228600" lvl="0" indent="-228600" algn="l" rtl="0">
              <a:lnSpc>
                <a:spcPct val="90000"/>
              </a:lnSpc>
              <a:spcBef>
                <a:spcPts val="1000"/>
              </a:spcBef>
              <a:spcAft>
                <a:spcPts val="0"/>
              </a:spcAft>
              <a:buClr>
                <a:schemeClr val="dk1"/>
              </a:buClr>
              <a:buSzPct val="100000"/>
              <a:buFont typeface="Noto Sans Symbols"/>
              <a:buNone/>
            </a:pPr>
            <a:r>
              <a:rPr lang="en-US">
                <a:latin typeface="Times New Roman"/>
                <a:ea typeface="Times New Roman"/>
                <a:cs typeface="Times New Roman"/>
                <a:sym typeface="Times New Roman"/>
              </a:rPr>
              <a:t>buf = malloc(len);</a:t>
            </a:r>
            <a:endParaRPr/>
          </a:p>
          <a:p>
            <a:pPr marL="228600" lvl="0" indent="-228600" algn="l" rtl="0">
              <a:lnSpc>
                <a:spcPct val="90000"/>
              </a:lnSpc>
              <a:spcBef>
                <a:spcPts val="1000"/>
              </a:spcBef>
              <a:spcAft>
                <a:spcPts val="0"/>
              </a:spcAft>
              <a:buClr>
                <a:schemeClr val="dk1"/>
              </a:buClr>
              <a:buSzPct val="155555"/>
              <a:buFont typeface="Noto Sans Symbols"/>
              <a:buNone/>
            </a:pPr>
            <a:r>
              <a:rPr lang="en-US">
                <a:latin typeface="Times New Roman"/>
                <a:ea typeface="Times New Roman"/>
                <a:cs typeface="Times New Roman"/>
                <a:sym typeface="Times New Roman"/>
              </a:rPr>
              <a:t>read(fd,buf,len);</a:t>
            </a:r>
            <a:endParaRPr sz="1800" b="1"/>
          </a:p>
          <a:p>
            <a:pPr marL="228600" lvl="0" indent="-131445" algn="l" rtl="0">
              <a:lnSpc>
                <a:spcPct val="90000"/>
              </a:lnSpc>
              <a:spcBef>
                <a:spcPts val="1000"/>
              </a:spcBef>
              <a:spcAft>
                <a:spcPts val="0"/>
              </a:spcAft>
              <a:buClr>
                <a:schemeClr val="dk1"/>
              </a:buClr>
              <a:buSzPct val="100000"/>
              <a:buNone/>
            </a:pPr>
            <a:endParaRPr sz="1800" b="1"/>
          </a:p>
          <a:p>
            <a:pPr marL="228600" lvl="0" indent="-131445" algn="l" rtl="0">
              <a:lnSpc>
                <a:spcPct val="90000"/>
              </a:lnSpc>
              <a:spcBef>
                <a:spcPts val="1000"/>
              </a:spcBef>
              <a:spcAft>
                <a:spcPts val="0"/>
              </a:spcAft>
              <a:buClr>
                <a:schemeClr val="dk1"/>
              </a:buClr>
              <a:buSzPct val="100000"/>
              <a:buNone/>
            </a:pPr>
            <a:endParaRPr sz="1800" b="1"/>
          </a:p>
          <a:p>
            <a:pPr marL="228600" lvl="0" indent="-131445" algn="l" rtl="0">
              <a:lnSpc>
                <a:spcPct val="90000"/>
              </a:lnSpc>
              <a:spcBef>
                <a:spcPts val="1000"/>
              </a:spcBef>
              <a:spcAft>
                <a:spcPts val="0"/>
              </a:spcAft>
              <a:buClr>
                <a:schemeClr val="dk1"/>
              </a:buClr>
              <a:buSzPct val="100000"/>
              <a:buNone/>
            </a:pPr>
            <a:endParaRPr sz="1800" b="1"/>
          </a:p>
          <a:p>
            <a:pPr marL="228600" lvl="0" indent="-131445" algn="l" rtl="0">
              <a:lnSpc>
                <a:spcPct val="90000"/>
              </a:lnSpc>
              <a:spcBef>
                <a:spcPts val="1000"/>
              </a:spcBef>
              <a:spcAft>
                <a:spcPts val="0"/>
              </a:spcAft>
              <a:buClr>
                <a:schemeClr val="dk1"/>
              </a:buClr>
              <a:buSzPct val="100000"/>
              <a:buNone/>
            </a:pPr>
            <a:endParaRPr sz="1800" b="1"/>
          </a:p>
          <a:p>
            <a:pPr marL="228600" lvl="0" indent="-131445" algn="l" rtl="0">
              <a:lnSpc>
                <a:spcPct val="90000"/>
              </a:lnSpc>
              <a:spcBef>
                <a:spcPts val="1000"/>
              </a:spcBef>
              <a:spcAft>
                <a:spcPts val="0"/>
              </a:spcAft>
              <a:buClr>
                <a:schemeClr val="dk1"/>
              </a:buClr>
              <a:buSzPct val="100000"/>
              <a:buNone/>
            </a:pPr>
            <a:endParaRPr sz="1800" b="1"/>
          </a:p>
          <a:p>
            <a:pPr marL="228600" lvl="0" indent="-228600" algn="l" rtl="0">
              <a:lnSpc>
                <a:spcPct val="90000"/>
              </a:lnSpc>
              <a:spcBef>
                <a:spcPts val="1000"/>
              </a:spcBef>
              <a:spcAft>
                <a:spcPts val="0"/>
              </a:spcAft>
              <a:buClr>
                <a:schemeClr val="dk1"/>
              </a:buClr>
              <a:buSzPct val="100000"/>
              <a:buChar char="•"/>
            </a:pPr>
            <a:r>
              <a:rPr lang="en-US" sz="2400" b="1">
                <a:latin typeface="Times New Roman"/>
                <a:ea typeface="Times New Roman"/>
                <a:cs typeface="Times New Roman"/>
                <a:sym typeface="Times New Roman"/>
              </a:rPr>
              <a:t>Memcpy() prototype:</a:t>
            </a:r>
            <a:endParaRPr/>
          </a:p>
          <a:p>
            <a:pPr marL="685800" lvl="1" indent="-228600" algn="l" rtl="0">
              <a:lnSpc>
                <a:spcPct val="90000"/>
              </a:lnSpc>
              <a:spcBef>
                <a:spcPts val="500"/>
              </a:spcBef>
              <a:spcAft>
                <a:spcPts val="0"/>
              </a:spcAft>
              <a:buClr>
                <a:schemeClr val="dk1"/>
              </a:buClr>
              <a:buSzPct val="100000"/>
              <a:buChar char="•"/>
            </a:pPr>
            <a:r>
              <a:rPr lang="en-US" sz="2000" b="1">
                <a:latin typeface="Times New Roman"/>
                <a:ea typeface="Times New Roman"/>
                <a:cs typeface="Times New Roman"/>
                <a:sym typeface="Times New Roman"/>
              </a:rPr>
              <a:t>void *memcpy(void *dest, const void *src, size_t n);</a:t>
            </a:r>
            <a:endParaRPr/>
          </a:p>
          <a:p>
            <a:pPr marL="228600" lvl="0" indent="-228600" algn="l" rtl="0">
              <a:lnSpc>
                <a:spcPct val="90000"/>
              </a:lnSpc>
              <a:spcBef>
                <a:spcPts val="1000"/>
              </a:spcBef>
              <a:spcAft>
                <a:spcPts val="0"/>
              </a:spcAft>
              <a:buClr>
                <a:schemeClr val="dk1"/>
              </a:buClr>
              <a:buSzPct val="100000"/>
              <a:buChar char="•"/>
            </a:pPr>
            <a:r>
              <a:rPr lang="en-US" sz="2400" b="1">
                <a:latin typeface="Times New Roman"/>
                <a:ea typeface="Times New Roman"/>
                <a:cs typeface="Times New Roman"/>
                <a:sym typeface="Times New Roman"/>
              </a:rPr>
              <a:t>Definition of size_t: typedef unsigned int size_t;</a:t>
            </a:r>
            <a:endParaRPr sz="2400">
              <a:latin typeface="Times New Roman"/>
              <a:ea typeface="Times New Roman"/>
              <a:cs typeface="Times New Roman"/>
              <a:sym typeface="Times New Roman"/>
            </a:endParaRPr>
          </a:p>
          <a:p>
            <a:pPr marL="228600" lvl="0" indent="-99060" algn="l" rtl="0">
              <a:lnSpc>
                <a:spcPct val="90000"/>
              </a:lnSpc>
              <a:spcBef>
                <a:spcPts val="1000"/>
              </a:spcBef>
              <a:spcAft>
                <a:spcPts val="0"/>
              </a:spcAft>
              <a:buClr>
                <a:schemeClr val="dk1"/>
              </a:buClr>
              <a:buSzPct val="100000"/>
              <a:buNone/>
            </a:pPr>
            <a:endParaRPr sz="2400">
              <a:latin typeface="Times New Roman"/>
              <a:ea typeface="Times New Roman"/>
              <a:cs typeface="Times New Roman"/>
              <a:sym typeface="Times New Roman"/>
            </a:endParaRPr>
          </a:p>
        </p:txBody>
      </p:sp>
      <p:sp>
        <p:nvSpPr>
          <p:cNvPr id="343" name="Google Shape;343;p32"/>
          <p:cNvSpPr txBox="1"/>
          <p:nvPr/>
        </p:nvSpPr>
        <p:spPr>
          <a:xfrm>
            <a:off x="6573079" y="1606551"/>
            <a:ext cx="3157466" cy="461665"/>
          </a:xfrm>
          <a:prstGeom prst="rect">
            <a:avLst/>
          </a:prstGeom>
          <a:noFill/>
          <a:ln w="12700" cap="flat" cmpd="sng">
            <a:solidFill>
              <a:srgbClr val="A5002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Clr>
                <a:srgbClr val="00279F"/>
              </a:buClr>
              <a:buSzPts val="2400"/>
              <a:buFont typeface="Noto Sans Symbols"/>
              <a:buNone/>
            </a:pPr>
            <a:r>
              <a:rPr lang="en-US" sz="2400">
                <a:solidFill>
                  <a:srgbClr val="00279F"/>
                </a:solidFill>
                <a:latin typeface="Times New Roman"/>
                <a:ea typeface="Times New Roman"/>
                <a:cs typeface="Times New Roman"/>
                <a:sym typeface="Times New Roman"/>
              </a:rPr>
              <a:t>Didn’t check if negative</a:t>
            </a:r>
            <a:endParaRPr sz="2400">
              <a:solidFill>
                <a:srgbClr val="00279F"/>
              </a:solidFill>
              <a:latin typeface="Times New Roman"/>
              <a:ea typeface="Times New Roman"/>
              <a:cs typeface="Times New Roman"/>
              <a:sym typeface="Times New Roman"/>
            </a:endParaRPr>
          </a:p>
        </p:txBody>
      </p:sp>
      <p:cxnSp>
        <p:nvCxnSpPr>
          <p:cNvPr id="344" name="Google Shape;344;p32"/>
          <p:cNvCxnSpPr/>
          <p:nvPr/>
        </p:nvCxnSpPr>
        <p:spPr>
          <a:xfrm flipH="1">
            <a:off x="5426075" y="1938338"/>
            <a:ext cx="979488" cy="493712"/>
          </a:xfrm>
          <a:prstGeom prst="straightConnector1">
            <a:avLst/>
          </a:prstGeom>
          <a:noFill/>
          <a:ln w="57150" cap="flat" cmpd="sng">
            <a:solidFill>
              <a:srgbClr val="A50021"/>
            </a:solidFill>
            <a:prstDash val="solid"/>
            <a:round/>
            <a:headEnd type="none" w="med" len="med"/>
            <a:tailEnd type="triangle" w="med" len="med"/>
          </a:ln>
        </p:spPr>
      </p:cxnSp>
      <p:sp>
        <p:nvSpPr>
          <p:cNvPr id="345" name="Google Shape;345;p32"/>
          <p:cNvSpPr txBox="1"/>
          <p:nvPr/>
        </p:nvSpPr>
        <p:spPr>
          <a:xfrm>
            <a:off x="4624389" y="3690939"/>
            <a:ext cx="4503737" cy="835025"/>
          </a:xfrm>
          <a:prstGeom prst="rect">
            <a:avLst/>
          </a:prstGeom>
          <a:noFill/>
          <a:ln w="12700" cap="flat" cmpd="sng">
            <a:solidFill>
              <a:srgbClr val="A5002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00279F"/>
              </a:buClr>
              <a:buSzPts val="2400"/>
              <a:buFont typeface="Noto Sans Symbols"/>
              <a:buNone/>
            </a:pPr>
            <a:r>
              <a:rPr lang="en-US" sz="2400">
                <a:solidFill>
                  <a:srgbClr val="00279F"/>
                </a:solidFill>
                <a:latin typeface="Times New Roman"/>
                <a:ea typeface="Times New Roman"/>
                <a:cs typeface="Times New Roman"/>
                <a:sym typeface="Times New Roman"/>
              </a:rPr>
              <a:t>len cast to unsigned and negative length overflows</a:t>
            </a:r>
            <a:endParaRPr sz="2400">
              <a:solidFill>
                <a:srgbClr val="00279F"/>
              </a:solidFill>
              <a:latin typeface="Times New Roman"/>
              <a:ea typeface="Times New Roman"/>
              <a:cs typeface="Times New Roman"/>
              <a:sym typeface="Times New Roman"/>
            </a:endParaRPr>
          </a:p>
        </p:txBody>
      </p:sp>
      <p:cxnSp>
        <p:nvCxnSpPr>
          <p:cNvPr id="346" name="Google Shape;346;p32"/>
          <p:cNvCxnSpPr/>
          <p:nvPr/>
        </p:nvCxnSpPr>
        <p:spPr>
          <a:xfrm rot="10800000">
            <a:off x="4114800" y="3482975"/>
            <a:ext cx="414338" cy="476250"/>
          </a:xfrm>
          <a:prstGeom prst="straightConnector1">
            <a:avLst/>
          </a:prstGeom>
          <a:noFill/>
          <a:ln w="57150" cap="flat" cmpd="sng">
            <a:solidFill>
              <a:srgbClr val="A50021"/>
            </a:solidFill>
            <a:prstDash val="solid"/>
            <a:round/>
            <a:headEnd type="none" w="med" len="med"/>
            <a:tailEnd type="triangle" w="med" len="med"/>
          </a:ln>
        </p:spPr>
      </p:cxnSp>
      <p:sp>
        <p:nvSpPr>
          <p:cNvPr id="347" name="Google Shape;34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4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33"/>
          <p:cNvSpPr txBox="1">
            <a:spLocks noGrp="1"/>
          </p:cNvSpPr>
          <p:nvPr>
            <p:ph type="title"/>
          </p:nvPr>
        </p:nvSpPr>
        <p:spPr>
          <a:xfrm>
            <a:off x="838200" y="320675"/>
            <a:ext cx="10515600" cy="13257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sz="4000"/>
              <a:t>Implicit Casting Bug - </a:t>
            </a:r>
            <a:r>
              <a:rPr lang="en-US" sz="2016">
                <a:solidFill>
                  <a:srgbClr val="001D35"/>
                </a:solidFill>
                <a:highlight>
                  <a:srgbClr val="FFFFFF"/>
                </a:highlight>
                <a:latin typeface="Arial"/>
                <a:ea typeface="Arial"/>
                <a:cs typeface="Arial"/>
                <a:sym typeface="Arial"/>
              </a:rPr>
              <a:t>Implicit casting bugs can occur when inequalities are evaluated incorrectly due to one type being implicitly cast to another.</a:t>
            </a:r>
            <a:endParaRPr sz="2016">
              <a:solidFill>
                <a:srgbClr val="001D35"/>
              </a:solidFill>
              <a:highlight>
                <a:srgbClr val="FFFFFF"/>
              </a:highlight>
              <a:latin typeface="Arial"/>
              <a:ea typeface="Arial"/>
              <a:cs typeface="Arial"/>
              <a:sym typeface="Arial"/>
            </a:endParaRPr>
          </a:p>
          <a:p>
            <a:pPr marL="0" lvl="0" indent="0" algn="l" rtl="0">
              <a:lnSpc>
                <a:spcPct val="115000"/>
              </a:lnSpc>
              <a:spcBef>
                <a:spcPts val="0"/>
              </a:spcBef>
              <a:spcAft>
                <a:spcPts val="0"/>
              </a:spcAft>
              <a:buClr>
                <a:schemeClr val="dk1"/>
              </a:buClr>
              <a:buSzPct val="54545"/>
              <a:buFont typeface="Arial"/>
              <a:buNone/>
            </a:pPr>
            <a:endParaRPr sz="2016">
              <a:solidFill>
                <a:srgbClr val="001D35"/>
              </a:solidFill>
              <a:highlight>
                <a:srgbClr val="FFFFFF"/>
              </a:highlight>
              <a:latin typeface="Arial"/>
              <a:ea typeface="Arial"/>
              <a:cs typeface="Arial"/>
              <a:sym typeface="Arial"/>
            </a:endParaRPr>
          </a:p>
          <a:p>
            <a:pPr marL="0" lvl="0" indent="0" algn="l" rtl="0">
              <a:lnSpc>
                <a:spcPct val="90000"/>
              </a:lnSpc>
              <a:spcBef>
                <a:spcPts val="0"/>
              </a:spcBef>
              <a:spcAft>
                <a:spcPts val="0"/>
              </a:spcAft>
              <a:buClr>
                <a:schemeClr val="dk1"/>
              </a:buClr>
              <a:buSzPct val="100000"/>
              <a:buFont typeface="Calibri"/>
              <a:buNone/>
            </a:pPr>
            <a:endParaRPr sz="4000"/>
          </a:p>
        </p:txBody>
      </p:sp>
      <p:sp>
        <p:nvSpPr>
          <p:cNvPr id="353" name="Google Shape;353;p33"/>
          <p:cNvSpPr txBox="1">
            <a:spLocks noGrp="1"/>
          </p:cNvSpPr>
          <p:nvPr>
            <p:ph type="body" idx="1"/>
          </p:nvPr>
        </p:nvSpPr>
        <p:spPr>
          <a:xfrm>
            <a:off x="838200" y="1646375"/>
            <a:ext cx="10515600" cy="43512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1"/>
              <a:t>A signed/unsigned or an implicit casting bug</a:t>
            </a:r>
            <a:endParaRPr/>
          </a:p>
          <a:p>
            <a:pPr marL="685800" lvl="1" indent="-228600" algn="l" rtl="0">
              <a:lnSpc>
                <a:spcPct val="90000"/>
              </a:lnSpc>
              <a:spcBef>
                <a:spcPts val="500"/>
              </a:spcBef>
              <a:spcAft>
                <a:spcPts val="0"/>
              </a:spcAft>
              <a:buClr>
                <a:schemeClr val="dk1"/>
              </a:buClr>
              <a:buSzPts val="2400"/>
              <a:buChar char="•"/>
            </a:pPr>
            <a:r>
              <a:rPr lang="en-US" b="1"/>
              <a:t>Very nasty – hard to spot</a:t>
            </a:r>
            <a:endParaRPr/>
          </a:p>
          <a:p>
            <a:pPr marL="228600" lvl="0" indent="-228600" algn="l" rtl="0">
              <a:lnSpc>
                <a:spcPct val="90000"/>
              </a:lnSpc>
              <a:spcBef>
                <a:spcPts val="1000"/>
              </a:spcBef>
              <a:spcAft>
                <a:spcPts val="0"/>
              </a:spcAft>
              <a:buClr>
                <a:schemeClr val="dk1"/>
              </a:buClr>
              <a:buSzPts val="2800"/>
              <a:buChar char="•"/>
            </a:pPr>
            <a:r>
              <a:rPr lang="en-US" b="1"/>
              <a:t>C compiler doesn’t warn about type mismatch between signed int and unsigned int</a:t>
            </a:r>
            <a:endParaRPr/>
          </a:p>
          <a:p>
            <a:pPr marL="685800" lvl="1" indent="-228600" algn="l" rtl="0">
              <a:lnSpc>
                <a:spcPct val="90000"/>
              </a:lnSpc>
              <a:spcBef>
                <a:spcPts val="500"/>
              </a:spcBef>
              <a:spcAft>
                <a:spcPts val="0"/>
              </a:spcAft>
              <a:buClr>
                <a:schemeClr val="dk1"/>
              </a:buClr>
              <a:buSzPts val="2400"/>
              <a:buChar char="•"/>
            </a:pPr>
            <a:r>
              <a:rPr lang="en-US" b="1"/>
              <a:t>Silently inserts an implicit cast</a:t>
            </a:r>
            <a:endParaRPr/>
          </a:p>
          <a:p>
            <a:pPr marL="228600" lvl="0" indent="-50800" algn="l" rtl="0">
              <a:lnSpc>
                <a:spcPct val="90000"/>
              </a:lnSpc>
              <a:spcBef>
                <a:spcPts val="1000"/>
              </a:spcBef>
              <a:spcAft>
                <a:spcPts val="0"/>
              </a:spcAft>
              <a:buClr>
                <a:schemeClr val="dk1"/>
              </a:buClr>
              <a:buSzPts val="2800"/>
              <a:buNone/>
            </a:pPr>
            <a:endParaRPr/>
          </a:p>
        </p:txBody>
      </p:sp>
      <p:sp>
        <p:nvSpPr>
          <p:cNvPr id="354" name="Google Shape;354;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Spot the defect! (4)</a:t>
            </a:r>
            <a:endParaRPr sz="4000"/>
          </a:p>
        </p:txBody>
      </p:sp>
      <p:sp>
        <p:nvSpPr>
          <p:cNvPr id="360" name="Google Shape;360;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Font typeface="Noto Sans Symbols"/>
              <a:buNone/>
            </a:pPr>
            <a:endParaRPr b="1"/>
          </a:p>
          <a:p>
            <a:pPr marL="228600" lvl="0" indent="-228600" algn="l" rtl="0">
              <a:lnSpc>
                <a:spcPct val="90000"/>
              </a:lnSpc>
              <a:spcBef>
                <a:spcPts val="1000"/>
              </a:spcBef>
              <a:spcAft>
                <a:spcPts val="0"/>
              </a:spcAft>
              <a:buClr>
                <a:srgbClr val="000000"/>
              </a:buClr>
              <a:buSzPts val="2800"/>
              <a:buFont typeface="Noto Sans Symbols"/>
              <a:buNone/>
            </a:pPr>
            <a:r>
              <a:rPr lang="en-US">
                <a:solidFill>
                  <a:srgbClr val="000000"/>
                </a:solidFill>
              </a:rPr>
              <a:t>char *buf;</a:t>
            </a:r>
            <a:endParaRPr/>
          </a:p>
          <a:p>
            <a:pPr marL="228600" lvl="0" indent="-228600" algn="l" rtl="0">
              <a:lnSpc>
                <a:spcPct val="90000"/>
              </a:lnSpc>
              <a:spcBef>
                <a:spcPts val="1000"/>
              </a:spcBef>
              <a:spcAft>
                <a:spcPts val="0"/>
              </a:spcAft>
              <a:buClr>
                <a:srgbClr val="000000"/>
              </a:buClr>
              <a:buSzPts val="2800"/>
              <a:buFont typeface="Noto Sans Symbols"/>
              <a:buNone/>
            </a:pPr>
            <a:r>
              <a:rPr lang="en-US">
                <a:solidFill>
                  <a:srgbClr val="000000"/>
                </a:solidFill>
              </a:rPr>
              <a:t>int i, len;</a:t>
            </a:r>
            <a:endParaRPr/>
          </a:p>
          <a:p>
            <a:pPr marL="228600" lvl="0" indent="-228600" algn="l" rtl="0">
              <a:lnSpc>
                <a:spcPct val="90000"/>
              </a:lnSpc>
              <a:spcBef>
                <a:spcPts val="1000"/>
              </a:spcBef>
              <a:spcAft>
                <a:spcPts val="0"/>
              </a:spcAft>
              <a:buClr>
                <a:srgbClr val="000000"/>
              </a:buClr>
              <a:buSzPts val="2800"/>
              <a:buFont typeface="Noto Sans Symbols"/>
              <a:buNone/>
            </a:pPr>
            <a:r>
              <a:rPr lang="en-US">
                <a:solidFill>
                  <a:srgbClr val="000000"/>
                </a:solidFill>
              </a:rPr>
              <a:t>read(fd, &amp;len, sizeof(len));</a:t>
            </a:r>
            <a:endParaRPr/>
          </a:p>
          <a:p>
            <a:pPr marL="228600" lvl="0" indent="-228600" algn="l" rtl="0">
              <a:lnSpc>
                <a:spcPct val="90000"/>
              </a:lnSpc>
              <a:spcBef>
                <a:spcPts val="1000"/>
              </a:spcBef>
              <a:spcAft>
                <a:spcPts val="0"/>
              </a:spcAft>
              <a:buClr>
                <a:srgbClr val="000000"/>
              </a:buClr>
              <a:buSzPts val="2800"/>
              <a:buFont typeface="Noto Sans Symbols"/>
              <a:buNone/>
            </a:pPr>
            <a:r>
              <a:rPr lang="en-US">
                <a:solidFill>
                  <a:srgbClr val="000000"/>
                </a:solidFill>
              </a:rPr>
              <a:t>if (len &lt; 0)</a:t>
            </a:r>
            <a:endParaRPr/>
          </a:p>
          <a:p>
            <a:pPr marL="228600" lvl="0" indent="-228600" algn="l" rtl="0">
              <a:lnSpc>
                <a:spcPct val="90000"/>
              </a:lnSpc>
              <a:spcBef>
                <a:spcPts val="1000"/>
              </a:spcBef>
              <a:spcAft>
                <a:spcPts val="0"/>
              </a:spcAft>
              <a:buClr>
                <a:srgbClr val="000000"/>
              </a:buClr>
              <a:buSzPts val="2800"/>
              <a:buFont typeface="Noto Sans Symbols"/>
              <a:buNone/>
            </a:pPr>
            <a:r>
              <a:rPr lang="en-US">
                <a:solidFill>
                  <a:srgbClr val="000000"/>
                </a:solidFill>
              </a:rPr>
              <a:t>	{error ("negative length"); return; }</a:t>
            </a:r>
            <a:endParaRPr/>
          </a:p>
          <a:p>
            <a:pPr marL="228600" lvl="0" indent="-228600" algn="l" rtl="0">
              <a:lnSpc>
                <a:spcPct val="90000"/>
              </a:lnSpc>
              <a:spcBef>
                <a:spcPts val="1000"/>
              </a:spcBef>
              <a:spcAft>
                <a:spcPts val="0"/>
              </a:spcAft>
              <a:buClr>
                <a:srgbClr val="000000"/>
              </a:buClr>
              <a:buSzPts val="2800"/>
              <a:buFont typeface="Noto Sans Symbols"/>
              <a:buNone/>
            </a:pPr>
            <a:r>
              <a:rPr lang="en-US">
                <a:solidFill>
                  <a:srgbClr val="000000"/>
                </a:solidFill>
              </a:rPr>
              <a:t>buf = malloc(len+5);</a:t>
            </a:r>
            <a:endParaRPr/>
          </a:p>
          <a:p>
            <a:pPr marL="228600" lvl="0" indent="-228600" algn="l" rtl="0">
              <a:lnSpc>
                <a:spcPct val="90000"/>
              </a:lnSpc>
              <a:spcBef>
                <a:spcPts val="1000"/>
              </a:spcBef>
              <a:spcAft>
                <a:spcPts val="0"/>
              </a:spcAft>
              <a:buClr>
                <a:srgbClr val="000000"/>
              </a:buClr>
              <a:buSzPts val="2800"/>
              <a:buFont typeface="Noto Sans Symbols"/>
              <a:buNone/>
            </a:pPr>
            <a:r>
              <a:rPr lang="en-US">
                <a:solidFill>
                  <a:srgbClr val="000000"/>
                </a:solidFill>
              </a:rPr>
              <a:t>read(fd,buf,len);</a:t>
            </a:r>
            <a:endParaRPr/>
          </a:p>
          <a:p>
            <a:pPr marL="228600" lvl="0" indent="-228600" algn="l" rtl="0">
              <a:lnSpc>
                <a:spcPct val="90000"/>
              </a:lnSpc>
              <a:spcBef>
                <a:spcPts val="1000"/>
              </a:spcBef>
              <a:spcAft>
                <a:spcPts val="0"/>
              </a:spcAft>
              <a:buClr>
                <a:srgbClr val="A50021"/>
              </a:buClr>
              <a:buSzPts val="2800"/>
              <a:buFont typeface="Noto Sans Symbols"/>
              <a:buNone/>
            </a:pPr>
            <a:r>
              <a:rPr lang="en-US">
                <a:solidFill>
                  <a:srgbClr val="A50021"/>
                </a:solidFill>
              </a:rPr>
              <a:t>buf[len] = '\0'; // null terminate buf</a:t>
            </a:r>
            <a:endParaRPr/>
          </a:p>
        </p:txBody>
      </p:sp>
      <p:sp>
        <p:nvSpPr>
          <p:cNvPr id="361" name="Google Shape;361;p34"/>
          <p:cNvSpPr txBox="1"/>
          <p:nvPr/>
        </p:nvSpPr>
        <p:spPr>
          <a:xfrm>
            <a:off x="5925385" y="1870076"/>
            <a:ext cx="4062330" cy="461665"/>
          </a:xfrm>
          <a:prstGeom prst="rect">
            <a:avLst/>
          </a:prstGeom>
          <a:noFill/>
          <a:ln w="12700" cap="flat" cmpd="sng">
            <a:solidFill>
              <a:srgbClr val="A5002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Clr>
                <a:srgbClr val="00279F"/>
              </a:buClr>
              <a:buSzPts val="2400"/>
              <a:buFont typeface="Noto Sans Symbols"/>
              <a:buNone/>
            </a:pPr>
            <a:r>
              <a:rPr lang="en-US" sz="2400">
                <a:solidFill>
                  <a:srgbClr val="00279F"/>
                </a:solidFill>
                <a:latin typeface="Times New Roman"/>
                <a:ea typeface="Times New Roman"/>
                <a:cs typeface="Times New Roman"/>
                <a:sym typeface="Times New Roman"/>
              </a:rPr>
              <a:t>May results in integer overflow</a:t>
            </a:r>
            <a:endParaRPr sz="2400">
              <a:solidFill>
                <a:srgbClr val="00279F"/>
              </a:solidFill>
              <a:latin typeface="Times New Roman"/>
              <a:ea typeface="Times New Roman"/>
              <a:cs typeface="Times New Roman"/>
              <a:sym typeface="Times New Roman"/>
            </a:endParaRPr>
          </a:p>
        </p:txBody>
      </p:sp>
      <p:cxnSp>
        <p:nvCxnSpPr>
          <p:cNvPr id="362" name="Google Shape;362;p34"/>
          <p:cNvCxnSpPr/>
          <p:nvPr/>
        </p:nvCxnSpPr>
        <p:spPr>
          <a:xfrm flipH="1">
            <a:off x="5122863" y="2336801"/>
            <a:ext cx="622300" cy="1941513"/>
          </a:xfrm>
          <a:prstGeom prst="straightConnector1">
            <a:avLst/>
          </a:prstGeom>
          <a:noFill/>
          <a:ln w="57150" cap="flat" cmpd="sng">
            <a:solidFill>
              <a:srgbClr val="A50021"/>
            </a:solidFill>
            <a:prstDash val="solid"/>
            <a:round/>
            <a:headEnd type="none" w="med" len="med"/>
            <a:tailEnd type="triangle" w="med" len="med"/>
          </a:ln>
        </p:spPr>
      </p:cxnSp>
      <p:sp>
        <p:nvSpPr>
          <p:cNvPr id="363" name="Google Shape;363;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Spot the defect! (5)</a:t>
            </a:r>
            <a:endParaRPr sz="4000"/>
          </a:p>
        </p:txBody>
      </p:sp>
      <p:sp>
        <p:nvSpPr>
          <p:cNvPr id="369" name="Google Shape;369;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800"/>
              <a:buFont typeface="Noto Sans Symbols"/>
              <a:buNone/>
            </a:pPr>
            <a:r>
              <a:rPr lang="en-US">
                <a:solidFill>
                  <a:srgbClr val="000000"/>
                </a:solidFill>
              </a:rPr>
              <a:t>#define MAX_BUF = 256</a:t>
            </a:r>
            <a:endParaRPr/>
          </a:p>
          <a:p>
            <a:pPr marL="228600" lvl="0" indent="-228600" algn="l" rtl="0">
              <a:lnSpc>
                <a:spcPct val="90000"/>
              </a:lnSpc>
              <a:spcBef>
                <a:spcPts val="1000"/>
              </a:spcBef>
              <a:spcAft>
                <a:spcPts val="0"/>
              </a:spcAft>
              <a:buClr>
                <a:schemeClr val="dk1"/>
              </a:buClr>
              <a:buSzPts val="2800"/>
              <a:buFont typeface="Noto Sans Symbols"/>
              <a:buNone/>
            </a:pPr>
            <a:endParaRPr>
              <a:solidFill>
                <a:srgbClr val="000000"/>
              </a:solidFill>
            </a:endParaRPr>
          </a:p>
          <a:p>
            <a:pPr marL="228600" lvl="0" indent="-228600" algn="l" rtl="0">
              <a:lnSpc>
                <a:spcPct val="90000"/>
              </a:lnSpc>
              <a:spcBef>
                <a:spcPts val="1000"/>
              </a:spcBef>
              <a:spcAft>
                <a:spcPts val="0"/>
              </a:spcAft>
              <a:buClr>
                <a:srgbClr val="000000"/>
              </a:buClr>
              <a:buSzPts val="2800"/>
              <a:buFont typeface="Noto Sans Symbols"/>
              <a:buNone/>
            </a:pPr>
            <a:r>
              <a:rPr lang="en-US">
                <a:solidFill>
                  <a:srgbClr val="000000"/>
                </a:solidFill>
              </a:rPr>
              <a:t>void BadCode (char* input)</a:t>
            </a:r>
            <a:endParaRPr/>
          </a:p>
          <a:p>
            <a:pPr marL="228600" lvl="0" indent="-228600" algn="l" rtl="0">
              <a:lnSpc>
                <a:spcPct val="90000"/>
              </a:lnSpc>
              <a:spcBef>
                <a:spcPts val="1000"/>
              </a:spcBef>
              <a:spcAft>
                <a:spcPts val="0"/>
              </a:spcAft>
              <a:buClr>
                <a:srgbClr val="000000"/>
              </a:buClr>
              <a:buSzPts val="2800"/>
              <a:buFont typeface="Noto Sans Symbols"/>
              <a:buNone/>
            </a:pPr>
            <a:r>
              <a:rPr lang="en-US">
                <a:solidFill>
                  <a:srgbClr val="000000"/>
                </a:solidFill>
              </a:rPr>
              <a:t>	{ 	short len;</a:t>
            </a:r>
            <a:endParaRPr/>
          </a:p>
          <a:p>
            <a:pPr marL="228600" lvl="0" indent="-228600" algn="l" rtl="0">
              <a:lnSpc>
                <a:spcPct val="90000"/>
              </a:lnSpc>
              <a:spcBef>
                <a:spcPts val="1000"/>
              </a:spcBef>
              <a:spcAft>
                <a:spcPts val="0"/>
              </a:spcAft>
              <a:buClr>
                <a:srgbClr val="000000"/>
              </a:buClr>
              <a:buSzPts val="2800"/>
              <a:buFont typeface="Noto Sans Symbols"/>
              <a:buNone/>
            </a:pPr>
            <a:r>
              <a:rPr lang="en-US">
                <a:solidFill>
                  <a:srgbClr val="000000"/>
                </a:solidFill>
              </a:rPr>
              <a:t>		char buf[MAX_BUF];</a:t>
            </a:r>
            <a:endParaRPr/>
          </a:p>
          <a:p>
            <a:pPr marL="228600" lvl="0" indent="-228600" algn="l" rtl="0">
              <a:lnSpc>
                <a:spcPct val="90000"/>
              </a:lnSpc>
              <a:spcBef>
                <a:spcPts val="1000"/>
              </a:spcBef>
              <a:spcAft>
                <a:spcPts val="0"/>
              </a:spcAft>
              <a:buClr>
                <a:srgbClr val="000000"/>
              </a:buClr>
              <a:buSzPts val="2800"/>
              <a:buFont typeface="Noto Sans Symbols"/>
              <a:buNone/>
            </a:pPr>
            <a:r>
              <a:rPr lang="en-US">
                <a:solidFill>
                  <a:srgbClr val="000000"/>
                </a:solidFill>
              </a:rPr>
              <a:t>		len = strlen(input);</a:t>
            </a:r>
            <a:endParaRPr/>
          </a:p>
          <a:p>
            <a:pPr marL="228600" lvl="0" indent="-228600" algn="l" rtl="0">
              <a:lnSpc>
                <a:spcPct val="90000"/>
              </a:lnSpc>
              <a:spcBef>
                <a:spcPts val="1000"/>
              </a:spcBef>
              <a:spcAft>
                <a:spcPts val="0"/>
              </a:spcAft>
              <a:buClr>
                <a:srgbClr val="000000"/>
              </a:buClr>
              <a:buSzPts val="2800"/>
              <a:buFont typeface="Noto Sans Symbols"/>
              <a:buNone/>
            </a:pPr>
            <a:r>
              <a:rPr lang="en-US">
                <a:solidFill>
                  <a:srgbClr val="000000"/>
                </a:solidFill>
              </a:rPr>
              <a:t>		if (len &lt; MAX_BUF) strcpy(buf,input);</a:t>
            </a:r>
            <a:endParaRPr/>
          </a:p>
          <a:p>
            <a:pPr marL="228600" lvl="0" indent="-228600" algn="l" rtl="0">
              <a:lnSpc>
                <a:spcPct val="90000"/>
              </a:lnSpc>
              <a:spcBef>
                <a:spcPts val="1000"/>
              </a:spcBef>
              <a:spcAft>
                <a:spcPts val="0"/>
              </a:spcAft>
              <a:buClr>
                <a:srgbClr val="000000"/>
              </a:buClr>
              <a:buSzPts val="2800"/>
              <a:buFont typeface="Noto Sans Symbols"/>
              <a:buNone/>
            </a:pPr>
            <a:r>
              <a:rPr lang="en-US">
                <a:solidFill>
                  <a:srgbClr val="000000"/>
                </a:solidFill>
              </a:rPr>
              <a:t>	}</a:t>
            </a:r>
            <a:endParaRPr/>
          </a:p>
          <a:p>
            <a:pPr marL="228600" lvl="0" indent="-228600" algn="l" rtl="0">
              <a:lnSpc>
                <a:spcPct val="90000"/>
              </a:lnSpc>
              <a:spcBef>
                <a:spcPts val="1000"/>
              </a:spcBef>
              <a:spcAft>
                <a:spcPts val="0"/>
              </a:spcAft>
              <a:buClr>
                <a:schemeClr val="dk1"/>
              </a:buClr>
              <a:buSzPts val="2800"/>
              <a:buFont typeface="Noto Sans Symbols"/>
              <a:buNone/>
            </a:pPr>
            <a:endParaRPr>
              <a:solidFill>
                <a:srgbClr val="000000"/>
              </a:solidFill>
            </a:endParaRPr>
          </a:p>
        </p:txBody>
      </p:sp>
      <p:sp>
        <p:nvSpPr>
          <p:cNvPr id="370" name="Google Shape;370;p35"/>
          <p:cNvSpPr txBox="1"/>
          <p:nvPr/>
        </p:nvSpPr>
        <p:spPr>
          <a:xfrm>
            <a:off x="4842031" y="2422951"/>
            <a:ext cx="5916613" cy="222726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00279F"/>
              </a:buClr>
              <a:buSzPts val="2800"/>
              <a:buFont typeface="Noto Sans Symbols"/>
              <a:buNone/>
            </a:pPr>
            <a:r>
              <a:rPr lang="en-US" sz="2800" dirty="0">
                <a:solidFill>
                  <a:srgbClr val="00279F"/>
                </a:solidFill>
                <a:latin typeface="Times New Roman"/>
                <a:ea typeface="Times New Roman"/>
                <a:cs typeface="Times New Roman"/>
                <a:sym typeface="Times New Roman"/>
              </a:rPr>
              <a:t>What if input is longer than 32K ?</a:t>
            </a:r>
            <a:endParaRPr dirty="0"/>
          </a:p>
          <a:p>
            <a:pPr marL="0" marR="0" lvl="0" indent="0" algn="ctr" rtl="0">
              <a:spcBef>
                <a:spcPts val="0"/>
              </a:spcBef>
              <a:spcAft>
                <a:spcPts val="0"/>
              </a:spcAft>
              <a:buClr>
                <a:srgbClr val="00279F"/>
              </a:buClr>
              <a:buSzPts val="2800"/>
              <a:buFont typeface="Noto Sans Symbols"/>
              <a:buNone/>
            </a:pPr>
            <a:r>
              <a:rPr lang="en-US" sz="2800" dirty="0" err="1">
                <a:solidFill>
                  <a:srgbClr val="00279F"/>
                </a:solidFill>
                <a:latin typeface="Times New Roman"/>
                <a:ea typeface="Times New Roman"/>
                <a:cs typeface="Times New Roman"/>
                <a:sym typeface="Times New Roman"/>
              </a:rPr>
              <a:t>len</a:t>
            </a:r>
            <a:r>
              <a:rPr lang="en-US" sz="2800" dirty="0">
                <a:solidFill>
                  <a:srgbClr val="00279F"/>
                </a:solidFill>
                <a:latin typeface="Times New Roman"/>
                <a:ea typeface="Times New Roman"/>
                <a:cs typeface="Times New Roman"/>
                <a:sym typeface="Times New Roman"/>
              </a:rPr>
              <a:t> will be a negative number,</a:t>
            </a:r>
            <a:endParaRPr dirty="0"/>
          </a:p>
          <a:p>
            <a:pPr marL="0" marR="0" lvl="0" indent="0" algn="ctr" rtl="0">
              <a:spcBef>
                <a:spcPts val="0"/>
              </a:spcBef>
              <a:spcAft>
                <a:spcPts val="0"/>
              </a:spcAft>
              <a:buClr>
                <a:srgbClr val="00279F"/>
              </a:buClr>
              <a:buSzPts val="2800"/>
              <a:buFont typeface="Noto Sans Symbols"/>
              <a:buNone/>
            </a:pPr>
            <a:r>
              <a:rPr lang="en-US" sz="2800" dirty="0">
                <a:solidFill>
                  <a:srgbClr val="00279F"/>
                </a:solidFill>
                <a:latin typeface="Times New Roman"/>
                <a:ea typeface="Times New Roman"/>
                <a:cs typeface="Times New Roman"/>
                <a:sym typeface="Times New Roman"/>
              </a:rPr>
              <a:t>due to integer overflow</a:t>
            </a:r>
            <a:endParaRPr dirty="0"/>
          </a:p>
          <a:p>
            <a:pPr marL="0" marR="0" lvl="0" indent="0" algn="ctr" rtl="0">
              <a:spcBef>
                <a:spcPts val="0"/>
              </a:spcBef>
              <a:spcAft>
                <a:spcPts val="0"/>
              </a:spcAft>
              <a:buClr>
                <a:srgbClr val="00279F"/>
              </a:buClr>
              <a:buSzPts val="2800"/>
              <a:buFont typeface="Noto Sans Symbols"/>
              <a:buNone/>
            </a:pPr>
            <a:r>
              <a:rPr lang="en-US" sz="2800" dirty="0">
                <a:solidFill>
                  <a:srgbClr val="00279F"/>
                </a:solidFill>
                <a:latin typeface="Times New Roman"/>
                <a:ea typeface="Times New Roman"/>
                <a:cs typeface="Times New Roman"/>
                <a:sym typeface="Times New Roman"/>
              </a:rPr>
              <a:t>hence: potential buffer overflow</a:t>
            </a:r>
            <a:endParaRPr dirty="0"/>
          </a:p>
          <a:p>
            <a:pPr marL="0" marR="0" lvl="0" indent="0" algn="ctr" rtl="0">
              <a:spcBef>
                <a:spcPts val="0"/>
              </a:spcBef>
              <a:spcAft>
                <a:spcPts val="0"/>
              </a:spcAft>
              <a:buClr>
                <a:srgbClr val="990000"/>
              </a:buClr>
              <a:buSzPts val="2800"/>
              <a:buFont typeface="Noto Sans Symbols"/>
              <a:buNone/>
            </a:pPr>
            <a:endParaRPr sz="2800" dirty="0">
              <a:solidFill>
                <a:srgbClr val="00279F"/>
              </a:solidFill>
              <a:latin typeface="Times New Roman"/>
              <a:ea typeface="Times New Roman"/>
              <a:cs typeface="Times New Roman"/>
              <a:sym typeface="Times New Roman"/>
            </a:endParaRPr>
          </a:p>
        </p:txBody>
      </p:sp>
      <p:sp>
        <p:nvSpPr>
          <p:cNvPr id="371" name="Google Shape;371;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Spot the defect! (6)</a:t>
            </a:r>
            <a:endParaRPr sz="4000"/>
          </a:p>
        </p:txBody>
      </p:sp>
      <p:sp>
        <p:nvSpPr>
          <p:cNvPr id="377" name="Google Shape;377;p3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rgbClr val="000000"/>
              </a:buClr>
              <a:buSzPct val="100000"/>
              <a:buFont typeface="Noto Sans Symbols"/>
              <a:buNone/>
            </a:pPr>
            <a:r>
              <a:rPr lang="en-US" sz="2000" b="1">
                <a:solidFill>
                  <a:srgbClr val="000000"/>
                </a:solidFill>
                <a:latin typeface="Times New Roman"/>
                <a:ea typeface="Times New Roman"/>
                <a:cs typeface="Times New Roman"/>
                <a:sym typeface="Times New Roman"/>
              </a:rPr>
              <a:t>char buff1[MAX_SIZE], buff2[MAX_SIZE];</a:t>
            </a:r>
            <a:endParaRPr/>
          </a:p>
          <a:p>
            <a:pPr marL="228600" lvl="0" indent="-228600" algn="l" rtl="0">
              <a:lnSpc>
                <a:spcPct val="90000"/>
              </a:lnSpc>
              <a:spcBef>
                <a:spcPts val="1000"/>
              </a:spcBef>
              <a:spcAft>
                <a:spcPts val="0"/>
              </a:spcAft>
              <a:buClr>
                <a:srgbClr val="000000"/>
              </a:buClr>
              <a:buSzPct val="100000"/>
              <a:buFont typeface="Noto Sans Symbols"/>
              <a:buNone/>
            </a:pPr>
            <a:r>
              <a:rPr lang="en-US" sz="2000" b="1">
                <a:solidFill>
                  <a:srgbClr val="000000"/>
                </a:solidFill>
                <a:latin typeface="Times New Roman"/>
                <a:ea typeface="Times New Roman"/>
                <a:cs typeface="Times New Roman"/>
                <a:sym typeface="Times New Roman"/>
              </a:rPr>
              <a:t>// make sure it’s a valid URL and will fit</a:t>
            </a:r>
            <a:endParaRPr/>
          </a:p>
          <a:p>
            <a:pPr marL="228600" lvl="0" indent="-228600" algn="l" rtl="0">
              <a:lnSpc>
                <a:spcPct val="90000"/>
              </a:lnSpc>
              <a:spcBef>
                <a:spcPts val="1000"/>
              </a:spcBef>
              <a:spcAft>
                <a:spcPts val="0"/>
              </a:spcAft>
              <a:buClr>
                <a:srgbClr val="000000"/>
              </a:buClr>
              <a:buSzPct val="100000"/>
              <a:buFont typeface="Noto Sans Symbols"/>
              <a:buNone/>
            </a:pPr>
            <a:r>
              <a:rPr lang="en-US" sz="2000" b="1">
                <a:solidFill>
                  <a:srgbClr val="000000"/>
                </a:solidFill>
                <a:latin typeface="Times New Roman"/>
                <a:ea typeface="Times New Roman"/>
                <a:cs typeface="Times New Roman"/>
                <a:sym typeface="Times New Roman"/>
              </a:rPr>
              <a:t>if (! isValid(url)) return;</a:t>
            </a:r>
            <a:endParaRPr/>
          </a:p>
          <a:p>
            <a:pPr marL="228600" lvl="0" indent="-228600" algn="l" rtl="0">
              <a:lnSpc>
                <a:spcPct val="90000"/>
              </a:lnSpc>
              <a:spcBef>
                <a:spcPts val="1000"/>
              </a:spcBef>
              <a:spcAft>
                <a:spcPts val="0"/>
              </a:spcAft>
              <a:buClr>
                <a:srgbClr val="000000"/>
              </a:buClr>
              <a:buSzPct val="100000"/>
              <a:buFont typeface="Noto Sans Symbols"/>
              <a:buNone/>
            </a:pPr>
            <a:r>
              <a:rPr lang="en-US" sz="2000" b="1">
                <a:solidFill>
                  <a:srgbClr val="000000"/>
                </a:solidFill>
                <a:latin typeface="Times New Roman"/>
                <a:ea typeface="Times New Roman"/>
                <a:cs typeface="Times New Roman"/>
                <a:sym typeface="Times New Roman"/>
              </a:rPr>
              <a:t>if (strlen(url) &gt; MAX_SIZE – 1) return;</a:t>
            </a:r>
            <a:endParaRPr/>
          </a:p>
          <a:p>
            <a:pPr marL="228600" lvl="0" indent="-228600" algn="l" rtl="0">
              <a:lnSpc>
                <a:spcPct val="90000"/>
              </a:lnSpc>
              <a:spcBef>
                <a:spcPts val="1000"/>
              </a:spcBef>
              <a:spcAft>
                <a:spcPts val="0"/>
              </a:spcAft>
              <a:buClr>
                <a:srgbClr val="000000"/>
              </a:buClr>
              <a:buSzPct val="100000"/>
              <a:buFont typeface="Noto Sans Symbols"/>
              <a:buNone/>
            </a:pPr>
            <a:r>
              <a:rPr lang="en-US" sz="2000" b="1">
                <a:solidFill>
                  <a:srgbClr val="000000"/>
                </a:solidFill>
                <a:latin typeface="Times New Roman"/>
                <a:ea typeface="Times New Roman"/>
                <a:cs typeface="Times New Roman"/>
                <a:sym typeface="Times New Roman"/>
              </a:rPr>
              <a:t>// copy url up to first separator, ie. first ’/’, to buff1</a:t>
            </a:r>
            <a:endParaRPr/>
          </a:p>
          <a:p>
            <a:pPr marL="228600" lvl="0" indent="-228600" algn="l" rtl="0">
              <a:lnSpc>
                <a:spcPct val="90000"/>
              </a:lnSpc>
              <a:spcBef>
                <a:spcPts val="1000"/>
              </a:spcBef>
              <a:spcAft>
                <a:spcPts val="0"/>
              </a:spcAft>
              <a:buClr>
                <a:srgbClr val="000000"/>
              </a:buClr>
              <a:buSzPct val="100000"/>
              <a:buFont typeface="Noto Sans Symbols"/>
              <a:buNone/>
            </a:pPr>
            <a:r>
              <a:rPr lang="en-US" sz="2000" b="1">
                <a:solidFill>
                  <a:srgbClr val="000000"/>
                </a:solidFill>
                <a:latin typeface="Times New Roman"/>
                <a:ea typeface="Times New Roman"/>
                <a:cs typeface="Times New Roman"/>
                <a:sym typeface="Times New Roman"/>
              </a:rPr>
              <a:t>out = buff1;</a:t>
            </a:r>
            <a:endParaRPr/>
          </a:p>
          <a:p>
            <a:pPr marL="228600" lvl="0" indent="-228600" algn="l" rtl="0">
              <a:lnSpc>
                <a:spcPct val="90000"/>
              </a:lnSpc>
              <a:spcBef>
                <a:spcPts val="1000"/>
              </a:spcBef>
              <a:spcAft>
                <a:spcPts val="0"/>
              </a:spcAft>
              <a:buClr>
                <a:srgbClr val="000000"/>
              </a:buClr>
              <a:buSzPct val="100000"/>
              <a:buFont typeface="Noto Sans Symbols"/>
              <a:buNone/>
            </a:pPr>
            <a:r>
              <a:rPr lang="en-US" sz="2000" b="1">
                <a:solidFill>
                  <a:srgbClr val="000000"/>
                </a:solidFill>
                <a:latin typeface="Times New Roman"/>
                <a:ea typeface="Times New Roman"/>
                <a:cs typeface="Times New Roman"/>
                <a:sym typeface="Times New Roman"/>
              </a:rPr>
              <a:t>do {</a:t>
            </a:r>
            <a:endParaRPr/>
          </a:p>
          <a:p>
            <a:pPr marL="228600" lvl="0" indent="-228600" algn="l" rtl="0">
              <a:lnSpc>
                <a:spcPct val="90000"/>
              </a:lnSpc>
              <a:spcBef>
                <a:spcPts val="1000"/>
              </a:spcBef>
              <a:spcAft>
                <a:spcPts val="0"/>
              </a:spcAft>
              <a:buClr>
                <a:srgbClr val="000000"/>
              </a:buClr>
              <a:buSzPct val="100000"/>
              <a:buFont typeface="Noto Sans Symbols"/>
              <a:buNone/>
            </a:pPr>
            <a:r>
              <a:rPr lang="en-US" sz="2000" b="1">
                <a:solidFill>
                  <a:srgbClr val="000000"/>
                </a:solidFill>
                <a:latin typeface="Times New Roman"/>
                <a:ea typeface="Times New Roman"/>
                <a:cs typeface="Times New Roman"/>
                <a:sym typeface="Times New Roman"/>
              </a:rPr>
              <a:t>	// skip spaces</a:t>
            </a:r>
            <a:endParaRPr/>
          </a:p>
          <a:p>
            <a:pPr marL="228600" lvl="0" indent="-228600" algn="l" rtl="0">
              <a:lnSpc>
                <a:spcPct val="90000"/>
              </a:lnSpc>
              <a:spcBef>
                <a:spcPts val="1000"/>
              </a:spcBef>
              <a:spcAft>
                <a:spcPts val="0"/>
              </a:spcAft>
              <a:buClr>
                <a:srgbClr val="000000"/>
              </a:buClr>
              <a:buSzPct val="100000"/>
              <a:buFont typeface="Noto Sans Symbols"/>
              <a:buNone/>
            </a:pPr>
            <a:r>
              <a:rPr lang="en-US" sz="2000" b="1">
                <a:solidFill>
                  <a:srgbClr val="000000"/>
                </a:solidFill>
                <a:latin typeface="Times New Roman"/>
                <a:ea typeface="Times New Roman"/>
                <a:cs typeface="Times New Roman"/>
                <a:sym typeface="Times New Roman"/>
              </a:rPr>
              <a:t>	if (*url != ’ ’) *out++ = *url;</a:t>
            </a:r>
            <a:endParaRPr/>
          </a:p>
          <a:p>
            <a:pPr marL="228600" lvl="0" indent="-228600" algn="l" rtl="0">
              <a:lnSpc>
                <a:spcPct val="90000"/>
              </a:lnSpc>
              <a:spcBef>
                <a:spcPts val="1000"/>
              </a:spcBef>
              <a:spcAft>
                <a:spcPts val="0"/>
              </a:spcAft>
              <a:buClr>
                <a:srgbClr val="000000"/>
              </a:buClr>
              <a:buSzPct val="100000"/>
              <a:buFont typeface="Noto Sans Symbols"/>
              <a:buNone/>
            </a:pPr>
            <a:r>
              <a:rPr lang="en-US" sz="2000" b="1">
                <a:solidFill>
                  <a:srgbClr val="000000"/>
                </a:solidFill>
                <a:latin typeface="Times New Roman"/>
                <a:ea typeface="Times New Roman"/>
                <a:cs typeface="Times New Roman"/>
                <a:sym typeface="Times New Roman"/>
              </a:rPr>
              <a:t>} while (*url++ != ’/’);</a:t>
            </a:r>
            <a:endParaRPr/>
          </a:p>
          <a:p>
            <a:pPr marL="228600" lvl="0" indent="-228600" algn="l" rtl="0">
              <a:lnSpc>
                <a:spcPct val="90000"/>
              </a:lnSpc>
              <a:spcBef>
                <a:spcPts val="1000"/>
              </a:spcBef>
              <a:spcAft>
                <a:spcPts val="0"/>
              </a:spcAft>
              <a:buClr>
                <a:srgbClr val="000000"/>
              </a:buClr>
              <a:buSzPct val="100000"/>
              <a:buFont typeface="Noto Sans Symbols"/>
              <a:buNone/>
            </a:pPr>
            <a:r>
              <a:rPr lang="en-US" sz="2000" b="1">
                <a:solidFill>
                  <a:srgbClr val="000000"/>
                </a:solidFill>
                <a:latin typeface="Times New Roman"/>
                <a:ea typeface="Times New Roman"/>
                <a:cs typeface="Times New Roman"/>
                <a:sym typeface="Times New Roman"/>
              </a:rPr>
              <a:t>strcpy(buff2, buff1);</a:t>
            </a:r>
            <a:endParaRPr/>
          </a:p>
          <a:p>
            <a:pPr marL="228600" lvl="0" indent="-228600" algn="l" rtl="0">
              <a:lnSpc>
                <a:spcPct val="90000"/>
              </a:lnSpc>
              <a:spcBef>
                <a:spcPts val="1000"/>
              </a:spcBef>
              <a:spcAft>
                <a:spcPts val="0"/>
              </a:spcAft>
              <a:buClr>
                <a:srgbClr val="000000"/>
              </a:buClr>
              <a:buSzPct val="100000"/>
              <a:buFont typeface="Noto Sans Symbols"/>
              <a:buNone/>
            </a:pPr>
            <a:r>
              <a:rPr lang="en-US" sz="2000" b="1">
                <a:solidFill>
                  <a:srgbClr val="000000"/>
                </a:solidFill>
                <a:latin typeface="Times New Roman"/>
                <a:ea typeface="Times New Roman"/>
                <a:cs typeface="Times New Roman"/>
                <a:sym typeface="Times New Roman"/>
              </a:rPr>
              <a:t>...</a:t>
            </a:r>
            <a:endParaRPr sz="2000">
              <a:solidFill>
                <a:srgbClr val="000000"/>
              </a:solidFill>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ct val="100000"/>
              <a:buFont typeface="Noto Sans Symbols"/>
              <a:buNone/>
            </a:pPr>
            <a:endParaRPr sz="2000">
              <a:solidFill>
                <a:srgbClr val="000000"/>
              </a:solidFill>
              <a:latin typeface="Times New Roman"/>
              <a:ea typeface="Times New Roman"/>
              <a:cs typeface="Times New Roman"/>
              <a:sym typeface="Times New Roman"/>
            </a:endParaRPr>
          </a:p>
        </p:txBody>
      </p:sp>
      <p:sp>
        <p:nvSpPr>
          <p:cNvPr id="378" name="Google Shape;378;p36"/>
          <p:cNvSpPr txBox="1"/>
          <p:nvPr/>
        </p:nvSpPr>
        <p:spPr>
          <a:xfrm>
            <a:off x="4516439" y="5089525"/>
            <a:ext cx="504073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279F"/>
              </a:buClr>
              <a:buSzPts val="2800"/>
              <a:buFont typeface="Noto Sans Symbols"/>
              <a:buNone/>
            </a:pPr>
            <a:r>
              <a:rPr lang="en-US" sz="2800">
                <a:solidFill>
                  <a:srgbClr val="00279F"/>
                </a:solidFill>
                <a:latin typeface="Times New Roman"/>
                <a:ea typeface="Times New Roman"/>
                <a:cs typeface="Times New Roman"/>
                <a:sym typeface="Times New Roman"/>
              </a:rPr>
              <a:t>what if there is no ‘/’ in the URL?</a:t>
            </a:r>
            <a:endParaRPr sz="2800">
              <a:solidFill>
                <a:srgbClr val="00279F"/>
              </a:solidFill>
              <a:latin typeface="Times New Roman"/>
              <a:ea typeface="Times New Roman"/>
              <a:cs typeface="Times New Roman"/>
              <a:sym typeface="Times New Roman"/>
            </a:endParaRPr>
          </a:p>
        </p:txBody>
      </p:sp>
      <p:cxnSp>
        <p:nvCxnSpPr>
          <p:cNvPr id="379" name="Google Shape;379;p36"/>
          <p:cNvCxnSpPr/>
          <p:nvPr/>
        </p:nvCxnSpPr>
        <p:spPr>
          <a:xfrm rot="10800000">
            <a:off x="4033838" y="4595814"/>
            <a:ext cx="1631950" cy="555625"/>
          </a:xfrm>
          <a:prstGeom prst="straightConnector1">
            <a:avLst/>
          </a:prstGeom>
          <a:noFill/>
          <a:ln w="57150" cap="flat" cmpd="sng">
            <a:solidFill>
              <a:srgbClr val="A50021"/>
            </a:solidFill>
            <a:prstDash val="solid"/>
            <a:round/>
            <a:headEnd type="none" w="med" len="med"/>
            <a:tailEnd type="triangle" w="med" len="med"/>
          </a:ln>
        </p:spPr>
      </p:cxnSp>
      <p:sp>
        <p:nvSpPr>
          <p:cNvPr id="380" name="Google Shape;380;p36"/>
          <p:cNvSpPr txBox="1"/>
          <p:nvPr/>
        </p:nvSpPr>
        <p:spPr>
          <a:xfrm>
            <a:off x="2361555" y="5645150"/>
            <a:ext cx="6830716"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A50021"/>
              </a:buClr>
              <a:buSzPts val="2800"/>
              <a:buFont typeface="Noto Sans Symbols"/>
              <a:buNone/>
            </a:pPr>
            <a:r>
              <a:rPr lang="en-US" sz="2800">
                <a:solidFill>
                  <a:srgbClr val="A50021"/>
                </a:solidFill>
                <a:latin typeface="Times New Roman"/>
                <a:ea typeface="Times New Roman"/>
                <a:cs typeface="Times New Roman"/>
                <a:sym typeface="Times New Roman"/>
              </a:rPr>
              <a:t>Loop termination (exploited by Blaster worm)</a:t>
            </a:r>
            <a:endParaRPr sz="2800">
              <a:solidFill>
                <a:srgbClr val="A50021"/>
              </a:solidFill>
              <a:latin typeface="Times New Roman"/>
              <a:ea typeface="Times New Roman"/>
              <a:cs typeface="Times New Roman"/>
              <a:sym typeface="Times New Roman"/>
            </a:endParaRPr>
          </a:p>
        </p:txBody>
      </p:sp>
      <p:sp>
        <p:nvSpPr>
          <p:cNvPr id="381" name="Google Shape;381;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Spot the defect! (7)</a:t>
            </a:r>
            <a:endParaRPr sz="4000"/>
          </a:p>
        </p:txBody>
      </p:sp>
      <p:sp>
        <p:nvSpPr>
          <p:cNvPr id="387" name="Google Shape;387;p3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rgbClr val="000000"/>
              </a:buClr>
              <a:buSzPct val="100000"/>
              <a:buFont typeface="Noto Sans Symbols"/>
              <a:buNone/>
            </a:pPr>
            <a:r>
              <a:rPr lang="en-US">
                <a:solidFill>
                  <a:srgbClr val="000000"/>
                </a:solidFill>
                <a:latin typeface="Times New Roman"/>
                <a:ea typeface="Times New Roman"/>
                <a:cs typeface="Times New Roman"/>
                <a:sym typeface="Times New Roman"/>
              </a:rPr>
              <a:t>#include &lt;stdio.h&gt;</a:t>
            </a:r>
            <a:endParaRPr/>
          </a:p>
          <a:p>
            <a:pPr marL="228600" lvl="0" indent="-228600" algn="l" rtl="0">
              <a:lnSpc>
                <a:spcPct val="90000"/>
              </a:lnSpc>
              <a:spcBef>
                <a:spcPts val="1000"/>
              </a:spcBef>
              <a:spcAft>
                <a:spcPts val="0"/>
              </a:spcAft>
              <a:buClr>
                <a:srgbClr val="000000"/>
              </a:buClr>
              <a:buSzPct val="100000"/>
              <a:buFont typeface="Noto Sans Symbols"/>
              <a:buNone/>
            </a:pPr>
            <a:r>
              <a:rPr lang="en-US">
                <a:solidFill>
                  <a:srgbClr val="000000"/>
                </a:solidFill>
                <a:latin typeface="Times New Roman"/>
                <a:ea typeface="Times New Roman"/>
                <a:cs typeface="Times New Roman"/>
                <a:sym typeface="Times New Roman"/>
              </a:rPr>
              <a:t>int main(int argc, char* argv[])</a:t>
            </a:r>
            <a:endParaRPr/>
          </a:p>
          <a:p>
            <a:pPr marL="228600" lvl="0" indent="-228600" algn="l" rtl="0">
              <a:lnSpc>
                <a:spcPct val="90000"/>
              </a:lnSpc>
              <a:spcBef>
                <a:spcPts val="1000"/>
              </a:spcBef>
              <a:spcAft>
                <a:spcPts val="0"/>
              </a:spcAft>
              <a:buClr>
                <a:srgbClr val="000000"/>
              </a:buClr>
              <a:buSzPct val="100000"/>
              <a:buFont typeface="Noto Sans Symbols"/>
              <a:buNone/>
            </a:pPr>
            <a:r>
              <a:rPr lang="en-US">
                <a:solidFill>
                  <a:srgbClr val="000000"/>
                </a:solidFill>
                <a:latin typeface="Times New Roman"/>
                <a:ea typeface="Times New Roman"/>
                <a:cs typeface="Times New Roman"/>
                <a:sym typeface="Times New Roman"/>
              </a:rPr>
              <a:t>{ if (argc &gt; 1)</a:t>
            </a:r>
            <a:endParaRPr/>
          </a:p>
          <a:p>
            <a:pPr marL="228600" lvl="0" indent="-228600" algn="l" rtl="0">
              <a:lnSpc>
                <a:spcPct val="90000"/>
              </a:lnSpc>
              <a:spcBef>
                <a:spcPts val="1000"/>
              </a:spcBef>
              <a:spcAft>
                <a:spcPts val="0"/>
              </a:spcAft>
              <a:buClr>
                <a:srgbClr val="000000"/>
              </a:buClr>
              <a:buSzPct val="100000"/>
              <a:buFont typeface="Noto Sans Symbols"/>
              <a:buNone/>
            </a:pPr>
            <a:r>
              <a:rPr lang="en-US">
                <a:solidFill>
                  <a:srgbClr val="000000"/>
                </a:solidFill>
                <a:latin typeface="Times New Roman"/>
                <a:ea typeface="Times New Roman"/>
                <a:cs typeface="Times New Roman"/>
                <a:sym typeface="Times New Roman"/>
              </a:rPr>
              <a:t>printf(argv[1]);</a:t>
            </a:r>
            <a:endParaRPr/>
          </a:p>
          <a:p>
            <a:pPr marL="228600" lvl="0" indent="-228600" algn="l" rtl="0">
              <a:lnSpc>
                <a:spcPct val="90000"/>
              </a:lnSpc>
              <a:spcBef>
                <a:spcPts val="1000"/>
              </a:spcBef>
              <a:spcAft>
                <a:spcPts val="0"/>
              </a:spcAft>
              <a:buClr>
                <a:srgbClr val="000000"/>
              </a:buClr>
              <a:buSzPct val="100000"/>
              <a:buFont typeface="Noto Sans Symbols"/>
              <a:buNone/>
            </a:pPr>
            <a:r>
              <a:rPr lang="en-US">
                <a:solidFill>
                  <a:srgbClr val="000000"/>
                </a:solidFill>
                <a:latin typeface="Times New Roman"/>
                <a:ea typeface="Times New Roman"/>
                <a:cs typeface="Times New Roman"/>
                <a:sym typeface="Times New Roman"/>
              </a:rPr>
              <a:t>return 0;</a:t>
            </a:r>
            <a:endParaRPr/>
          </a:p>
          <a:p>
            <a:pPr marL="228600" lvl="0" indent="-228600" algn="l" rtl="0">
              <a:lnSpc>
                <a:spcPct val="90000"/>
              </a:lnSpc>
              <a:spcBef>
                <a:spcPts val="1000"/>
              </a:spcBef>
              <a:spcAft>
                <a:spcPts val="0"/>
              </a:spcAft>
              <a:buClr>
                <a:srgbClr val="000000"/>
              </a:buClr>
              <a:buSzPct val="100000"/>
              <a:buFont typeface="Noto Sans Symbols"/>
              <a:buNone/>
            </a:pPr>
            <a:r>
              <a:rPr lang="en-US">
                <a:solidFill>
                  <a:srgbClr val="000000"/>
                </a:solidFill>
                <a:latin typeface="Times New Roman"/>
                <a:ea typeface="Times New Roman"/>
                <a:cs typeface="Times New Roman"/>
                <a:sym typeface="Times New Roman"/>
              </a:rPr>
              <a:t>}</a:t>
            </a:r>
            <a:endParaRPr/>
          </a:p>
          <a:p>
            <a:pPr marL="228600" lvl="0" indent="-228600" algn="l" rtl="0">
              <a:lnSpc>
                <a:spcPct val="90000"/>
              </a:lnSpc>
              <a:spcBef>
                <a:spcPts val="1000"/>
              </a:spcBef>
              <a:spcAft>
                <a:spcPts val="0"/>
              </a:spcAft>
              <a:buClr>
                <a:schemeClr val="dk1"/>
              </a:buClr>
              <a:buSzPct val="100000"/>
              <a:buFont typeface="Noto Sans Symbols"/>
              <a:buNone/>
            </a:pPr>
            <a:endParaRPr>
              <a:solidFill>
                <a:srgbClr val="000000"/>
              </a:solidFill>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ct val="100000"/>
              <a:buFont typeface="Noto Sans Symbols"/>
              <a:buNone/>
            </a:pPr>
            <a:r>
              <a:rPr lang="en-US">
                <a:latin typeface="Times New Roman"/>
                <a:ea typeface="Times New Roman"/>
                <a:cs typeface="Times New Roman"/>
                <a:sym typeface="Times New Roman"/>
              </a:rPr>
              <a:t>This program is vulnerable to </a:t>
            </a:r>
            <a:r>
              <a:rPr lang="en-US" b="1">
                <a:solidFill>
                  <a:srgbClr val="A50021"/>
                </a:solidFill>
                <a:latin typeface="Times New Roman"/>
                <a:ea typeface="Times New Roman"/>
                <a:cs typeface="Times New Roman"/>
                <a:sym typeface="Times New Roman"/>
              </a:rPr>
              <a:t>format string</a:t>
            </a:r>
            <a:r>
              <a:rPr lang="en-US">
                <a:latin typeface="Times New Roman"/>
                <a:ea typeface="Times New Roman"/>
                <a:cs typeface="Times New Roman"/>
                <a:sym typeface="Times New Roman"/>
              </a:rPr>
              <a:t> attacks, where calling the program with strings containing special characters can result in a buffer overflow attack.</a:t>
            </a:r>
            <a:endParaRPr>
              <a:latin typeface="Times New Roman"/>
              <a:ea typeface="Times New Roman"/>
              <a:cs typeface="Times New Roman"/>
              <a:sym typeface="Times New Roman"/>
            </a:endParaRPr>
          </a:p>
        </p:txBody>
      </p:sp>
      <p:sp>
        <p:nvSpPr>
          <p:cNvPr id="388" name="Google Shape;388;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38"/>
          <p:cNvSpPr txBox="1">
            <a:spLocks noGrp="1"/>
          </p:cNvSpPr>
          <p:nvPr>
            <p:ph type="ctrTitle"/>
          </p:nvPr>
        </p:nvSpPr>
        <p:spPr>
          <a:xfrm>
            <a:off x="1524000" y="1122371"/>
            <a:ext cx="9144000" cy="15588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Heap Overflow Attacks</a:t>
            </a:r>
            <a:endParaRPr/>
          </a:p>
        </p:txBody>
      </p:sp>
      <p:sp>
        <p:nvSpPr>
          <p:cNvPr id="394" name="Google Shape;394;p38"/>
          <p:cNvSpPr txBox="1">
            <a:spLocks noGrp="1"/>
          </p:cNvSpPr>
          <p:nvPr>
            <p:ph type="subTitle" idx="1"/>
          </p:nvPr>
        </p:nvSpPr>
        <p:spPr>
          <a:xfrm>
            <a:off x="474225" y="3602050"/>
            <a:ext cx="115455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u="sng" dirty="0">
                <a:solidFill>
                  <a:schemeClr val="hlink"/>
                </a:solidFill>
                <a:hlinkClick r:id="rId3"/>
              </a:rPr>
              <a:t>https://www.mathyvanhoef.com/2013/02/understanding-heap-exploiting-heap.html</a:t>
            </a:r>
            <a:r>
              <a:rPr lang="en-US" dirty="0"/>
              <a:t> </a:t>
            </a:r>
            <a:endParaRPr dirty="0"/>
          </a:p>
        </p:txBody>
      </p:sp>
      <p:sp>
        <p:nvSpPr>
          <p:cNvPr id="395" name="Google Shape;395;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34</a:t>
            </a:fld>
            <a:endParaRPr sz="1400">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What is a heap?</a:t>
            </a:r>
            <a:endParaRPr/>
          </a:p>
        </p:txBody>
      </p:sp>
      <p:sp>
        <p:nvSpPr>
          <p:cNvPr id="401" name="Google Shape;401;p3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Heap is a collection of variable-size memory chunks allocated by the program</a:t>
            </a:r>
            <a:endParaRPr/>
          </a:p>
          <a:p>
            <a:pPr marL="685800" lvl="1" indent="-228600" algn="l" rtl="0">
              <a:lnSpc>
                <a:spcPct val="90000"/>
              </a:lnSpc>
              <a:spcBef>
                <a:spcPts val="500"/>
              </a:spcBef>
              <a:spcAft>
                <a:spcPts val="0"/>
              </a:spcAft>
              <a:buClr>
                <a:schemeClr val="dk1"/>
              </a:buClr>
              <a:buSzPts val="2400"/>
              <a:buChar char="•"/>
            </a:pPr>
            <a:r>
              <a:rPr lang="en-US"/>
              <a:t>e.g., malloc(), free() in C,</a:t>
            </a:r>
            <a:endParaRPr/>
          </a:p>
          <a:p>
            <a:pPr marL="457200" lvl="1" indent="0" algn="l" rtl="0">
              <a:lnSpc>
                <a:spcPct val="90000"/>
              </a:lnSpc>
              <a:spcBef>
                <a:spcPts val="500"/>
              </a:spcBef>
              <a:spcAft>
                <a:spcPts val="0"/>
              </a:spcAft>
              <a:buClr>
                <a:schemeClr val="dk1"/>
              </a:buClr>
              <a:buSzPts val="2400"/>
              <a:buNone/>
            </a:pPr>
            <a:r>
              <a:rPr lang="en-US"/>
              <a:t>           creating a new object in Java</a:t>
            </a:r>
            <a:endParaRPr/>
          </a:p>
          <a:p>
            <a:pPr marL="457200" lvl="1" indent="0" algn="l" rtl="0">
              <a:lnSpc>
                <a:spcPct val="90000"/>
              </a:lnSpc>
              <a:spcBef>
                <a:spcPts val="500"/>
              </a:spcBef>
              <a:spcAft>
                <a:spcPts val="0"/>
              </a:spcAft>
              <a:buClr>
                <a:schemeClr val="dk1"/>
              </a:buClr>
              <a:buSzPts val="2400"/>
              <a:buNone/>
            </a:pPr>
            <a:r>
              <a:rPr lang="en-US"/>
              <a:t>           creating a new object in Java script</a:t>
            </a:r>
            <a:endParaRPr/>
          </a:p>
          <a:p>
            <a:pPr marL="457200" lvl="1" indent="0" algn="l" rtl="0">
              <a:lnSpc>
                <a:spcPct val="90000"/>
              </a:lnSpc>
              <a:spcBef>
                <a:spcPts val="500"/>
              </a:spcBef>
              <a:spcAft>
                <a:spcPts val="0"/>
              </a:spcAft>
              <a:buClr>
                <a:schemeClr val="dk1"/>
              </a:buClr>
              <a:buSzPts val="2400"/>
              <a:buNone/>
            </a:pPr>
            <a:endParaRPr/>
          </a:p>
          <a:p>
            <a:pPr marL="228600" lvl="0" indent="-228600" algn="l" rtl="0">
              <a:lnSpc>
                <a:spcPct val="90000"/>
              </a:lnSpc>
              <a:spcBef>
                <a:spcPts val="1000"/>
              </a:spcBef>
              <a:spcAft>
                <a:spcPts val="0"/>
              </a:spcAft>
              <a:buClr>
                <a:schemeClr val="dk1"/>
              </a:buClr>
              <a:buSzPts val="2800"/>
              <a:buChar char="•"/>
            </a:pPr>
            <a:r>
              <a:rPr lang="en-US"/>
              <a:t>Heap management system controls the allocation, de-allocation, and reclamation of memory chunks.</a:t>
            </a:r>
            <a:endParaRPr/>
          </a:p>
          <a:p>
            <a:pPr marL="685800" lvl="1" indent="-228600" algn="l" rtl="0">
              <a:lnSpc>
                <a:spcPct val="90000"/>
              </a:lnSpc>
              <a:spcBef>
                <a:spcPts val="500"/>
              </a:spcBef>
              <a:spcAft>
                <a:spcPts val="0"/>
              </a:spcAft>
              <a:buClr>
                <a:schemeClr val="dk1"/>
              </a:buClr>
              <a:buSzPts val="2400"/>
              <a:buChar char="•"/>
            </a:pPr>
            <a:r>
              <a:rPr lang="en-US"/>
              <a:t>To do this some meta data is necessary for book-keeping</a:t>
            </a:r>
            <a:endParaRPr/>
          </a:p>
        </p:txBody>
      </p:sp>
      <p:sp>
        <p:nvSpPr>
          <p:cNvPr id="402" name="Google Shape;402;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35</a:t>
            </a:fld>
            <a:endParaRPr sz="1400">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g2b7b8cb9384_0_8"/>
          <p:cNvSpPr txBox="1">
            <a:spLocks noGrp="1"/>
          </p:cNvSpPr>
          <p:nvPr>
            <p:ph type="body" idx="1"/>
          </p:nvPr>
        </p:nvSpPr>
        <p:spPr>
          <a:xfrm>
            <a:off x="838200" y="809625"/>
            <a:ext cx="10515600" cy="4351200"/>
          </a:xfrm>
          <a:prstGeom prst="rect">
            <a:avLst/>
          </a:prstGeom>
        </p:spPr>
        <p:txBody>
          <a:bodyPr spcFirstLastPara="1" wrap="square" lIns="91425" tIns="45700" rIns="91425" bIns="45700" anchor="t" anchorCtr="0">
            <a:noAutofit/>
          </a:bodyPr>
          <a:lstStyle/>
          <a:p>
            <a:pPr marL="0" lvl="0" indent="0" algn="l" rtl="0">
              <a:lnSpc>
                <a:spcPct val="70000"/>
              </a:lnSpc>
              <a:spcBef>
                <a:spcPts val="1000"/>
              </a:spcBef>
              <a:spcAft>
                <a:spcPts val="0"/>
              </a:spcAft>
              <a:buSzPts val="605"/>
              <a:buNone/>
            </a:pPr>
            <a:r>
              <a:rPr lang="en-US" sz="2340" b="1">
                <a:solidFill>
                  <a:srgbClr val="C00000"/>
                </a:solidFill>
              </a:rPr>
              <a:t>Static Linking</a:t>
            </a:r>
            <a:endParaRPr sz="2340" b="1">
              <a:solidFill>
                <a:srgbClr val="C00000"/>
              </a:solidFill>
            </a:endParaRPr>
          </a:p>
          <a:p>
            <a:pPr marL="0" lvl="0" indent="0" algn="l" rtl="0">
              <a:lnSpc>
                <a:spcPct val="70000"/>
              </a:lnSpc>
              <a:spcBef>
                <a:spcPts val="1000"/>
              </a:spcBef>
              <a:spcAft>
                <a:spcPts val="0"/>
              </a:spcAft>
              <a:buSzPts val="605"/>
              <a:buNone/>
            </a:pPr>
            <a:r>
              <a:rPr lang="en-US" sz="2340"/>
              <a:t>In static linking, external code (libraries) is integrated into the executable at compile time. This means that the code from the library becomes part of the executable file.</a:t>
            </a:r>
            <a:endParaRPr sz="2340"/>
          </a:p>
          <a:p>
            <a:pPr marL="0" lvl="0" indent="0" algn="l" rtl="0">
              <a:lnSpc>
                <a:spcPct val="70000"/>
              </a:lnSpc>
              <a:spcBef>
                <a:spcPts val="1000"/>
              </a:spcBef>
              <a:spcAft>
                <a:spcPts val="0"/>
              </a:spcAft>
              <a:buSzPts val="605"/>
              <a:buNone/>
            </a:pPr>
            <a:r>
              <a:rPr lang="en-US" sz="2340"/>
              <a:t>- Pros:</a:t>
            </a:r>
            <a:endParaRPr sz="2340"/>
          </a:p>
          <a:p>
            <a:pPr marL="0" lvl="0" indent="0" algn="l" rtl="0">
              <a:lnSpc>
                <a:spcPct val="70000"/>
              </a:lnSpc>
              <a:spcBef>
                <a:spcPts val="1000"/>
              </a:spcBef>
              <a:spcAft>
                <a:spcPts val="0"/>
              </a:spcAft>
              <a:buSzPts val="605"/>
              <a:buNone/>
            </a:pPr>
            <a:r>
              <a:rPr lang="en-US" sz="2340"/>
              <a:t>  - Simplicity: The executable contains all necessary code and doesn't depend on external libraries at runtime.</a:t>
            </a:r>
            <a:endParaRPr sz="2340"/>
          </a:p>
          <a:p>
            <a:pPr marL="0" lvl="0" indent="0" algn="l" rtl="0">
              <a:lnSpc>
                <a:spcPct val="70000"/>
              </a:lnSpc>
              <a:spcBef>
                <a:spcPts val="1000"/>
              </a:spcBef>
              <a:spcAft>
                <a:spcPts val="0"/>
              </a:spcAft>
              <a:buSzPts val="605"/>
              <a:buNone/>
            </a:pPr>
            <a:r>
              <a:rPr lang="en-US" sz="2340"/>
              <a:t>  - Performance: Might be slightly faster at startup as all code is readily available.</a:t>
            </a:r>
            <a:endParaRPr sz="2340"/>
          </a:p>
          <a:p>
            <a:pPr marL="0" lvl="0" indent="0" algn="l" rtl="0">
              <a:lnSpc>
                <a:spcPct val="70000"/>
              </a:lnSpc>
              <a:spcBef>
                <a:spcPts val="1000"/>
              </a:spcBef>
              <a:spcAft>
                <a:spcPts val="0"/>
              </a:spcAft>
              <a:buSzPts val="605"/>
              <a:buNone/>
            </a:pPr>
            <a:r>
              <a:rPr lang="en-US" sz="2340"/>
              <a:t>  - Reliability: No dependency on external library versions at runtime.</a:t>
            </a:r>
            <a:endParaRPr sz="2340"/>
          </a:p>
          <a:p>
            <a:pPr marL="0" lvl="0" indent="0" algn="l" rtl="0">
              <a:lnSpc>
                <a:spcPct val="70000"/>
              </a:lnSpc>
              <a:spcBef>
                <a:spcPts val="1000"/>
              </a:spcBef>
              <a:spcAft>
                <a:spcPts val="0"/>
              </a:spcAft>
              <a:buSzPts val="605"/>
              <a:buNone/>
            </a:pPr>
            <a:r>
              <a:rPr lang="en-US" sz="2340"/>
              <a:t>- Cons:</a:t>
            </a:r>
            <a:endParaRPr sz="2340"/>
          </a:p>
          <a:p>
            <a:pPr marL="0" lvl="0" indent="0" algn="l" rtl="0">
              <a:lnSpc>
                <a:spcPct val="70000"/>
              </a:lnSpc>
              <a:spcBef>
                <a:spcPts val="1000"/>
              </a:spcBef>
              <a:spcAft>
                <a:spcPts val="0"/>
              </a:spcAft>
              <a:buSzPts val="605"/>
              <a:buNone/>
            </a:pPr>
            <a:r>
              <a:rPr lang="en-US" sz="2340"/>
              <a:t>  - Size: Executables are larger as they contain all linked libraries.</a:t>
            </a:r>
            <a:endParaRPr sz="2340"/>
          </a:p>
          <a:p>
            <a:pPr marL="0" lvl="0" indent="0" algn="l" rtl="0">
              <a:lnSpc>
                <a:spcPct val="70000"/>
              </a:lnSpc>
              <a:spcBef>
                <a:spcPts val="1000"/>
              </a:spcBef>
              <a:spcAft>
                <a:spcPts val="0"/>
              </a:spcAft>
              <a:buSzPts val="605"/>
              <a:buNone/>
            </a:pPr>
            <a:r>
              <a:rPr lang="en-US" sz="2340"/>
              <a:t>  - Updates: Updating a library requires recompiling the entire application.</a:t>
            </a:r>
            <a:endParaRPr sz="2340"/>
          </a:p>
          <a:p>
            <a:pPr marL="0" lvl="0" indent="0" algn="l" rtl="0">
              <a:lnSpc>
                <a:spcPct val="70000"/>
              </a:lnSpc>
              <a:spcBef>
                <a:spcPts val="1000"/>
              </a:spcBef>
              <a:spcAft>
                <a:spcPts val="0"/>
              </a:spcAft>
              <a:buSzPts val="605"/>
              <a:buNone/>
            </a:pPr>
            <a:r>
              <a:rPr lang="en-US" sz="2340"/>
              <a:t>  - Resource Usage: Duplicate library code in multiple executables takes more disk space.</a:t>
            </a:r>
            <a:endParaRPr sz="2340"/>
          </a:p>
          <a:p>
            <a:pPr marL="0" lvl="0" indent="0" algn="l" rtl="0">
              <a:lnSpc>
                <a:spcPct val="70000"/>
              </a:lnSpc>
              <a:spcBef>
                <a:spcPts val="1000"/>
              </a:spcBef>
              <a:spcAft>
                <a:spcPts val="0"/>
              </a:spcAft>
              <a:buSzPts val="605"/>
              <a:buNone/>
            </a:pPr>
            <a:endParaRPr sz="2340"/>
          </a:p>
          <a:p>
            <a:pPr marL="0" lvl="0" indent="0" algn="l" rtl="0">
              <a:lnSpc>
                <a:spcPct val="70000"/>
              </a:lnSpc>
              <a:spcBef>
                <a:spcPts val="1000"/>
              </a:spcBef>
              <a:spcAft>
                <a:spcPts val="0"/>
              </a:spcAft>
              <a:buSzPts val="605"/>
              <a:buNone/>
            </a:pPr>
            <a:endParaRPr sz="2340"/>
          </a:p>
          <a:p>
            <a:pPr marL="0" lvl="0" indent="0" algn="l" rtl="0">
              <a:lnSpc>
                <a:spcPct val="70000"/>
              </a:lnSpc>
              <a:spcBef>
                <a:spcPts val="1000"/>
              </a:spcBef>
              <a:spcAft>
                <a:spcPts val="0"/>
              </a:spcAft>
              <a:buSzPts val="605"/>
              <a:buNone/>
            </a:pPr>
            <a:endParaRPr sz="2340"/>
          </a:p>
          <a:p>
            <a:pPr marL="0" lvl="0" indent="0" algn="l" rtl="0">
              <a:lnSpc>
                <a:spcPct val="70000"/>
              </a:lnSpc>
              <a:spcBef>
                <a:spcPts val="1000"/>
              </a:spcBef>
              <a:spcAft>
                <a:spcPts val="0"/>
              </a:spcAft>
              <a:buSzPts val="605"/>
              <a:buNone/>
            </a:pPr>
            <a:endParaRPr sz="2340"/>
          </a:p>
        </p:txBody>
      </p:sp>
      <p:sp>
        <p:nvSpPr>
          <p:cNvPr id="409" name="Google Shape;409;g2b7b8cb9384_0_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g2b7bded145a_0_0"/>
          <p:cNvSpPr txBox="1">
            <a:spLocks noGrp="1"/>
          </p:cNvSpPr>
          <p:nvPr>
            <p:ph type="body" idx="1"/>
          </p:nvPr>
        </p:nvSpPr>
        <p:spPr>
          <a:xfrm>
            <a:off x="471325" y="499175"/>
            <a:ext cx="10515600" cy="6003300"/>
          </a:xfrm>
          <a:prstGeom prst="rect">
            <a:avLst/>
          </a:prstGeom>
        </p:spPr>
        <p:txBody>
          <a:bodyPr spcFirstLastPara="1" wrap="square" lIns="91425" tIns="45700" rIns="91425" bIns="45700" anchor="t" anchorCtr="0">
            <a:normAutofit fontScale="92500" lnSpcReduction="20000"/>
          </a:bodyPr>
          <a:lstStyle/>
          <a:p>
            <a:pPr marL="0" lvl="0" indent="0" algn="l" rtl="0">
              <a:spcBef>
                <a:spcPts val="1000"/>
              </a:spcBef>
              <a:spcAft>
                <a:spcPts val="0"/>
              </a:spcAft>
              <a:buNone/>
            </a:pPr>
            <a:r>
              <a:rPr lang="en-US" b="1">
                <a:solidFill>
                  <a:srgbClr val="C00000"/>
                </a:solidFill>
              </a:rPr>
              <a:t>Dynamic Linking</a:t>
            </a:r>
            <a:endParaRPr b="1">
              <a:solidFill>
                <a:srgbClr val="C00000"/>
              </a:solidFill>
            </a:endParaRPr>
          </a:p>
          <a:p>
            <a:pPr marL="0" lvl="0" indent="0" algn="l" rtl="0">
              <a:spcBef>
                <a:spcPts val="1000"/>
              </a:spcBef>
              <a:spcAft>
                <a:spcPts val="0"/>
              </a:spcAft>
              <a:buNone/>
            </a:pPr>
            <a:r>
              <a:rPr lang="en-US"/>
              <a:t>In dynamic linking, libraries remain separate and the executable contains references to these external libraries. These libraries are loaded into memory at runtime.</a:t>
            </a:r>
            <a:endParaRPr/>
          </a:p>
          <a:p>
            <a:pPr marL="0" lvl="0" indent="0" algn="l" rtl="0">
              <a:spcBef>
                <a:spcPts val="1000"/>
              </a:spcBef>
              <a:spcAft>
                <a:spcPts val="0"/>
              </a:spcAft>
              <a:buNone/>
            </a:pPr>
            <a:r>
              <a:rPr lang="en-US"/>
              <a:t>- Pros:</a:t>
            </a:r>
            <a:endParaRPr/>
          </a:p>
          <a:p>
            <a:pPr marL="0" lvl="0" indent="0" algn="l" rtl="0">
              <a:spcBef>
                <a:spcPts val="1000"/>
              </a:spcBef>
              <a:spcAft>
                <a:spcPts val="0"/>
              </a:spcAft>
              <a:buNone/>
            </a:pPr>
            <a:r>
              <a:rPr lang="en-US"/>
              <a:t>  - Size: Smaller executables, as they don’t contain the actual library code.</a:t>
            </a:r>
            <a:endParaRPr/>
          </a:p>
          <a:p>
            <a:pPr marL="0" lvl="0" indent="0" algn="l" rtl="0">
              <a:spcBef>
                <a:spcPts val="1000"/>
              </a:spcBef>
              <a:spcAft>
                <a:spcPts val="0"/>
              </a:spcAft>
              <a:buNone/>
            </a:pPr>
            <a:r>
              <a:rPr lang="en-US"/>
              <a:t>  - Memory Efficiency: Shared libraries are loaded into memory once and used by multiple programs.</a:t>
            </a:r>
            <a:endParaRPr/>
          </a:p>
          <a:p>
            <a:pPr marL="0" lvl="0" indent="0" algn="l" rtl="0">
              <a:spcBef>
                <a:spcPts val="1000"/>
              </a:spcBef>
              <a:spcAft>
                <a:spcPts val="0"/>
              </a:spcAft>
              <a:buNone/>
            </a:pPr>
            <a:r>
              <a:rPr lang="en-US"/>
              <a:t>  - Updates: Libraries can be updated independently of the executable.</a:t>
            </a:r>
            <a:endParaRPr/>
          </a:p>
          <a:p>
            <a:pPr marL="0" lvl="0" indent="0" algn="l" rtl="0">
              <a:spcBef>
                <a:spcPts val="1000"/>
              </a:spcBef>
              <a:spcAft>
                <a:spcPts val="0"/>
              </a:spcAft>
              <a:buNone/>
            </a:pPr>
            <a:r>
              <a:rPr lang="en-US"/>
              <a:t>- Cons:</a:t>
            </a:r>
            <a:endParaRPr/>
          </a:p>
          <a:p>
            <a:pPr marL="0" lvl="0" indent="0" algn="l" rtl="0">
              <a:spcBef>
                <a:spcPts val="1000"/>
              </a:spcBef>
              <a:spcAft>
                <a:spcPts val="0"/>
              </a:spcAft>
              <a:buNone/>
            </a:pPr>
            <a:r>
              <a:rPr lang="en-US"/>
              <a:t>  - Complexity: Requires proper management of library versions and paths.</a:t>
            </a:r>
            <a:endParaRPr/>
          </a:p>
          <a:p>
            <a:pPr marL="0" lvl="0" indent="0" algn="l" rtl="0">
              <a:spcBef>
                <a:spcPts val="1000"/>
              </a:spcBef>
              <a:spcAft>
                <a:spcPts val="0"/>
              </a:spcAft>
              <a:buNone/>
            </a:pPr>
            <a:r>
              <a:rPr lang="en-US"/>
              <a:t>  - Dependency: If a required library is missing or incompatible, the program won’t run.</a:t>
            </a:r>
            <a:endParaRPr/>
          </a:p>
          <a:p>
            <a:pPr marL="0" lvl="0" indent="0" algn="l" rtl="0">
              <a:spcBef>
                <a:spcPts val="1000"/>
              </a:spcBef>
              <a:spcAft>
                <a:spcPts val="0"/>
              </a:spcAft>
              <a:buNone/>
            </a:pPr>
            <a:r>
              <a:rPr lang="en-US"/>
              <a:t>  - Startup Time: May increase slightly due to the need to locate and load libraries at runtime.</a:t>
            </a:r>
            <a:endParaRPr/>
          </a:p>
          <a:p>
            <a:pPr marL="0" lvl="0" indent="0" algn="l" rtl="0">
              <a:spcBef>
                <a:spcPts val="1000"/>
              </a:spcBef>
              <a:spcAft>
                <a:spcPts val="0"/>
              </a:spcAft>
              <a:buNone/>
            </a:pPr>
            <a:endParaRPr/>
          </a:p>
        </p:txBody>
      </p:sp>
      <p:sp>
        <p:nvSpPr>
          <p:cNvPr id="416" name="Google Shape;416;g2b7bded145a_0_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4" name="Google Shape;424;g2b7b8cb9384_0_2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pic>
        <p:nvPicPr>
          <p:cNvPr id="425" name="Google Shape;425;g2b7b8cb9384_0_22"/>
          <p:cNvPicPr preferRelativeResize="0"/>
          <p:nvPr/>
        </p:nvPicPr>
        <p:blipFill>
          <a:blip r:embed="rId3">
            <a:alphaModFix/>
          </a:blip>
          <a:stretch>
            <a:fillRect/>
          </a:stretch>
        </p:blipFill>
        <p:spPr>
          <a:xfrm>
            <a:off x="1804988" y="876300"/>
            <a:ext cx="8582025" cy="51054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0"/>
          <p:cNvSpPr txBox="1">
            <a:spLocks noGrp="1"/>
          </p:cNvSpPr>
          <p:nvPr>
            <p:ph type="title"/>
          </p:nvPr>
        </p:nvSpPr>
        <p:spPr>
          <a:xfrm>
            <a:off x="1981200" y="2286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Heap overflow attacks</a:t>
            </a:r>
            <a:endParaRPr/>
          </a:p>
        </p:txBody>
      </p:sp>
      <p:sp>
        <p:nvSpPr>
          <p:cNvPr id="432" name="Google Shape;432;p4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What if heap memory is corrupted?</a:t>
            </a:r>
            <a:endParaRPr/>
          </a:p>
          <a:p>
            <a:pPr marL="685800" lvl="1" indent="-228600" algn="l" rtl="0">
              <a:lnSpc>
                <a:spcPct val="90000"/>
              </a:lnSpc>
              <a:spcBef>
                <a:spcPts val="500"/>
              </a:spcBef>
              <a:spcAft>
                <a:spcPts val="0"/>
              </a:spcAft>
              <a:buClr>
                <a:schemeClr val="dk1"/>
              </a:buClr>
              <a:buSzPts val="2400"/>
              <a:buChar char="•"/>
            </a:pPr>
            <a:r>
              <a:rPr lang="en-US"/>
              <a:t>If a buffer is allocated on the heap and overflown, we could overwrite the heap meta data</a:t>
            </a:r>
            <a:endParaRPr/>
          </a:p>
          <a:p>
            <a:pPr marL="685800" lvl="1" indent="-228600" algn="l" rtl="0">
              <a:lnSpc>
                <a:spcPct val="90000"/>
              </a:lnSpc>
              <a:spcBef>
                <a:spcPts val="500"/>
              </a:spcBef>
              <a:spcAft>
                <a:spcPts val="0"/>
              </a:spcAft>
              <a:buClr>
                <a:schemeClr val="dk1"/>
              </a:buClr>
              <a:buSzPts val="2400"/>
              <a:buChar char="•"/>
            </a:pPr>
            <a:r>
              <a:rPr lang="en-US"/>
              <a:t>This can allow us to modify any memory location with any value of our chosen</a:t>
            </a:r>
            <a:endParaRPr/>
          </a:p>
          <a:p>
            <a:pPr marL="685800" lvl="1" indent="-228600" algn="l" rtl="0">
              <a:lnSpc>
                <a:spcPct val="90000"/>
              </a:lnSpc>
              <a:spcBef>
                <a:spcPts val="500"/>
              </a:spcBef>
              <a:spcAft>
                <a:spcPts val="0"/>
              </a:spcAft>
              <a:buClr>
                <a:schemeClr val="dk1"/>
              </a:buClr>
              <a:buSzPts val="2400"/>
              <a:buChar char="•"/>
            </a:pPr>
            <a:r>
              <a:rPr lang="en-US"/>
              <a:t>This could lead to running arbitrary code</a:t>
            </a:r>
            <a:endParaRPr/>
          </a:p>
          <a:p>
            <a:pPr marL="228600" lvl="0" indent="-50800" algn="l" rtl="0">
              <a:lnSpc>
                <a:spcPct val="90000"/>
              </a:lnSpc>
              <a:spcBef>
                <a:spcPts val="1000"/>
              </a:spcBef>
              <a:spcAft>
                <a:spcPts val="0"/>
              </a:spcAft>
              <a:buClr>
                <a:schemeClr val="dk1"/>
              </a:buClr>
              <a:buSzPts val="2800"/>
              <a:buNone/>
            </a:pPr>
            <a:endParaRPr/>
          </a:p>
        </p:txBody>
      </p:sp>
      <p:sp>
        <p:nvSpPr>
          <p:cNvPr id="433" name="Google Shape;433;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39</a:t>
            </a:fld>
            <a:endParaRPr sz="1400">
              <a:solidFill>
                <a:schemeClr val="dk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g2b7b8cb9384_0_30"/>
          <p:cNvSpPr txBox="1">
            <a:spLocks noGrp="1"/>
          </p:cNvSpPr>
          <p:nvPr>
            <p:ph type="body" idx="1"/>
          </p:nvPr>
        </p:nvSpPr>
        <p:spPr>
          <a:xfrm>
            <a:off x="838200" y="245500"/>
            <a:ext cx="10515600" cy="62478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700" b="1">
                <a:solidFill>
                  <a:srgbClr val="0000FF"/>
                </a:solidFill>
                <a:latin typeface="Arial"/>
                <a:ea typeface="Arial"/>
                <a:cs typeface="Arial"/>
                <a:sym typeface="Arial"/>
              </a:rPr>
              <a:t>The Global Offset Table (GOT) and the Procedure Linkage Table (PLT) are crucial components in dynamic linking, particularly in the context of shared libraries in Unix-like operating systems.</a:t>
            </a:r>
            <a:endParaRPr sz="1700" b="1">
              <a:solidFill>
                <a:srgbClr val="0000FF"/>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600" b="1">
                <a:solidFill>
                  <a:srgbClr val="C00000"/>
                </a:solidFill>
                <a:latin typeface="Arial"/>
                <a:ea typeface="Arial"/>
                <a:cs typeface="Arial"/>
                <a:sym typeface="Arial"/>
              </a:rPr>
              <a:t>Procedure Linkage Table (PLT):</a:t>
            </a:r>
            <a:endParaRPr sz="1600" b="1">
              <a:solidFill>
                <a:srgbClr val="C00000"/>
              </a:solidFill>
              <a:latin typeface="Arial"/>
              <a:ea typeface="Arial"/>
              <a:cs typeface="Arial"/>
              <a:sym typeface="Arial"/>
            </a:endParaRPr>
          </a:p>
          <a:p>
            <a:pPr marL="457200" lvl="0" indent="0" algn="l" rtl="0">
              <a:lnSpc>
                <a:spcPct val="115000"/>
              </a:lnSpc>
              <a:spcBef>
                <a:spcPts val="1200"/>
              </a:spcBef>
              <a:spcAft>
                <a:spcPts val="0"/>
              </a:spcAft>
              <a:buClr>
                <a:schemeClr val="dk1"/>
              </a:buClr>
              <a:buSzPts val="1100"/>
              <a:buFont typeface="Arial"/>
              <a:buNone/>
            </a:pPr>
            <a:r>
              <a:rPr lang="en-US" sz="1700">
                <a:latin typeface="Arial"/>
                <a:ea typeface="Arial"/>
                <a:cs typeface="Arial"/>
                <a:sym typeface="Arial"/>
              </a:rPr>
              <a:t>●</a:t>
            </a:r>
            <a:r>
              <a:rPr lang="en-US" sz="1300">
                <a:latin typeface="Arial"/>
                <a:ea typeface="Arial"/>
                <a:cs typeface="Arial"/>
                <a:sym typeface="Arial"/>
              </a:rPr>
              <a:t>    </a:t>
            </a:r>
            <a:r>
              <a:rPr lang="en-US" sz="1700">
                <a:latin typeface="Arial"/>
                <a:ea typeface="Arial"/>
                <a:cs typeface="Arial"/>
                <a:sym typeface="Arial"/>
              </a:rPr>
              <a:t>The PLT is used in conjunction with the GOT to manage dynamic function calls.</a:t>
            </a:r>
            <a:endParaRPr sz="1700">
              <a:latin typeface="Arial"/>
              <a:ea typeface="Arial"/>
              <a:cs typeface="Arial"/>
              <a:sym typeface="Arial"/>
            </a:endParaRPr>
          </a:p>
          <a:p>
            <a:pPr marL="457200" lvl="0" indent="0" algn="l" rtl="0">
              <a:lnSpc>
                <a:spcPct val="115000"/>
              </a:lnSpc>
              <a:spcBef>
                <a:spcPts val="1200"/>
              </a:spcBef>
              <a:spcAft>
                <a:spcPts val="0"/>
              </a:spcAft>
              <a:buClr>
                <a:schemeClr val="dk1"/>
              </a:buClr>
              <a:buSzPts val="1100"/>
              <a:buFont typeface="Arial"/>
              <a:buNone/>
            </a:pPr>
            <a:r>
              <a:rPr lang="en-US" sz="1700">
                <a:latin typeface="Arial"/>
                <a:ea typeface="Arial"/>
                <a:cs typeface="Arial"/>
                <a:sym typeface="Arial"/>
              </a:rPr>
              <a:t>●</a:t>
            </a:r>
            <a:r>
              <a:rPr lang="en-US" sz="1300">
                <a:latin typeface="Arial"/>
                <a:ea typeface="Arial"/>
                <a:cs typeface="Arial"/>
                <a:sym typeface="Arial"/>
              </a:rPr>
              <a:t>    </a:t>
            </a:r>
            <a:r>
              <a:rPr lang="en-US" sz="1700">
                <a:latin typeface="Arial"/>
                <a:ea typeface="Arial"/>
                <a:cs typeface="Arial"/>
                <a:sym typeface="Arial"/>
              </a:rPr>
              <a:t>When a function in a shared library is called for the first time, the call goes through the PLT, which contains a stub for each dynamic function.</a:t>
            </a:r>
            <a:endParaRPr sz="1700">
              <a:latin typeface="Arial"/>
              <a:ea typeface="Arial"/>
              <a:cs typeface="Arial"/>
              <a:sym typeface="Arial"/>
            </a:endParaRPr>
          </a:p>
          <a:p>
            <a:pPr marL="457200" lvl="0" indent="0" algn="l" rtl="0">
              <a:lnSpc>
                <a:spcPct val="115000"/>
              </a:lnSpc>
              <a:spcBef>
                <a:spcPts val="1200"/>
              </a:spcBef>
              <a:spcAft>
                <a:spcPts val="0"/>
              </a:spcAft>
              <a:buClr>
                <a:schemeClr val="dk1"/>
              </a:buClr>
              <a:buSzPts val="1100"/>
              <a:buFont typeface="Arial"/>
              <a:buNone/>
            </a:pPr>
            <a:r>
              <a:rPr lang="en-US" sz="1700">
                <a:latin typeface="Arial"/>
                <a:ea typeface="Arial"/>
                <a:cs typeface="Arial"/>
                <a:sym typeface="Arial"/>
              </a:rPr>
              <a:t>●</a:t>
            </a:r>
            <a:r>
              <a:rPr lang="en-US" sz="1300">
                <a:latin typeface="Arial"/>
                <a:ea typeface="Arial"/>
                <a:cs typeface="Arial"/>
                <a:sym typeface="Arial"/>
              </a:rPr>
              <a:t>    </a:t>
            </a:r>
            <a:r>
              <a:rPr lang="en-US" sz="1700">
                <a:latin typeface="Arial"/>
                <a:ea typeface="Arial"/>
                <a:cs typeface="Arial"/>
                <a:sym typeface="Arial"/>
              </a:rPr>
              <a:t>Initially, this stub points to code that invokes the dynamic linker to resolve the function's address. Once resolved, the stub is updated to directly point to the function, speeding up subsequent calls.</a:t>
            </a:r>
            <a:endParaRPr sz="17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600" b="1">
                <a:solidFill>
                  <a:srgbClr val="C00000"/>
                </a:solidFill>
                <a:latin typeface="Arial"/>
                <a:ea typeface="Arial"/>
                <a:cs typeface="Arial"/>
                <a:sym typeface="Arial"/>
              </a:rPr>
              <a:t>Global Offset Table (GOT):</a:t>
            </a:r>
            <a:endParaRPr sz="1600" b="1">
              <a:solidFill>
                <a:srgbClr val="C00000"/>
              </a:solidFill>
              <a:latin typeface="Arial"/>
              <a:ea typeface="Arial"/>
              <a:cs typeface="Arial"/>
              <a:sym typeface="Arial"/>
            </a:endParaRPr>
          </a:p>
          <a:p>
            <a:pPr marL="457200" lvl="0" indent="0" algn="l" rtl="0">
              <a:lnSpc>
                <a:spcPct val="115000"/>
              </a:lnSpc>
              <a:spcBef>
                <a:spcPts val="1200"/>
              </a:spcBef>
              <a:spcAft>
                <a:spcPts val="0"/>
              </a:spcAft>
              <a:buClr>
                <a:schemeClr val="dk1"/>
              </a:buClr>
              <a:buSzPts val="1100"/>
              <a:buFont typeface="Arial"/>
              <a:buNone/>
            </a:pPr>
            <a:r>
              <a:rPr lang="en-US" sz="1700">
                <a:latin typeface="Arial"/>
                <a:ea typeface="Arial"/>
                <a:cs typeface="Arial"/>
                <a:sym typeface="Arial"/>
              </a:rPr>
              <a:t>●</a:t>
            </a:r>
            <a:r>
              <a:rPr lang="en-US" sz="1300">
                <a:latin typeface="Arial"/>
                <a:ea typeface="Arial"/>
                <a:cs typeface="Arial"/>
                <a:sym typeface="Arial"/>
              </a:rPr>
              <a:t>    </a:t>
            </a:r>
            <a:r>
              <a:rPr lang="en-US" sz="1700">
                <a:latin typeface="Arial"/>
                <a:ea typeface="Arial"/>
                <a:cs typeface="Arial"/>
                <a:sym typeface="Arial"/>
              </a:rPr>
              <a:t>It's a table of addresses used to manage global variables and static functions in shared libraries.</a:t>
            </a:r>
            <a:endParaRPr sz="1700">
              <a:latin typeface="Arial"/>
              <a:ea typeface="Arial"/>
              <a:cs typeface="Arial"/>
              <a:sym typeface="Arial"/>
            </a:endParaRPr>
          </a:p>
          <a:p>
            <a:pPr marL="457200" lvl="0" indent="0" algn="l" rtl="0">
              <a:lnSpc>
                <a:spcPct val="115000"/>
              </a:lnSpc>
              <a:spcBef>
                <a:spcPts val="1200"/>
              </a:spcBef>
              <a:spcAft>
                <a:spcPts val="0"/>
              </a:spcAft>
              <a:buClr>
                <a:schemeClr val="dk1"/>
              </a:buClr>
              <a:buSzPts val="1100"/>
              <a:buFont typeface="Arial"/>
              <a:buNone/>
            </a:pPr>
            <a:r>
              <a:rPr lang="en-US" sz="1700">
                <a:latin typeface="Arial"/>
                <a:ea typeface="Arial"/>
                <a:cs typeface="Arial"/>
                <a:sym typeface="Arial"/>
              </a:rPr>
              <a:t>●</a:t>
            </a:r>
            <a:r>
              <a:rPr lang="en-US" sz="1300">
                <a:latin typeface="Arial"/>
                <a:ea typeface="Arial"/>
                <a:cs typeface="Arial"/>
                <a:sym typeface="Arial"/>
              </a:rPr>
              <a:t>   </a:t>
            </a:r>
            <a:r>
              <a:rPr lang="en-US" sz="1700">
                <a:latin typeface="Arial"/>
                <a:ea typeface="Arial"/>
                <a:cs typeface="Arial"/>
                <a:sym typeface="Arial"/>
              </a:rPr>
              <a:t>When a program starts, the actual addresses of these elements are unknown. The GOT maintains placeholders that get updated with correct addresses once the shared library is loaded and linked.</a:t>
            </a:r>
            <a:endParaRPr sz="1700">
              <a:latin typeface="Arial"/>
              <a:ea typeface="Arial"/>
              <a:cs typeface="Arial"/>
              <a:sym typeface="Arial"/>
            </a:endParaRPr>
          </a:p>
          <a:p>
            <a:pPr marL="457200" lvl="0" indent="0" algn="l" rtl="0">
              <a:lnSpc>
                <a:spcPct val="115000"/>
              </a:lnSpc>
              <a:spcBef>
                <a:spcPts val="1200"/>
              </a:spcBef>
              <a:spcAft>
                <a:spcPts val="0"/>
              </a:spcAft>
              <a:buClr>
                <a:schemeClr val="dk1"/>
              </a:buClr>
              <a:buSzPts val="1100"/>
              <a:buFont typeface="Arial"/>
              <a:buNone/>
            </a:pPr>
            <a:r>
              <a:rPr lang="en-US" sz="1700">
                <a:latin typeface="Arial"/>
                <a:ea typeface="Arial"/>
                <a:cs typeface="Arial"/>
                <a:sym typeface="Arial"/>
              </a:rPr>
              <a:t>●</a:t>
            </a:r>
            <a:r>
              <a:rPr lang="en-US" sz="1300">
                <a:latin typeface="Arial"/>
                <a:ea typeface="Arial"/>
                <a:cs typeface="Arial"/>
                <a:sym typeface="Arial"/>
              </a:rPr>
              <a:t>    </a:t>
            </a:r>
            <a:r>
              <a:rPr lang="en-US" sz="1700">
                <a:latin typeface="Arial"/>
                <a:ea typeface="Arial"/>
                <a:cs typeface="Arial"/>
                <a:sym typeface="Arial"/>
              </a:rPr>
              <a:t>This allows code in the shared library to reference its global variables and static functions regardless of the actual memory location.</a:t>
            </a:r>
            <a:endParaRPr sz="17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2200">
                <a:solidFill>
                  <a:srgbClr val="FF0000"/>
                </a:solidFill>
                <a:latin typeface="Arial"/>
                <a:ea typeface="Arial"/>
                <a:cs typeface="Arial"/>
                <a:sym typeface="Arial"/>
              </a:rPr>
              <a:t> </a:t>
            </a:r>
            <a:r>
              <a:rPr lang="en-US" sz="1550">
                <a:solidFill>
                  <a:srgbClr val="FF0000"/>
                </a:solidFill>
                <a:highlight>
                  <a:srgbClr val="FFFFFF"/>
                </a:highlight>
                <a:latin typeface="Arial"/>
                <a:ea typeface="Arial"/>
                <a:cs typeface="Arial"/>
                <a:sym typeface="Arial"/>
              </a:rPr>
              <a:t>Note: PLT is located in the code segment of an executable program and is readable but not writable, and the GOT is located in the data segment of an executable program and is readable and writable.</a:t>
            </a:r>
            <a:endParaRPr sz="2200">
              <a:solidFill>
                <a:srgbClr val="FF0000"/>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700">
              <a:latin typeface="Arial"/>
              <a:ea typeface="Arial"/>
              <a:cs typeface="Arial"/>
              <a:sym typeface="Arial"/>
            </a:endParaRPr>
          </a:p>
          <a:p>
            <a:pPr marL="0" lvl="0" indent="0" algn="l" rtl="0">
              <a:spcBef>
                <a:spcPts val="1200"/>
              </a:spcBef>
              <a:spcAft>
                <a:spcPts val="0"/>
              </a:spcAft>
              <a:buNone/>
            </a:pPr>
            <a:endParaRPr sz="3400"/>
          </a:p>
        </p:txBody>
      </p:sp>
      <p:sp>
        <p:nvSpPr>
          <p:cNvPr id="440" name="Google Shape;440;g2b7b8cb9384_0_3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g2b7b8cb9384_0_3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447" name="Google Shape;447;g2b7b8cb9384_0_3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
        <p:nvSpPr>
          <p:cNvPr id="448" name="Google Shape;448;g2b7b8cb9384_0_3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41</a:t>
            </a:fld>
            <a:endParaRPr/>
          </a:p>
        </p:txBody>
      </p:sp>
      <p:pic>
        <p:nvPicPr>
          <p:cNvPr id="449" name="Google Shape;449;g2b7b8cb9384_0_38"/>
          <p:cNvPicPr preferRelativeResize="0"/>
          <p:nvPr/>
        </p:nvPicPr>
        <p:blipFill>
          <a:blip r:embed="rId3">
            <a:alphaModFix/>
          </a:blip>
          <a:stretch>
            <a:fillRect/>
          </a:stretch>
        </p:blipFill>
        <p:spPr>
          <a:xfrm>
            <a:off x="565425" y="91200"/>
            <a:ext cx="11239500" cy="67668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Doug Lea’s malloc and free</a:t>
            </a:r>
            <a:endParaRPr/>
          </a:p>
        </p:txBody>
      </p:sp>
      <p:pic>
        <p:nvPicPr>
          <p:cNvPr id="456" name="Google Shape;456;p41"/>
          <p:cNvPicPr preferRelativeResize="0"/>
          <p:nvPr/>
        </p:nvPicPr>
        <p:blipFill rotWithShape="1">
          <a:blip r:embed="rId3">
            <a:alphaModFix/>
          </a:blip>
          <a:srcRect/>
          <a:stretch/>
        </p:blipFill>
        <p:spPr>
          <a:xfrm>
            <a:off x="2362200" y="1905000"/>
            <a:ext cx="7315200" cy="2876550"/>
          </a:xfrm>
          <a:prstGeom prst="rect">
            <a:avLst/>
          </a:prstGeom>
          <a:noFill/>
          <a:ln>
            <a:noFill/>
          </a:ln>
        </p:spPr>
      </p:pic>
      <p:sp>
        <p:nvSpPr>
          <p:cNvPr id="457" name="Google Shape;457;p41"/>
          <p:cNvSpPr txBox="1"/>
          <p:nvPr/>
        </p:nvSpPr>
        <p:spPr>
          <a:xfrm>
            <a:off x="3657600" y="5095876"/>
            <a:ext cx="5257800" cy="9239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P == 1: previous chunk is in use</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P == 0: previous chunk is free </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Size includes the first two control words</a:t>
            </a:r>
            <a:endParaRPr/>
          </a:p>
        </p:txBody>
      </p:sp>
      <p:sp>
        <p:nvSpPr>
          <p:cNvPr id="458" name="Google Shape;458;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42</a:t>
            </a:fld>
            <a:endParaRPr sz="1400">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42"/>
          <p:cNvSpPr txBox="1">
            <a:spLocks noGrp="1"/>
          </p:cNvSpPr>
          <p:nvPr>
            <p:ph type="title"/>
          </p:nvPr>
        </p:nvSpPr>
        <p:spPr>
          <a:xfrm>
            <a:off x="1981200" y="274638"/>
            <a:ext cx="8229600" cy="7921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Double-linked free chunk list</a:t>
            </a:r>
            <a:endParaRPr/>
          </a:p>
        </p:txBody>
      </p:sp>
      <p:pic>
        <p:nvPicPr>
          <p:cNvPr id="465" name="Google Shape;465;p42"/>
          <p:cNvPicPr preferRelativeResize="0"/>
          <p:nvPr/>
        </p:nvPicPr>
        <p:blipFill rotWithShape="1">
          <a:blip r:embed="rId3">
            <a:alphaModFix/>
          </a:blip>
          <a:srcRect/>
          <a:stretch/>
        </p:blipFill>
        <p:spPr>
          <a:xfrm>
            <a:off x="1955800" y="1143000"/>
            <a:ext cx="8255000" cy="5549900"/>
          </a:xfrm>
          <a:prstGeom prst="rect">
            <a:avLst/>
          </a:prstGeom>
          <a:noFill/>
          <a:ln>
            <a:noFill/>
          </a:ln>
        </p:spPr>
      </p:pic>
      <p:sp>
        <p:nvSpPr>
          <p:cNvPr id="466" name="Google Shape;466;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43</a:t>
            </a:fld>
            <a:endParaRPr sz="1400">
              <a:solidFill>
                <a:schemeClr val="dk1"/>
              </a:solidFill>
              <a:latin typeface="Arial"/>
              <a:ea typeface="Arial"/>
              <a:cs typeface="Arial"/>
              <a:sym typeface="Arial"/>
            </a:endParaRPr>
          </a:p>
        </p:txBody>
      </p:sp>
      <p:sp>
        <p:nvSpPr>
          <p:cNvPr id="467" name="Google Shape;467;p42"/>
          <p:cNvSpPr/>
          <p:nvPr/>
        </p:nvSpPr>
        <p:spPr>
          <a:xfrm>
            <a:off x="2057400" y="4572000"/>
            <a:ext cx="3048000" cy="17541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struct chunk {</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int prev_size;</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int size;</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struct chunk *fd;</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struct chunk *bk;</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43"/>
          <p:cNvSpPr txBox="1">
            <a:spLocks noGrp="1"/>
          </p:cNvSpPr>
          <p:nvPr>
            <p:ph type="title"/>
          </p:nvPr>
        </p:nvSpPr>
        <p:spPr>
          <a:xfrm>
            <a:off x="1981200" y="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heap.c</a:t>
            </a:r>
            <a:endParaRPr/>
          </a:p>
        </p:txBody>
      </p:sp>
      <p:sp>
        <p:nvSpPr>
          <p:cNvPr id="474" name="Google Shape;474;p43"/>
          <p:cNvSpPr/>
          <p:nvPr/>
        </p:nvSpPr>
        <p:spPr>
          <a:xfrm>
            <a:off x="2657476" y="914401"/>
            <a:ext cx="6099175" cy="59086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#define BUFSIZE 128</a:t>
            </a:r>
            <a:endParaRPr/>
          </a:p>
          <a:p>
            <a:pPr marL="0" marR="0" lvl="0" indent="0" algn="l" rtl="0">
              <a:spcBef>
                <a:spcPts val="0"/>
              </a:spcBef>
              <a:spcAft>
                <a:spcPts val="0"/>
              </a:spcAft>
              <a:buNone/>
            </a:pPr>
            <a:endParaRPr sz="1400">
              <a:solidFill>
                <a:schemeClr val="dk1"/>
              </a:solidFill>
              <a:latin typeface="Arial"/>
              <a:ea typeface="Arial"/>
              <a:cs typeface="Arial"/>
              <a:sym typeface="Arial"/>
            </a:endParaRPr>
          </a:p>
          <a:p>
            <a:pPr marL="0" marR="0" lvl="0" indent="0" algn="l" rtl="0">
              <a:spcBef>
                <a:spcPts val="0"/>
              </a:spcBef>
              <a:spcAft>
                <a:spcPts val="0"/>
              </a:spcAft>
              <a:buNone/>
            </a:pPr>
            <a:r>
              <a:rPr lang="en-US" sz="1400">
                <a:solidFill>
                  <a:schemeClr val="dk1"/>
                </a:solidFill>
                <a:latin typeface="Arial"/>
                <a:ea typeface="Arial"/>
                <a:cs typeface="Arial"/>
                <a:sym typeface="Arial"/>
              </a:rPr>
              <a:t>int main(int argc, char *argv[])</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   char *a, *b, *c;</a:t>
            </a:r>
            <a:endParaRPr/>
          </a:p>
          <a:p>
            <a:pPr marL="0" marR="0" lvl="0" indent="0" algn="l" rtl="0">
              <a:spcBef>
                <a:spcPts val="0"/>
              </a:spcBef>
              <a:spcAft>
                <a:spcPts val="0"/>
              </a:spcAft>
              <a:buNone/>
            </a:pPr>
            <a:endParaRPr sz="1400">
              <a:solidFill>
                <a:schemeClr val="dk1"/>
              </a:solidFill>
              <a:latin typeface="Arial"/>
              <a:ea typeface="Arial"/>
              <a:cs typeface="Arial"/>
              <a:sym typeface="Arial"/>
            </a:endParaRPr>
          </a:p>
          <a:p>
            <a:pPr marL="0" marR="0" lvl="0" indent="0" algn="l" rtl="0">
              <a:spcBef>
                <a:spcPts val="0"/>
              </a:spcBef>
              <a:spcAft>
                <a:spcPts val="0"/>
              </a:spcAft>
              <a:buNone/>
            </a:pPr>
            <a:r>
              <a:rPr lang="en-US" sz="1400">
                <a:solidFill>
                  <a:schemeClr val="dk1"/>
                </a:solidFill>
                <a:latin typeface="Arial"/>
                <a:ea typeface="Arial"/>
                <a:cs typeface="Arial"/>
                <a:sym typeface="Arial"/>
              </a:rPr>
              <a:t>   if(argc &lt; 2) {</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      printf("Usage: %s &lt;buffer&gt;\n", argv[0]);</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      exit(-1);</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   }</a:t>
            </a:r>
            <a:endParaRPr/>
          </a:p>
          <a:p>
            <a:pPr marL="0" marR="0" lvl="0" indent="0" algn="l" rtl="0">
              <a:spcBef>
                <a:spcPts val="0"/>
              </a:spcBef>
              <a:spcAft>
                <a:spcPts val="0"/>
              </a:spcAft>
              <a:buNone/>
            </a:pPr>
            <a:endParaRPr sz="1400">
              <a:solidFill>
                <a:schemeClr val="dk1"/>
              </a:solidFill>
              <a:latin typeface="Arial"/>
              <a:ea typeface="Arial"/>
              <a:cs typeface="Arial"/>
              <a:sym typeface="Arial"/>
            </a:endParaRPr>
          </a:p>
          <a:p>
            <a:pPr marL="0" marR="0" lvl="0" indent="0" algn="l" rtl="0">
              <a:spcBef>
                <a:spcPts val="0"/>
              </a:spcBef>
              <a:spcAft>
                <a:spcPts val="0"/>
              </a:spcAft>
              <a:buNone/>
            </a:pPr>
            <a:r>
              <a:rPr lang="en-US" sz="1400">
                <a:solidFill>
                  <a:schemeClr val="dk1"/>
                </a:solidFill>
                <a:latin typeface="Arial"/>
                <a:ea typeface="Arial"/>
                <a:cs typeface="Arial"/>
                <a:sym typeface="Arial"/>
              </a:rPr>
              <a:t>   a = (char *) malloc(BUFSIZE);</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   b = (char *) malloc(BUFSIZE+16);</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   c = (char *) malloc(BUFSIZE+32);</a:t>
            </a:r>
            <a:endParaRPr/>
          </a:p>
          <a:p>
            <a:pPr marL="0" marR="0" lvl="0" indent="0" algn="l" rtl="0">
              <a:spcBef>
                <a:spcPts val="0"/>
              </a:spcBef>
              <a:spcAft>
                <a:spcPts val="0"/>
              </a:spcAft>
              <a:buNone/>
            </a:pPr>
            <a:endParaRPr sz="1400">
              <a:solidFill>
                <a:schemeClr val="dk1"/>
              </a:solidFill>
              <a:latin typeface="Arial"/>
              <a:ea typeface="Arial"/>
              <a:cs typeface="Arial"/>
              <a:sym typeface="Arial"/>
            </a:endParaRPr>
          </a:p>
          <a:p>
            <a:pPr marL="0" marR="0" lvl="0" indent="0" algn="l" rtl="0">
              <a:spcBef>
                <a:spcPts val="0"/>
              </a:spcBef>
              <a:spcAft>
                <a:spcPts val="0"/>
              </a:spcAft>
              <a:buNone/>
            </a:pPr>
            <a:r>
              <a:rPr lang="en-US" sz="1400">
                <a:solidFill>
                  <a:schemeClr val="dk1"/>
                </a:solidFill>
                <a:latin typeface="Arial"/>
                <a:ea typeface="Arial"/>
                <a:cs typeface="Arial"/>
                <a:sym typeface="Arial"/>
              </a:rPr>
              <a:t>   printf("address of a: %p\n", a);</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   printf("address of b: %p\n", b);</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   printf("address of c: %p\n", c);</a:t>
            </a:r>
            <a:endParaRPr/>
          </a:p>
          <a:p>
            <a:pPr marL="0" marR="0" lvl="0" indent="0" algn="l" rtl="0">
              <a:spcBef>
                <a:spcPts val="0"/>
              </a:spcBef>
              <a:spcAft>
                <a:spcPts val="0"/>
              </a:spcAft>
              <a:buNone/>
            </a:pPr>
            <a:endParaRPr sz="1400">
              <a:solidFill>
                <a:schemeClr val="dk1"/>
              </a:solidFill>
              <a:latin typeface="Arial"/>
              <a:ea typeface="Arial"/>
              <a:cs typeface="Arial"/>
              <a:sym typeface="Arial"/>
            </a:endParaRPr>
          </a:p>
          <a:p>
            <a:pPr marL="0" marR="0" lvl="0" indent="0" algn="l" rtl="0">
              <a:spcBef>
                <a:spcPts val="0"/>
              </a:spcBef>
              <a:spcAft>
                <a:spcPts val="0"/>
              </a:spcAft>
              <a:buNone/>
            </a:pPr>
            <a:r>
              <a:rPr lang="en-US" sz="1400">
                <a:solidFill>
                  <a:schemeClr val="dk1"/>
                </a:solidFill>
                <a:latin typeface="Arial"/>
                <a:ea typeface="Arial"/>
                <a:cs typeface="Arial"/>
                <a:sym typeface="Arial"/>
              </a:rPr>
              <a:t>   strcpy(b, "BBBBBBBBBBBBBBBBBBBBBBBBBBBBBBBBBBBBBBBB");</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   strcpy(c, "CCCCCCCCCCCCCCCCCCCCCCCCCCCCCCCCCCCCC");</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   strcpy(a, argv[1]);</a:t>
            </a:r>
            <a:endParaRPr/>
          </a:p>
          <a:p>
            <a:pPr marL="0" marR="0" lvl="0" indent="0" algn="l" rtl="0">
              <a:spcBef>
                <a:spcPts val="0"/>
              </a:spcBef>
              <a:spcAft>
                <a:spcPts val="0"/>
              </a:spcAft>
              <a:buNone/>
            </a:pPr>
            <a:endParaRPr sz="1400">
              <a:solidFill>
                <a:schemeClr val="dk1"/>
              </a:solidFill>
              <a:latin typeface="Arial"/>
              <a:ea typeface="Arial"/>
              <a:cs typeface="Arial"/>
              <a:sym typeface="Arial"/>
            </a:endParaRPr>
          </a:p>
          <a:p>
            <a:pPr marL="0" marR="0" lvl="0" indent="0" algn="l" rtl="0">
              <a:spcBef>
                <a:spcPts val="0"/>
              </a:spcBef>
              <a:spcAft>
                <a:spcPts val="0"/>
              </a:spcAft>
              <a:buNone/>
            </a:pPr>
            <a:r>
              <a:rPr lang="en-US" sz="1400">
                <a:solidFill>
                  <a:schemeClr val="dk1"/>
                </a:solidFill>
                <a:latin typeface="Arial"/>
                <a:ea typeface="Arial"/>
                <a:cs typeface="Arial"/>
                <a:sym typeface="Arial"/>
              </a:rPr>
              <a:t>   free(a);</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   free(b);</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   free(c);</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a:t>
            </a:r>
            <a:endParaRPr/>
          </a:p>
        </p:txBody>
      </p:sp>
      <p:sp>
        <p:nvSpPr>
          <p:cNvPr id="475" name="Google Shape;475;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44</a:t>
            </a:fld>
            <a:endParaRPr sz="1400">
              <a:solidFill>
                <a:schemeClr val="dk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44"/>
          <p:cNvSpPr txBox="1">
            <a:spLocks noGrp="1"/>
          </p:cNvSpPr>
          <p:nvPr>
            <p:ph type="title"/>
          </p:nvPr>
        </p:nvSpPr>
        <p:spPr>
          <a:xfrm>
            <a:off x="1828800" y="274638"/>
            <a:ext cx="8229600" cy="7921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The heap in memory</a:t>
            </a:r>
            <a:endParaRPr/>
          </a:p>
        </p:txBody>
      </p:sp>
      <p:sp>
        <p:nvSpPr>
          <p:cNvPr id="482" name="Google Shape;482;p44"/>
          <p:cNvSpPr txBox="1"/>
          <p:nvPr/>
        </p:nvSpPr>
        <p:spPr>
          <a:xfrm>
            <a:off x="3810000" y="13716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prev_free_size=0</a:t>
            </a:r>
            <a:endParaRPr/>
          </a:p>
        </p:txBody>
      </p:sp>
      <p:sp>
        <p:nvSpPr>
          <p:cNvPr id="483" name="Google Shape;483;p44"/>
          <p:cNvSpPr txBox="1"/>
          <p:nvPr/>
        </p:nvSpPr>
        <p:spPr>
          <a:xfrm>
            <a:off x="3810000" y="17526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Size=0x88</a:t>
            </a:r>
            <a:endParaRPr/>
          </a:p>
        </p:txBody>
      </p:sp>
      <p:cxnSp>
        <p:nvCxnSpPr>
          <p:cNvPr id="484" name="Google Shape;484;p44"/>
          <p:cNvCxnSpPr/>
          <p:nvPr/>
        </p:nvCxnSpPr>
        <p:spPr>
          <a:xfrm>
            <a:off x="6324600" y="1752600"/>
            <a:ext cx="0" cy="381000"/>
          </a:xfrm>
          <a:prstGeom prst="straightConnector1">
            <a:avLst/>
          </a:prstGeom>
          <a:noFill/>
          <a:ln w="9525" cap="flat" cmpd="sng">
            <a:solidFill>
              <a:schemeClr val="dk1"/>
            </a:solidFill>
            <a:prstDash val="solid"/>
            <a:round/>
            <a:headEnd type="none" w="med" len="med"/>
            <a:tailEnd type="none" w="med" len="med"/>
          </a:ln>
        </p:spPr>
      </p:cxnSp>
      <p:sp>
        <p:nvSpPr>
          <p:cNvPr id="485" name="Google Shape;485;p44"/>
          <p:cNvSpPr txBox="1"/>
          <p:nvPr/>
        </p:nvSpPr>
        <p:spPr>
          <a:xfrm>
            <a:off x="6400800" y="1765301"/>
            <a:ext cx="4572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a:t>
            </a:r>
            <a:endParaRPr/>
          </a:p>
        </p:txBody>
      </p:sp>
      <p:sp>
        <p:nvSpPr>
          <p:cNvPr id="486" name="Google Shape;486;p44"/>
          <p:cNvSpPr txBox="1"/>
          <p:nvPr/>
        </p:nvSpPr>
        <p:spPr>
          <a:xfrm>
            <a:off x="3810000" y="2125664"/>
            <a:ext cx="2971800" cy="9223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Data (AAAAAAAAAAAAAAAAAAAAA)</a:t>
            </a:r>
            <a:endParaRPr/>
          </a:p>
        </p:txBody>
      </p:sp>
      <p:sp>
        <p:nvSpPr>
          <p:cNvPr id="487" name="Google Shape;487;p44"/>
          <p:cNvSpPr txBox="1"/>
          <p:nvPr/>
        </p:nvSpPr>
        <p:spPr>
          <a:xfrm>
            <a:off x="1752600" y="1905001"/>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*a</a:t>
            </a:r>
            <a:endParaRPr/>
          </a:p>
        </p:txBody>
      </p:sp>
      <p:cxnSp>
        <p:nvCxnSpPr>
          <p:cNvPr id="488" name="Google Shape;488;p44"/>
          <p:cNvCxnSpPr/>
          <p:nvPr/>
        </p:nvCxnSpPr>
        <p:spPr>
          <a:xfrm>
            <a:off x="2743200" y="21336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489" name="Google Shape;489;p44"/>
          <p:cNvSpPr txBox="1"/>
          <p:nvPr/>
        </p:nvSpPr>
        <p:spPr>
          <a:xfrm>
            <a:off x="3810000" y="31242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prev_free_size=0</a:t>
            </a:r>
            <a:endParaRPr/>
          </a:p>
        </p:txBody>
      </p:sp>
      <p:sp>
        <p:nvSpPr>
          <p:cNvPr id="490" name="Google Shape;490;p44"/>
          <p:cNvSpPr txBox="1"/>
          <p:nvPr/>
        </p:nvSpPr>
        <p:spPr>
          <a:xfrm>
            <a:off x="3810000" y="35052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Size=0x98</a:t>
            </a:r>
            <a:endParaRPr/>
          </a:p>
        </p:txBody>
      </p:sp>
      <p:cxnSp>
        <p:nvCxnSpPr>
          <p:cNvPr id="491" name="Google Shape;491;p44"/>
          <p:cNvCxnSpPr/>
          <p:nvPr/>
        </p:nvCxnSpPr>
        <p:spPr>
          <a:xfrm>
            <a:off x="6324600" y="3505200"/>
            <a:ext cx="0" cy="381000"/>
          </a:xfrm>
          <a:prstGeom prst="straightConnector1">
            <a:avLst/>
          </a:prstGeom>
          <a:noFill/>
          <a:ln w="9525" cap="flat" cmpd="sng">
            <a:solidFill>
              <a:schemeClr val="dk1"/>
            </a:solidFill>
            <a:prstDash val="solid"/>
            <a:round/>
            <a:headEnd type="none" w="med" len="med"/>
            <a:tailEnd type="none" w="med" len="med"/>
          </a:ln>
        </p:spPr>
      </p:cxnSp>
      <p:sp>
        <p:nvSpPr>
          <p:cNvPr id="492" name="Google Shape;492;p44"/>
          <p:cNvSpPr txBox="1"/>
          <p:nvPr/>
        </p:nvSpPr>
        <p:spPr>
          <a:xfrm>
            <a:off x="6400800" y="3517901"/>
            <a:ext cx="4572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a:t>
            </a:r>
            <a:endParaRPr/>
          </a:p>
        </p:txBody>
      </p:sp>
      <p:sp>
        <p:nvSpPr>
          <p:cNvPr id="493" name="Google Shape;493;p44"/>
          <p:cNvSpPr txBox="1"/>
          <p:nvPr/>
        </p:nvSpPr>
        <p:spPr>
          <a:xfrm>
            <a:off x="3810000" y="3878264"/>
            <a:ext cx="2971800" cy="9223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Data (BBBBBBBBBBBBBBBBBBBBBB)</a:t>
            </a:r>
            <a:endParaRPr/>
          </a:p>
        </p:txBody>
      </p:sp>
      <p:sp>
        <p:nvSpPr>
          <p:cNvPr id="494" name="Google Shape;494;p44"/>
          <p:cNvSpPr txBox="1"/>
          <p:nvPr/>
        </p:nvSpPr>
        <p:spPr>
          <a:xfrm>
            <a:off x="1752600" y="3657601"/>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*b</a:t>
            </a:r>
            <a:endParaRPr/>
          </a:p>
        </p:txBody>
      </p:sp>
      <p:cxnSp>
        <p:nvCxnSpPr>
          <p:cNvPr id="495" name="Google Shape;495;p44"/>
          <p:cNvCxnSpPr/>
          <p:nvPr/>
        </p:nvCxnSpPr>
        <p:spPr>
          <a:xfrm>
            <a:off x="2743200" y="38862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496" name="Google Shape;496;p44"/>
          <p:cNvSpPr txBox="1"/>
          <p:nvPr/>
        </p:nvSpPr>
        <p:spPr>
          <a:xfrm>
            <a:off x="3810000" y="48768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prev_free_size=0</a:t>
            </a:r>
            <a:endParaRPr/>
          </a:p>
        </p:txBody>
      </p:sp>
      <p:sp>
        <p:nvSpPr>
          <p:cNvPr id="497" name="Google Shape;497;p44"/>
          <p:cNvSpPr txBox="1"/>
          <p:nvPr/>
        </p:nvSpPr>
        <p:spPr>
          <a:xfrm>
            <a:off x="3810000" y="52578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Size=0xa8</a:t>
            </a:r>
            <a:endParaRPr/>
          </a:p>
        </p:txBody>
      </p:sp>
      <p:cxnSp>
        <p:nvCxnSpPr>
          <p:cNvPr id="498" name="Google Shape;498;p44"/>
          <p:cNvCxnSpPr/>
          <p:nvPr/>
        </p:nvCxnSpPr>
        <p:spPr>
          <a:xfrm>
            <a:off x="6324600" y="5257800"/>
            <a:ext cx="0" cy="381000"/>
          </a:xfrm>
          <a:prstGeom prst="straightConnector1">
            <a:avLst/>
          </a:prstGeom>
          <a:noFill/>
          <a:ln w="9525" cap="flat" cmpd="sng">
            <a:solidFill>
              <a:schemeClr val="dk1"/>
            </a:solidFill>
            <a:prstDash val="solid"/>
            <a:round/>
            <a:headEnd type="none" w="med" len="med"/>
            <a:tailEnd type="none" w="med" len="med"/>
          </a:ln>
        </p:spPr>
      </p:cxnSp>
      <p:sp>
        <p:nvSpPr>
          <p:cNvPr id="499" name="Google Shape;499;p44"/>
          <p:cNvSpPr txBox="1"/>
          <p:nvPr/>
        </p:nvSpPr>
        <p:spPr>
          <a:xfrm>
            <a:off x="6400800" y="5270501"/>
            <a:ext cx="4572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a:t>
            </a:r>
            <a:endParaRPr/>
          </a:p>
        </p:txBody>
      </p:sp>
      <p:sp>
        <p:nvSpPr>
          <p:cNvPr id="500" name="Google Shape;500;p44"/>
          <p:cNvSpPr txBox="1"/>
          <p:nvPr/>
        </p:nvSpPr>
        <p:spPr>
          <a:xfrm>
            <a:off x="3810000" y="5630864"/>
            <a:ext cx="2971800" cy="9223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Data (CCCCCCCCCCCCCCCCCCCCC)</a:t>
            </a:r>
            <a:endParaRPr/>
          </a:p>
        </p:txBody>
      </p:sp>
      <p:sp>
        <p:nvSpPr>
          <p:cNvPr id="501" name="Google Shape;501;p44"/>
          <p:cNvSpPr txBox="1"/>
          <p:nvPr/>
        </p:nvSpPr>
        <p:spPr>
          <a:xfrm>
            <a:off x="1752600" y="5410201"/>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*c</a:t>
            </a:r>
            <a:endParaRPr/>
          </a:p>
        </p:txBody>
      </p:sp>
      <p:cxnSp>
        <p:nvCxnSpPr>
          <p:cNvPr id="502" name="Google Shape;502;p44"/>
          <p:cNvCxnSpPr/>
          <p:nvPr/>
        </p:nvCxnSpPr>
        <p:spPr>
          <a:xfrm>
            <a:off x="2743200" y="56388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503" name="Google Shape;503;p44"/>
          <p:cNvSpPr txBox="1"/>
          <p:nvPr/>
        </p:nvSpPr>
        <p:spPr>
          <a:xfrm>
            <a:off x="7315200" y="10668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bin_forward       bin_back</a:t>
            </a:r>
            <a:endParaRPr/>
          </a:p>
        </p:txBody>
      </p:sp>
      <p:cxnSp>
        <p:nvCxnSpPr>
          <p:cNvPr id="504" name="Google Shape;504;p44"/>
          <p:cNvCxnSpPr/>
          <p:nvPr/>
        </p:nvCxnSpPr>
        <p:spPr>
          <a:xfrm>
            <a:off x="8915400" y="1066800"/>
            <a:ext cx="0" cy="381000"/>
          </a:xfrm>
          <a:prstGeom prst="straightConnector1">
            <a:avLst/>
          </a:prstGeom>
          <a:noFill/>
          <a:ln w="9525" cap="flat" cmpd="sng">
            <a:solidFill>
              <a:schemeClr val="dk1"/>
            </a:solidFill>
            <a:prstDash val="solid"/>
            <a:round/>
            <a:headEnd type="none" w="med" len="med"/>
            <a:tailEnd type="none" w="med" len="med"/>
          </a:ln>
        </p:spPr>
      </p:cxnSp>
      <p:sp>
        <p:nvSpPr>
          <p:cNvPr id="505" name="Google Shape;505;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45</a:t>
            </a:fld>
            <a:endParaRPr sz="1400">
              <a:solidFill>
                <a:schemeClr val="dk1"/>
              </a:solidFill>
              <a:latin typeface="Arial"/>
              <a:ea typeface="Arial"/>
              <a:cs typeface="Arial"/>
              <a:sym typeface="Arial"/>
            </a:endParaRPr>
          </a:p>
        </p:txBody>
      </p:sp>
      <p:sp>
        <p:nvSpPr>
          <p:cNvPr id="506" name="Google Shape;506;p44"/>
          <p:cNvSpPr txBox="1"/>
          <p:nvPr/>
        </p:nvSpPr>
        <p:spPr>
          <a:xfrm>
            <a:off x="7239000" y="2057400"/>
            <a:ext cx="1600200"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0000FF"/>
                </a:solidFill>
                <a:latin typeface="Comic Sans MS"/>
                <a:ea typeface="Comic Sans MS"/>
                <a:cs typeface="Comic Sans MS"/>
                <a:sym typeface="Comic Sans MS"/>
              </a:rPr>
              <a:t>free(a)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45"/>
          <p:cNvSpPr txBox="1">
            <a:spLocks noGrp="1"/>
          </p:cNvSpPr>
          <p:nvPr>
            <p:ph type="title"/>
          </p:nvPr>
        </p:nvSpPr>
        <p:spPr>
          <a:xfrm>
            <a:off x="1828800" y="274638"/>
            <a:ext cx="8229600" cy="7921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After free(a)</a:t>
            </a:r>
            <a:endParaRPr/>
          </a:p>
        </p:txBody>
      </p:sp>
      <p:sp>
        <p:nvSpPr>
          <p:cNvPr id="513" name="Google Shape;513;p45"/>
          <p:cNvSpPr txBox="1"/>
          <p:nvPr/>
        </p:nvSpPr>
        <p:spPr>
          <a:xfrm>
            <a:off x="3810000" y="13716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prev_free_size=0</a:t>
            </a:r>
            <a:endParaRPr/>
          </a:p>
        </p:txBody>
      </p:sp>
      <p:sp>
        <p:nvSpPr>
          <p:cNvPr id="514" name="Google Shape;514;p45"/>
          <p:cNvSpPr txBox="1"/>
          <p:nvPr/>
        </p:nvSpPr>
        <p:spPr>
          <a:xfrm>
            <a:off x="3810000" y="17526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Size=0x88</a:t>
            </a:r>
            <a:endParaRPr/>
          </a:p>
        </p:txBody>
      </p:sp>
      <p:cxnSp>
        <p:nvCxnSpPr>
          <p:cNvPr id="515" name="Google Shape;515;p45"/>
          <p:cNvCxnSpPr/>
          <p:nvPr/>
        </p:nvCxnSpPr>
        <p:spPr>
          <a:xfrm>
            <a:off x="6324600" y="1752600"/>
            <a:ext cx="0" cy="381000"/>
          </a:xfrm>
          <a:prstGeom prst="straightConnector1">
            <a:avLst/>
          </a:prstGeom>
          <a:noFill/>
          <a:ln w="9525" cap="flat" cmpd="sng">
            <a:solidFill>
              <a:schemeClr val="dk1"/>
            </a:solidFill>
            <a:prstDash val="solid"/>
            <a:round/>
            <a:headEnd type="none" w="med" len="med"/>
            <a:tailEnd type="none" w="med" len="med"/>
          </a:ln>
        </p:spPr>
      </p:cxnSp>
      <p:sp>
        <p:nvSpPr>
          <p:cNvPr id="516" name="Google Shape;516;p45"/>
          <p:cNvSpPr txBox="1"/>
          <p:nvPr/>
        </p:nvSpPr>
        <p:spPr>
          <a:xfrm>
            <a:off x="6400800" y="1765301"/>
            <a:ext cx="4572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a:t>
            </a:r>
            <a:endParaRPr/>
          </a:p>
        </p:txBody>
      </p:sp>
      <p:sp>
        <p:nvSpPr>
          <p:cNvPr id="517" name="Google Shape;517;p45"/>
          <p:cNvSpPr txBox="1"/>
          <p:nvPr/>
        </p:nvSpPr>
        <p:spPr>
          <a:xfrm>
            <a:off x="3810000" y="2125664"/>
            <a:ext cx="2971800" cy="9223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518" name="Google Shape;518;p45"/>
          <p:cNvSpPr txBox="1"/>
          <p:nvPr/>
        </p:nvSpPr>
        <p:spPr>
          <a:xfrm>
            <a:off x="1752600" y="1905001"/>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*a</a:t>
            </a:r>
            <a:endParaRPr/>
          </a:p>
        </p:txBody>
      </p:sp>
      <p:cxnSp>
        <p:nvCxnSpPr>
          <p:cNvPr id="519" name="Google Shape;519;p45"/>
          <p:cNvCxnSpPr/>
          <p:nvPr/>
        </p:nvCxnSpPr>
        <p:spPr>
          <a:xfrm>
            <a:off x="2743200" y="21336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520" name="Google Shape;520;p45"/>
          <p:cNvSpPr txBox="1"/>
          <p:nvPr/>
        </p:nvSpPr>
        <p:spPr>
          <a:xfrm>
            <a:off x="3810000" y="31242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prev_free_size=</a:t>
            </a:r>
            <a:r>
              <a:rPr lang="en-US" sz="1800">
                <a:solidFill>
                  <a:srgbClr val="FF0000"/>
                </a:solidFill>
                <a:latin typeface="Arial"/>
                <a:ea typeface="Arial"/>
                <a:cs typeface="Arial"/>
                <a:sym typeface="Arial"/>
              </a:rPr>
              <a:t>0x88</a:t>
            </a:r>
            <a:endParaRPr sz="1800">
              <a:solidFill>
                <a:schemeClr val="dk1"/>
              </a:solidFill>
              <a:latin typeface="Arial"/>
              <a:ea typeface="Arial"/>
              <a:cs typeface="Arial"/>
              <a:sym typeface="Arial"/>
            </a:endParaRPr>
          </a:p>
        </p:txBody>
      </p:sp>
      <p:sp>
        <p:nvSpPr>
          <p:cNvPr id="521" name="Google Shape;521;p45"/>
          <p:cNvSpPr txBox="1"/>
          <p:nvPr/>
        </p:nvSpPr>
        <p:spPr>
          <a:xfrm>
            <a:off x="3810000" y="35052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Size=0x98</a:t>
            </a:r>
            <a:endParaRPr/>
          </a:p>
        </p:txBody>
      </p:sp>
      <p:cxnSp>
        <p:nvCxnSpPr>
          <p:cNvPr id="522" name="Google Shape;522;p45"/>
          <p:cNvCxnSpPr/>
          <p:nvPr/>
        </p:nvCxnSpPr>
        <p:spPr>
          <a:xfrm>
            <a:off x="6324600" y="3505200"/>
            <a:ext cx="0" cy="381000"/>
          </a:xfrm>
          <a:prstGeom prst="straightConnector1">
            <a:avLst/>
          </a:prstGeom>
          <a:noFill/>
          <a:ln w="9525" cap="flat" cmpd="sng">
            <a:solidFill>
              <a:schemeClr val="dk1"/>
            </a:solidFill>
            <a:prstDash val="solid"/>
            <a:round/>
            <a:headEnd type="none" w="med" len="med"/>
            <a:tailEnd type="none" w="med" len="med"/>
          </a:ln>
        </p:spPr>
      </p:cxnSp>
      <p:sp>
        <p:nvSpPr>
          <p:cNvPr id="523" name="Google Shape;523;p45"/>
          <p:cNvSpPr txBox="1"/>
          <p:nvPr/>
        </p:nvSpPr>
        <p:spPr>
          <a:xfrm>
            <a:off x="6400800" y="3517901"/>
            <a:ext cx="4572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0</a:t>
            </a:r>
            <a:endParaRPr sz="1800">
              <a:solidFill>
                <a:schemeClr val="dk1"/>
              </a:solidFill>
              <a:latin typeface="Arial"/>
              <a:ea typeface="Arial"/>
              <a:cs typeface="Arial"/>
              <a:sym typeface="Arial"/>
            </a:endParaRPr>
          </a:p>
        </p:txBody>
      </p:sp>
      <p:sp>
        <p:nvSpPr>
          <p:cNvPr id="524" name="Google Shape;524;p45"/>
          <p:cNvSpPr txBox="1"/>
          <p:nvPr/>
        </p:nvSpPr>
        <p:spPr>
          <a:xfrm>
            <a:off x="3810000" y="3878264"/>
            <a:ext cx="2971800" cy="9223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Data (BBBBBBBBBBBBBBBBBBBBBB)</a:t>
            </a:r>
            <a:endParaRPr/>
          </a:p>
        </p:txBody>
      </p:sp>
      <p:sp>
        <p:nvSpPr>
          <p:cNvPr id="525" name="Google Shape;525;p45"/>
          <p:cNvSpPr txBox="1"/>
          <p:nvPr/>
        </p:nvSpPr>
        <p:spPr>
          <a:xfrm>
            <a:off x="1752600" y="3657601"/>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*b</a:t>
            </a:r>
            <a:endParaRPr/>
          </a:p>
        </p:txBody>
      </p:sp>
      <p:cxnSp>
        <p:nvCxnSpPr>
          <p:cNvPr id="526" name="Google Shape;526;p45"/>
          <p:cNvCxnSpPr/>
          <p:nvPr/>
        </p:nvCxnSpPr>
        <p:spPr>
          <a:xfrm>
            <a:off x="2743200" y="38862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527" name="Google Shape;527;p45"/>
          <p:cNvSpPr txBox="1"/>
          <p:nvPr/>
        </p:nvSpPr>
        <p:spPr>
          <a:xfrm>
            <a:off x="3810000" y="48768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prev_free_size=0</a:t>
            </a:r>
            <a:endParaRPr/>
          </a:p>
        </p:txBody>
      </p:sp>
      <p:sp>
        <p:nvSpPr>
          <p:cNvPr id="528" name="Google Shape;528;p45"/>
          <p:cNvSpPr txBox="1"/>
          <p:nvPr/>
        </p:nvSpPr>
        <p:spPr>
          <a:xfrm>
            <a:off x="3810000" y="52578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Size=0xa8</a:t>
            </a:r>
            <a:endParaRPr/>
          </a:p>
        </p:txBody>
      </p:sp>
      <p:cxnSp>
        <p:nvCxnSpPr>
          <p:cNvPr id="529" name="Google Shape;529;p45"/>
          <p:cNvCxnSpPr/>
          <p:nvPr/>
        </p:nvCxnSpPr>
        <p:spPr>
          <a:xfrm>
            <a:off x="6324600" y="5257800"/>
            <a:ext cx="0" cy="381000"/>
          </a:xfrm>
          <a:prstGeom prst="straightConnector1">
            <a:avLst/>
          </a:prstGeom>
          <a:noFill/>
          <a:ln w="9525" cap="flat" cmpd="sng">
            <a:solidFill>
              <a:schemeClr val="dk1"/>
            </a:solidFill>
            <a:prstDash val="solid"/>
            <a:round/>
            <a:headEnd type="none" w="med" len="med"/>
            <a:tailEnd type="none" w="med" len="med"/>
          </a:ln>
        </p:spPr>
      </p:cxnSp>
      <p:sp>
        <p:nvSpPr>
          <p:cNvPr id="530" name="Google Shape;530;p45"/>
          <p:cNvSpPr txBox="1"/>
          <p:nvPr/>
        </p:nvSpPr>
        <p:spPr>
          <a:xfrm>
            <a:off x="6400800" y="5270501"/>
            <a:ext cx="4572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a:t>
            </a:r>
            <a:endParaRPr/>
          </a:p>
        </p:txBody>
      </p:sp>
      <p:sp>
        <p:nvSpPr>
          <p:cNvPr id="531" name="Google Shape;531;p45"/>
          <p:cNvSpPr txBox="1"/>
          <p:nvPr/>
        </p:nvSpPr>
        <p:spPr>
          <a:xfrm>
            <a:off x="3810000" y="5630864"/>
            <a:ext cx="2971800" cy="9223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Data (CCCCCCCCCCCCCCCCCCCCC)</a:t>
            </a:r>
            <a:endParaRPr/>
          </a:p>
        </p:txBody>
      </p:sp>
      <p:sp>
        <p:nvSpPr>
          <p:cNvPr id="532" name="Google Shape;532;p45"/>
          <p:cNvSpPr txBox="1"/>
          <p:nvPr/>
        </p:nvSpPr>
        <p:spPr>
          <a:xfrm>
            <a:off x="1752600" y="5410201"/>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*c</a:t>
            </a:r>
            <a:endParaRPr/>
          </a:p>
        </p:txBody>
      </p:sp>
      <p:cxnSp>
        <p:nvCxnSpPr>
          <p:cNvPr id="533" name="Google Shape;533;p45"/>
          <p:cNvCxnSpPr/>
          <p:nvPr/>
        </p:nvCxnSpPr>
        <p:spPr>
          <a:xfrm>
            <a:off x="2743200" y="56388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534" name="Google Shape;534;p45"/>
          <p:cNvSpPr txBox="1"/>
          <p:nvPr/>
        </p:nvSpPr>
        <p:spPr>
          <a:xfrm>
            <a:off x="7315200" y="10668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bin_forward       bin_back</a:t>
            </a:r>
            <a:endParaRPr/>
          </a:p>
        </p:txBody>
      </p:sp>
      <p:cxnSp>
        <p:nvCxnSpPr>
          <p:cNvPr id="535" name="Google Shape;535;p45"/>
          <p:cNvCxnSpPr/>
          <p:nvPr/>
        </p:nvCxnSpPr>
        <p:spPr>
          <a:xfrm>
            <a:off x="8915400" y="1066800"/>
            <a:ext cx="0" cy="381000"/>
          </a:xfrm>
          <a:prstGeom prst="straightConnector1">
            <a:avLst/>
          </a:prstGeom>
          <a:noFill/>
          <a:ln w="9525" cap="flat" cmpd="sng">
            <a:solidFill>
              <a:schemeClr val="dk1"/>
            </a:solidFill>
            <a:prstDash val="solid"/>
            <a:round/>
            <a:headEnd type="none" w="med" len="med"/>
            <a:tailEnd type="none" w="med" len="med"/>
          </a:ln>
        </p:spPr>
      </p:cxnSp>
      <p:cxnSp>
        <p:nvCxnSpPr>
          <p:cNvPr id="536" name="Google Shape;536;p45"/>
          <p:cNvCxnSpPr>
            <a:stCxn id="534" idx="1"/>
            <a:endCxn id="513" idx="1"/>
          </p:cNvCxnSpPr>
          <p:nvPr/>
        </p:nvCxnSpPr>
        <p:spPr>
          <a:xfrm flipH="1">
            <a:off x="3810000" y="1254919"/>
            <a:ext cx="3505200" cy="304800"/>
          </a:xfrm>
          <a:prstGeom prst="bentConnector3">
            <a:avLst>
              <a:gd name="adj1" fmla="val 106523"/>
            </a:avLst>
          </a:prstGeom>
          <a:noFill/>
          <a:ln w="9525" cap="flat" cmpd="sng">
            <a:solidFill>
              <a:schemeClr val="dk1"/>
            </a:solidFill>
            <a:prstDash val="solid"/>
            <a:miter lim="800000"/>
            <a:headEnd type="none" w="med" len="med"/>
            <a:tailEnd type="triangle" w="med" len="med"/>
          </a:ln>
        </p:spPr>
      </p:cxnSp>
      <p:sp>
        <p:nvSpPr>
          <p:cNvPr id="537" name="Google Shape;537;p45"/>
          <p:cNvSpPr txBox="1"/>
          <p:nvPr/>
        </p:nvSpPr>
        <p:spPr>
          <a:xfrm>
            <a:off x="3810000" y="2138364"/>
            <a:ext cx="2971800" cy="3762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forward</a:t>
            </a:r>
            <a:endParaRPr/>
          </a:p>
        </p:txBody>
      </p:sp>
      <p:sp>
        <p:nvSpPr>
          <p:cNvPr id="538" name="Google Shape;538;p45"/>
          <p:cNvSpPr txBox="1"/>
          <p:nvPr/>
        </p:nvSpPr>
        <p:spPr>
          <a:xfrm>
            <a:off x="3810000" y="2519364"/>
            <a:ext cx="2971800" cy="3762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back</a:t>
            </a:r>
            <a:endParaRPr/>
          </a:p>
        </p:txBody>
      </p:sp>
      <p:cxnSp>
        <p:nvCxnSpPr>
          <p:cNvPr id="539" name="Google Shape;539;p45"/>
          <p:cNvCxnSpPr>
            <a:stCxn id="534" idx="3"/>
            <a:endCxn id="513" idx="3"/>
          </p:cNvCxnSpPr>
          <p:nvPr/>
        </p:nvCxnSpPr>
        <p:spPr>
          <a:xfrm flipH="1">
            <a:off x="6781800" y="1254919"/>
            <a:ext cx="3505200" cy="304800"/>
          </a:xfrm>
          <a:prstGeom prst="bentConnector3">
            <a:avLst>
              <a:gd name="adj1" fmla="val -6523"/>
            </a:avLst>
          </a:prstGeom>
          <a:noFill/>
          <a:ln w="9525" cap="flat" cmpd="sng">
            <a:solidFill>
              <a:schemeClr val="dk1"/>
            </a:solidFill>
            <a:prstDash val="solid"/>
            <a:miter lim="800000"/>
            <a:headEnd type="none" w="med" len="med"/>
            <a:tailEnd type="triangle" w="med" len="med"/>
          </a:ln>
        </p:spPr>
      </p:cxnSp>
      <p:cxnSp>
        <p:nvCxnSpPr>
          <p:cNvPr id="540" name="Google Shape;540;p45"/>
          <p:cNvCxnSpPr>
            <a:stCxn id="537" idx="3"/>
            <a:endCxn id="534" idx="0"/>
          </p:cNvCxnSpPr>
          <p:nvPr/>
        </p:nvCxnSpPr>
        <p:spPr>
          <a:xfrm rot="10800000" flipH="1">
            <a:off x="6781800" y="1066783"/>
            <a:ext cx="2019300" cy="1259700"/>
          </a:xfrm>
          <a:prstGeom prst="bentConnector4">
            <a:avLst>
              <a:gd name="adj1" fmla="val 13208"/>
              <a:gd name="adj2" fmla="val 118144"/>
            </a:avLst>
          </a:prstGeom>
          <a:noFill/>
          <a:ln w="9525" cap="flat" cmpd="sng">
            <a:solidFill>
              <a:schemeClr val="dk1"/>
            </a:solidFill>
            <a:prstDash val="solid"/>
            <a:miter lim="800000"/>
            <a:headEnd type="none" w="med" len="med"/>
            <a:tailEnd type="triangle" w="med" len="med"/>
          </a:ln>
        </p:spPr>
      </p:cxnSp>
      <p:cxnSp>
        <p:nvCxnSpPr>
          <p:cNvPr id="541" name="Google Shape;541;p45"/>
          <p:cNvCxnSpPr>
            <a:stCxn id="538" idx="3"/>
            <a:endCxn id="534" idx="2"/>
          </p:cNvCxnSpPr>
          <p:nvPr/>
        </p:nvCxnSpPr>
        <p:spPr>
          <a:xfrm rot="10800000" flipH="1">
            <a:off x="6781800" y="1442983"/>
            <a:ext cx="2019300" cy="1264500"/>
          </a:xfrm>
          <a:prstGeom prst="bentConnector2">
            <a:avLst/>
          </a:prstGeom>
          <a:noFill/>
          <a:ln w="9525" cap="flat" cmpd="sng">
            <a:solidFill>
              <a:schemeClr val="dk1"/>
            </a:solidFill>
            <a:prstDash val="solid"/>
            <a:miter lim="800000"/>
            <a:headEnd type="none" w="med" len="med"/>
            <a:tailEnd type="triangle" w="med" len="med"/>
          </a:ln>
        </p:spPr>
      </p:cxnSp>
      <p:sp>
        <p:nvSpPr>
          <p:cNvPr id="542" name="Google Shape;542;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46</a:t>
            </a:fld>
            <a:endParaRPr sz="1400">
              <a:solidFill>
                <a:schemeClr val="dk1"/>
              </a:solidFill>
              <a:latin typeface="Arial"/>
              <a:ea typeface="Arial"/>
              <a:cs typeface="Arial"/>
              <a:sym typeface="Arial"/>
            </a:endParaRPr>
          </a:p>
        </p:txBody>
      </p:sp>
      <p:sp>
        <p:nvSpPr>
          <p:cNvPr id="543" name="Google Shape;543;p45"/>
          <p:cNvSpPr txBox="1"/>
          <p:nvPr/>
        </p:nvSpPr>
        <p:spPr>
          <a:xfrm>
            <a:off x="7239000" y="2057400"/>
            <a:ext cx="1600200"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0000FF"/>
                </a:solidFill>
                <a:latin typeface="Comic Sans MS"/>
                <a:ea typeface="Comic Sans MS"/>
                <a:cs typeface="Comic Sans MS"/>
                <a:sym typeface="Comic Sans MS"/>
              </a:rPr>
              <a:t>free(a)</a:t>
            </a:r>
            <a:endParaRPr/>
          </a:p>
        </p:txBody>
      </p:sp>
      <p:sp>
        <p:nvSpPr>
          <p:cNvPr id="544" name="Google Shape;544;p45"/>
          <p:cNvSpPr txBox="1"/>
          <p:nvPr/>
        </p:nvSpPr>
        <p:spPr>
          <a:xfrm>
            <a:off x="7239000" y="3810000"/>
            <a:ext cx="1600200"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0000FF"/>
                </a:solidFill>
                <a:latin typeface="Comic Sans MS"/>
                <a:ea typeface="Comic Sans MS"/>
                <a:cs typeface="Comic Sans MS"/>
                <a:sym typeface="Comic Sans MS"/>
              </a:rPr>
              <a:t>free(b)</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46"/>
          <p:cNvSpPr txBox="1">
            <a:spLocks noGrp="1"/>
          </p:cNvSpPr>
          <p:nvPr>
            <p:ph type="title"/>
          </p:nvPr>
        </p:nvSpPr>
        <p:spPr>
          <a:xfrm>
            <a:off x="1828800" y="274638"/>
            <a:ext cx="8229600" cy="7921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After free(b)</a:t>
            </a:r>
            <a:endParaRPr/>
          </a:p>
        </p:txBody>
      </p:sp>
      <p:sp>
        <p:nvSpPr>
          <p:cNvPr id="551" name="Google Shape;551;p46"/>
          <p:cNvSpPr txBox="1"/>
          <p:nvPr/>
        </p:nvSpPr>
        <p:spPr>
          <a:xfrm>
            <a:off x="3810000" y="13716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prev_free_size=0</a:t>
            </a:r>
            <a:endParaRPr/>
          </a:p>
        </p:txBody>
      </p:sp>
      <p:sp>
        <p:nvSpPr>
          <p:cNvPr id="552" name="Google Shape;552;p46"/>
          <p:cNvSpPr txBox="1"/>
          <p:nvPr/>
        </p:nvSpPr>
        <p:spPr>
          <a:xfrm>
            <a:off x="3810000" y="17526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Size=</a:t>
            </a:r>
            <a:r>
              <a:rPr lang="en-US" sz="1800">
                <a:solidFill>
                  <a:srgbClr val="FF0000"/>
                </a:solidFill>
                <a:latin typeface="Arial"/>
                <a:ea typeface="Arial"/>
                <a:cs typeface="Arial"/>
                <a:sym typeface="Arial"/>
              </a:rPr>
              <a:t>0x120</a:t>
            </a:r>
            <a:endParaRPr sz="1800">
              <a:solidFill>
                <a:schemeClr val="dk1"/>
              </a:solidFill>
              <a:latin typeface="Arial"/>
              <a:ea typeface="Arial"/>
              <a:cs typeface="Arial"/>
              <a:sym typeface="Arial"/>
            </a:endParaRPr>
          </a:p>
        </p:txBody>
      </p:sp>
      <p:cxnSp>
        <p:nvCxnSpPr>
          <p:cNvPr id="553" name="Google Shape;553;p46"/>
          <p:cNvCxnSpPr/>
          <p:nvPr/>
        </p:nvCxnSpPr>
        <p:spPr>
          <a:xfrm>
            <a:off x="6324600" y="1752600"/>
            <a:ext cx="0" cy="381000"/>
          </a:xfrm>
          <a:prstGeom prst="straightConnector1">
            <a:avLst/>
          </a:prstGeom>
          <a:noFill/>
          <a:ln w="9525" cap="flat" cmpd="sng">
            <a:solidFill>
              <a:schemeClr val="dk1"/>
            </a:solidFill>
            <a:prstDash val="solid"/>
            <a:round/>
            <a:headEnd type="none" w="med" len="med"/>
            <a:tailEnd type="none" w="med" len="med"/>
          </a:ln>
        </p:spPr>
      </p:cxnSp>
      <p:sp>
        <p:nvSpPr>
          <p:cNvPr id="554" name="Google Shape;554;p46"/>
          <p:cNvSpPr txBox="1"/>
          <p:nvPr/>
        </p:nvSpPr>
        <p:spPr>
          <a:xfrm>
            <a:off x="6400800" y="1765301"/>
            <a:ext cx="4572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a:t>
            </a:r>
            <a:endParaRPr/>
          </a:p>
        </p:txBody>
      </p:sp>
      <p:sp>
        <p:nvSpPr>
          <p:cNvPr id="555" name="Google Shape;555;p46"/>
          <p:cNvSpPr txBox="1"/>
          <p:nvPr/>
        </p:nvSpPr>
        <p:spPr>
          <a:xfrm>
            <a:off x="3810000" y="2125664"/>
            <a:ext cx="2971800" cy="26749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556" name="Google Shape;556;p46"/>
          <p:cNvSpPr txBox="1"/>
          <p:nvPr/>
        </p:nvSpPr>
        <p:spPr>
          <a:xfrm>
            <a:off x="1752600" y="1905001"/>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*a</a:t>
            </a:r>
            <a:endParaRPr/>
          </a:p>
        </p:txBody>
      </p:sp>
      <p:cxnSp>
        <p:nvCxnSpPr>
          <p:cNvPr id="557" name="Google Shape;557;p46"/>
          <p:cNvCxnSpPr/>
          <p:nvPr/>
        </p:nvCxnSpPr>
        <p:spPr>
          <a:xfrm>
            <a:off x="2743200" y="21336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558" name="Google Shape;558;p46"/>
          <p:cNvSpPr txBox="1"/>
          <p:nvPr/>
        </p:nvSpPr>
        <p:spPr>
          <a:xfrm>
            <a:off x="1752600" y="3657601"/>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*b</a:t>
            </a:r>
            <a:endParaRPr/>
          </a:p>
        </p:txBody>
      </p:sp>
      <p:cxnSp>
        <p:nvCxnSpPr>
          <p:cNvPr id="559" name="Google Shape;559;p46"/>
          <p:cNvCxnSpPr/>
          <p:nvPr/>
        </p:nvCxnSpPr>
        <p:spPr>
          <a:xfrm>
            <a:off x="2743200" y="38862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560" name="Google Shape;560;p46"/>
          <p:cNvSpPr txBox="1"/>
          <p:nvPr/>
        </p:nvSpPr>
        <p:spPr>
          <a:xfrm>
            <a:off x="3810000" y="48768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prev_free_size=</a:t>
            </a:r>
            <a:r>
              <a:rPr lang="en-US" sz="1800">
                <a:solidFill>
                  <a:srgbClr val="FF0000"/>
                </a:solidFill>
                <a:latin typeface="Arial"/>
                <a:ea typeface="Arial"/>
                <a:cs typeface="Arial"/>
                <a:sym typeface="Arial"/>
              </a:rPr>
              <a:t>0x120</a:t>
            </a:r>
            <a:endParaRPr sz="1800">
              <a:solidFill>
                <a:schemeClr val="dk1"/>
              </a:solidFill>
              <a:latin typeface="Arial"/>
              <a:ea typeface="Arial"/>
              <a:cs typeface="Arial"/>
              <a:sym typeface="Arial"/>
            </a:endParaRPr>
          </a:p>
        </p:txBody>
      </p:sp>
      <p:sp>
        <p:nvSpPr>
          <p:cNvPr id="561" name="Google Shape;561;p46"/>
          <p:cNvSpPr txBox="1"/>
          <p:nvPr/>
        </p:nvSpPr>
        <p:spPr>
          <a:xfrm>
            <a:off x="3810000" y="52578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Size=136</a:t>
            </a:r>
            <a:endParaRPr/>
          </a:p>
        </p:txBody>
      </p:sp>
      <p:cxnSp>
        <p:nvCxnSpPr>
          <p:cNvPr id="562" name="Google Shape;562;p46"/>
          <p:cNvCxnSpPr/>
          <p:nvPr/>
        </p:nvCxnSpPr>
        <p:spPr>
          <a:xfrm>
            <a:off x="6324600" y="5257800"/>
            <a:ext cx="0" cy="381000"/>
          </a:xfrm>
          <a:prstGeom prst="straightConnector1">
            <a:avLst/>
          </a:prstGeom>
          <a:noFill/>
          <a:ln w="9525" cap="flat" cmpd="sng">
            <a:solidFill>
              <a:schemeClr val="dk1"/>
            </a:solidFill>
            <a:prstDash val="solid"/>
            <a:round/>
            <a:headEnd type="none" w="med" len="med"/>
            <a:tailEnd type="none" w="med" len="med"/>
          </a:ln>
        </p:spPr>
      </p:cxnSp>
      <p:sp>
        <p:nvSpPr>
          <p:cNvPr id="563" name="Google Shape;563;p46"/>
          <p:cNvSpPr txBox="1"/>
          <p:nvPr/>
        </p:nvSpPr>
        <p:spPr>
          <a:xfrm>
            <a:off x="6400800" y="5270501"/>
            <a:ext cx="4572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0</a:t>
            </a:r>
            <a:endParaRPr sz="1800">
              <a:solidFill>
                <a:schemeClr val="dk1"/>
              </a:solidFill>
              <a:latin typeface="Arial"/>
              <a:ea typeface="Arial"/>
              <a:cs typeface="Arial"/>
              <a:sym typeface="Arial"/>
            </a:endParaRPr>
          </a:p>
        </p:txBody>
      </p:sp>
      <p:sp>
        <p:nvSpPr>
          <p:cNvPr id="564" name="Google Shape;564;p46"/>
          <p:cNvSpPr txBox="1"/>
          <p:nvPr/>
        </p:nvSpPr>
        <p:spPr>
          <a:xfrm>
            <a:off x="3810000" y="5630864"/>
            <a:ext cx="2971800" cy="9223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Data (CCCCCCCCCCCCCCCCCCCCC)</a:t>
            </a:r>
            <a:endParaRPr/>
          </a:p>
        </p:txBody>
      </p:sp>
      <p:sp>
        <p:nvSpPr>
          <p:cNvPr id="565" name="Google Shape;565;p46"/>
          <p:cNvSpPr txBox="1"/>
          <p:nvPr/>
        </p:nvSpPr>
        <p:spPr>
          <a:xfrm>
            <a:off x="1752600" y="5410201"/>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*c</a:t>
            </a:r>
            <a:endParaRPr/>
          </a:p>
        </p:txBody>
      </p:sp>
      <p:cxnSp>
        <p:nvCxnSpPr>
          <p:cNvPr id="566" name="Google Shape;566;p46"/>
          <p:cNvCxnSpPr/>
          <p:nvPr/>
        </p:nvCxnSpPr>
        <p:spPr>
          <a:xfrm>
            <a:off x="2743200" y="56388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567" name="Google Shape;567;p46"/>
          <p:cNvSpPr txBox="1"/>
          <p:nvPr/>
        </p:nvSpPr>
        <p:spPr>
          <a:xfrm>
            <a:off x="7315200" y="10668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bin_forward       bin_back</a:t>
            </a:r>
            <a:endParaRPr/>
          </a:p>
        </p:txBody>
      </p:sp>
      <p:cxnSp>
        <p:nvCxnSpPr>
          <p:cNvPr id="568" name="Google Shape;568;p46"/>
          <p:cNvCxnSpPr/>
          <p:nvPr/>
        </p:nvCxnSpPr>
        <p:spPr>
          <a:xfrm>
            <a:off x="8915400" y="1066800"/>
            <a:ext cx="0" cy="381000"/>
          </a:xfrm>
          <a:prstGeom prst="straightConnector1">
            <a:avLst/>
          </a:prstGeom>
          <a:noFill/>
          <a:ln w="9525" cap="flat" cmpd="sng">
            <a:solidFill>
              <a:schemeClr val="dk1"/>
            </a:solidFill>
            <a:prstDash val="solid"/>
            <a:round/>
            <a:headEnd type="none" w="med" len="med"/>
            <a:tailEnd type="none" w="med" len="med"/>
          </a:ln>
        </p:spPr>
      </p:cxnSp>
      <p:cxnSp>
        <p:nvCxnSpPr>
          <p:cNvPr id="569" name="Google Shape;569;p46"/>
          <p:cNvCxnSpPr>
            <a:stCxn id="567" idx="1"/>
            <a:endCxn id="551" idx="1"/>
          </p:cNvCxnSpPr>
          <p:nvPr/>
        </p:nvCxnSpPr>
        <p:spPr>
          <a:xfrm flipH="1">
            <a:off x="3810000" y="1254919"/>
            <a:ext cx="3505200" cy="304800"/>
          </a:xfrm>
          <a:prstGeom prst="bentConnector3">
            <a:avLst>
              <a:gd name="adj1" fmla="val 106523"/>
            </a:avLst>
          </a:prstGeom>
          <a:noFill/>
          <a:ln w="9525" cap="flat" cmpd="sng">
            <a:solidFill>
              <a:schemeClr val="dk1"/>
            </a:solidFill>
            <a:prstDash val="solid"/>
            <a:miter lim="800000"/>
            <a:headEnd type="none" w="med" len="med"/>
            <a:tailEnd type="triangle" w="med" len="med"/>
          </a:ln>
        </p:spPr>
      </p:cxnSp>
      <p:sp>
        <p:nvSpPr>
          <p:cNvPr id="570" name="Google Shape;570;p46"/>
          <p:cNvSpPr txBox="1"/>
          <p:nvPr/>
        </p:nvSpPr>
        <p:spPr>
          <a:xfrm>
            <a:off x="3810000" y="2138364"/>
            <a:ext cx="2971800" cy="3762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forward</a:t>
            </a:r>
            <a:endParaRPr/>
          </a:p>
        </p:txBody>
      </p:sp>
      <p:sp>
        <p:nvSpPr>
          <p:cNvPr id="571" name="Google Shape;571;p46"/>
          <p:cNvSpPr txBox="1"/>
          <p:nvPr/>
        </p:nvSpPr>
        <p:spPr>
          <a:xfrm>
            <a:off x="3810000" y="2519364"/>
            <a:ext cx="2971800" cy="3762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back</a:t>
            </a:r>
            <a:endParaRPr/>
          </a:p>
        </p:txBody>
      </p:sp>
      <p:cxnSp>
        <p:nvCxnSpPr>
          <p:cNvPr id="572" name="Google Shape;572;p46"/>
          <p:cNvCxnSpPr>
            <a:stCxn id="567" idx="3"/>
            <a:endCxn id="551" idx="3"/>
          </p:cNvCxnSpPr>
          <p:nvPr/>
        </p:nvCxnSpPr>
        <p:spPr>
          <a:xfrm flipH="1">
            <a:off x="6781800" y="1254919"/>
            <a:ext cx="3505200" cy="304800"/>
          </a:xfrm>
          <a:prstGeom prst="bentConnector3">
            <a:avLst>
              <a:gd name="adj1" fmla="val -6523"/>
            </a:avLst>
          </a:prstGeom>
          <a:noFill/>
          <a:ln w="9525" cap="flat" cmpd="sng">
            <a:solidFill>
              <a:schemeClr val="dk1"/>
            </a:solidFill>
            <a:prstDash val="solid"/>
            <a:miter lim="800000"/>
            <a:headEnd type="none" w="med" len="med"/>
            <a:tailEnd type="triangle" w="med" len="med"/>
          </a:ln>
        </p:spPr>
      </p:cxnSp>
      <p:cxnSp>
        <p:nvCxnSpPr>
          <p:cNvPr id="573" name="Google Shape;573;p46"/>
          <p:cNvCxnSpPr>
            <a:stCxn id="570" idx="3"/>
            <a:endCxn id="567" idx="0"/>
          </p:cNvCxnSpPr>
          <p:nvPr/>
        </p:nvCxnSpPr>
        <p:spPr>
          <a:xfrm rot="10800000" flipH="1">
            <a:off x="6781800" y="1066783"/>
            <a:ext cx="2019300" cy="1259700"/>
          </a:xfrm>
          <a:prstGeom prst="bentConnector4">
            <a:avLst>
              <a:gd name="adj1" fmla="val 13208"/>
              <a:gd name="adj2" fmla="val 118144"/>
            </a:avLst>
          </a:prstGeom>
          <a:noFill/>
          <a:ln w="9525" cap="flat" cmpd="sng">
            <a:solidFill>
              <a:schemeClr val="dk1"/>
            </a:solidFill>
            <a:prstDash val="solid"/>
            <a:miter lim="800000"/>
            <a:headEnd type="none" w="med" len="med"/>
            <a:tailEnd type="triangle" w="med" len="med"/>
          </a:ln>
        </p:spPr>
      </p:cxnSp>
      <p:cxnSp>
        <p:nvCxnSpPr>
          <p:cNvPr id="574" name="Google Shape;574;p46"/>
          <p:cNvCxnSpPr>
            <a:stCxn id="571" idx="3"/>
            <a:endCxn id="567" idx="2"/>
          </p:cNvCxnSpPr>
          <p:nvPr/>
        </p:nvCxnSpPr>
        <p:spPr>
          <a:xfrm rot="10800000" flipH="1">
            <a:off x="6781800" y="1442983"/>
            <a:ext cx="2019300" cy="1264500"/>
          </a:xfrm>
          <a:prstGeom prst="bentConnector2">
            <a:avLst/>
          </a:prstGeom>
          <a:noFill/>
          <a:ln w="9525" cap="flat" cmpd="sng">
            <a:solidFill>
              <a:schemeClr val="dk1"/>
            </a:solidFill>
            <a:prstDash val="solid"/>
            <a:miter lim="800000"/>
            <a:headEnd type="none" w="med" len="med"/>
            <a:tailEnd type="triangle" w="med" len="med"/>
          </a:ln>
        </p:spPr>
      </p:cxnSp>
      <p:sp>
        <p:nvSpPr>
          <p:cNvPr id="575" name="Google Shape;575;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47</a:t>
            </a:fld>
            <a:endParaRPr sz="1400">
              <a:solidFill>
                <a:schemeClr val="dk1"/>
              </a:solidFill>
              <a:latin typeface="Arial"/>
              <a:ea typeface="Arial"/>
              <a:cs typeface="Arial"/>
              <a:sym typeface="Arial"/>
            </a:endParaRPr>
          </a:p>
        </p:txBody>
      </p:sp>
      <p:sp>
        <p:nvSpPr>
          <p:cNvPr id="576" name="Google Shape;576;p46"/>
          <p:cNvSpPr txBox="1"/>
          <p:nvPr/>
        </p:nvSpPr>
        <p:spPr>
          <a:xfrm>
            <a:off x="7239000" y="2057400"/>
            <a:ext cx="1600200"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0000FF"/>
                </a:solidFill>
                <a:latin typeface="Comic Sans MS"/>
                <a:ea typeface="Comic Sans MS"/>
                <a:cs typeface="Comic Sans MS"/>
                <a:sym typeface="Comic Sans MS"/>
              </a:rPr>
              <a:t>free(a)</a:t>
            </a:r>
            <a:endParaRPr/>
          </a:p>
        </p:txBody>
      </p:sp>
      <p:sp>
        <p:nvSpPr>
          <p:cNvPr id="577" name="Google Shape;577;p46"/>
          <p:cNvSpPr txBox="1"/>
          <p:nvPr/>
        </p:nvSpPr>
        <p:spPr>
          <a:xfrm>
            <a:off x="7239000" y="3810000"/>
            <a:ext cx="1600200"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0000FF"/>
                </a:solidFill>
                <a:latin typeface="Comic Sans MS"/>
                <a:ea typeface="Comic Sans MS"/>
                <a:cs typeface="Comic Sans MS"/>
                <a:sym typeface="Comic Sans MS"/>
              </a:rPr>
              <a:t>free(b)</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47"/>
          <p:cNvSpPr txBox="1">
            <a:spLocks noGrp="1"/>
          </p:cNvSpPr>
          <p:nvPr>
            <p:ph type="title"/>
          </p:nvPr>
        </p:nvSpPr>
        <p:spPr>
          <a:xfrm>
            <a:off x="1905000" y="-76200"/>
            <a:ext cx="8229600" cy="7921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What if “b” was freed first? </a:t>
            </a:r>
            <a:endParaRPr/>
          </a:p>
        </p:txBody>
      </p:sp>
      <p:sp>
        <p:nvSpPr>
          <p:cNvPr id="584" name="Google Shape;584;p47"/>
          <p:cNvSpPr txBox="1"/>
          <p:nvPr/>
        </p:nvSpPr>
        <p:spPr>
          <a:xfrm>
            <a:off x="3810000" y="13716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prev_free_size=0</a:t>
            </a:r>
            <a:endParaRPr/>
          </a:p>
        </p:txBody>
      </p:sp>
      <p:sp>
        <p:nvSpPr>
          <p:cNvPr id="585" name="Google Shape;585;p47"/>
          <p:cNvSpPr txBox="1"/>
          <p:nvPr/>
        </p:nvSpPr>
        <p:spPr>
          <a:xfrm>
            <a:off x="3810000" y="17526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Size=0x88</a:t>
            </a:r>
            <a:endParaRPr/>
          </a:p>
        </p:txBody>
      </p:sp>
      <p:cxnSp>
        <p:nvCxnSpPr>
          <p:cNvPr id="586" name="Google Shape;586;p47"/>
          <p:cNvCxnSpPr/>
          <p:nvPr/>
        </p:nvCxnSpPr>
        <p:spPr>
          <a:xfrm>
            <a:off x="6324600" y="1752600"/>
            <a:ext cx="0" cy="381000"/>
          </a:xfrm>
          <a:prstGeom prst="straightConnector1">
            <a:avLst/>
          </a:prstGeom>
          <a:noFill/>
          <a:ln w="9525" cap="flat" cmpd="sng">
            <a:solidFill>
              <a:schemeClr val="dk1"/>
            </a:solidFill>
            <a:prstDash val="solid"/>
            <a:round/>
            <a:headEnd type="none" w="med" len="med"/>
            <a:tailEnd type="none" w="med" len="med"/>
          </a:ln>
        </p:spPr>
      </p:cxnSp>
      <p:sp>
        <p:nvSpPr>
          <p:cNvPr id="587" name="Google Shape;587;p47"/>
          <p:cNvSpPr txBox="1"/>
          <p:nvPr/>
        </p:nvSpPr>
        <p:spPr>
          <a:xfrm>
            <a:off x="6400800" y="1765301"/>
            <a:ext cx="4572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a:t>
            </a:r>
            <a:endParaRPr/>
          </a:p>
        </p:txBody>
      </p:sp>
      <p:sp>
        <p:nvSpPr>
          <p:cNvPr id="588" name="Google Shape;588;p47"/>
          <p:cNvSpPr txBox="1"/>
          <p:nvPr/>
        </p:nvSpPr>
        <p:spPr>
          <a:xfrm>
            <a:off x="3810000" y="2125664"/>
            <a:ext cx="2971800" cy="9223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Data (AAAAAAAAAAAAAAAAAAAAA)</a:t>
            </a:r>
            <a:endParaRPr/>
          </a:p>
        </p:txBody>
      </p:sp>
      <p:sp>
        <p:nvSpPr>
          <p:cNvPr id="589" name="Google Shape;589;p47"/>
          <p:cNvSpPr txBox="1"/>
          <p:nvPr/>
        </p:nvSpPr>
        <p:spPr>
          <a:xfrm>
            <a:off x="1752600" y="1905001"/>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*a</a:t>
            </a:r>
            <a:endParaRPr/>
          </a:p>
        </p:txBody>
      </p:sp>
      <p:cxnSp>
        <p:nvCxnSpPr>
          <p:cNvPr id="590" name="Google Shape;590;p47"/>
          <p:cNvCxnSpPr/>
          <p:nvPr/>
        </p:nvCxnSpPr>
        <p:spPr>
          <a:xfrm>
            <a:off x="2743200" y="21336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591" name="Google Shape;591;p47"/>
          <p:cNvSpPr txBox="1"/>
          <p:nvPr/>
        </p:nvSpPr>
        <p:spPr>
          <a:xfrm>
            <a:off x="3810000" y="31242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prev_free_size=0</a:t>
            </a:r>
            <a:endParaRPr/>
          </a:p>
        </p:txBody>
      </p:sp>
      <p:sp>
        <p:nvSpPr>
          <p:cNvPr id="592" name="Google Shape;592;p47"/>
          <p:cNvSpPr txBox="1"/>
          <p:nvPr/>
        </p:nvSpPr>
        <p:spPr>
          <a:xfrm>
            <a:off x="3810000" y="35052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Size=0x98</a:t>
            </a:r>
            <a:endParaRPr/>
          </a:p>
        </p:txBody>
      </p:sp>
      <p:cxnSp>
        <p:nvCxnSpPr>
          <p:cNvPr id="593" name="Google Shape;593;p47"/>
          <p:cNvCxnSpPr/>
          <p:nvPr/>
        </p:nvCxnSpPr>
        <p:spPr>
          <a:xfrm>
            <a:off x="6324600" y="3505200"/>
            <a:ext cx="0" cy="381000"/>
          </a:xfrm>
          <a:prstGeom prst="straightConnector1">
            <a:avLst/>
          </a:prstGeom>
          <a:noFill/>
          <a:ln w="9525" cap="flat" cmpd="sng">
            <a:solidFill>
              <a:schemeClr val="dk1"/>
            </a:solidFill>
            <a:prstDash val="solid"/>
            <a:round/>
            <a:headEnd type="none" w="med" len="med"/>
            <a:tailEnd type="none" w="med" len="med"/>
          </a:ln>
        </p:spPr>
      </p:cxnSp>
      <p:sp>
        <p:nvSpPr>
          <p:cNvPr id="594" name="Google Shape;594;p47"/>
          <p:cNvSpPr txBox="1"/>
          <p:nvPr/>
        </p:nvSpPr>
        <p:spPr>
          <a:xfrm>
            <a:off x="6400800" y="3517901"/>
            <a:ext cx="4572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a:t>
            </a:r>
            <a:endParaRPr/>
          </a:p>
        </p:txBody>
      </p:sp>
      <p:sp>
        <p:nvSpPr>
          <p:cNvPr id="595" name="Google Shape;595;p47"/>
          <p:cNvSpPr txBox="1"/>
          <p:nvPr/>
        </p:nvSpPr>
        <p:spPr>
          <a:xfrm>
            <a:off x="3810000" y="3878264"/>
            <a:ext cx="2971800" cy="9223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596" name="Google Shape;596;p47"/>
          <p:cNvSpPr txBox="1"/>
          <p:nvPr/>
        </p:nvSpPr>
        <p:spPr>
          <a:xfrm>
            <a:off x="1752600" y="3657601"/>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*b</a:t>
            </a:r>
            <a:endParaRPr/>
          </a:p>
        </p:txBody>
      </p:sp>
      <p:cxnSp>
        <p:nvCxnSpPr>
          <p:cNvPr id="597" name="Google Shape;597;p47"/>
          <p:cNvCxnSpPr/>
          <p:nvPr/>
        </p:nvCxnSpPr>
        <p:spPr>
          <a:xfrm>
            <a:off x="2743200" y="38862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598" name="Google Shape;598;p47"/>
          <p:cNvSpPr txBox="1"/>
          <p:nvPr/>
        </p:nvSpPr>
        <p:spPr>
          <a:xfrm>
            <a:off x="3810000" y="48768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prev_free_size=</a:t>
            </a:r>
            <a:r>
              <a:rPr lang="en-US" sz="1800">
                <a:solidFill>
                  <a:srgbClr val="FF0000"/>
                </a:solidFill>
                <a:latin typeface="Arial"/>
                <a:ea typeface="Arial"/>
                <a:cs typeface="Arial"/>
                <a:sym typeface="Arial"/>
              </a:rPr>
              <a:t>0x98</a:t>
            </a:r>
            <a:endParaRPr sz="1800">
              <a:solidFill>
                <a:schemeClr val="dk1"/>
              </a:solidFill>
              <a:latin typeface="Arial"/>
              <a:ea typeface="Arial"/>
              <a:cs typeface="Arial"/>
              <a:sym typeface="Arial"/>
            </a:endParaRPr>
          </a:p>
        </p:txBody>
      </p:sp>
      <p:sp>
        <p:nvSpPr>
          <p:cNvPr id="599" name="Google Shape;599;p47"/>
          <p:cNvSpPr txBox="1"/>
          <p:nvPr/>
        </p:nvSpPr>
        <p:spPr>
          <a:xfrm>
            <a:off x="3810000" y="52578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Size=0xa8</a:t>
            </a:r>
            <a:endParaRPr/>
          </a:p>
        </p:txBody>
      </p:sp>
      <p:cxnSp>
        <p:nvCxnSpPr>
          <p:cNvPr id="600" name="Google Shape;600;p47"/>
          <p:cNvCxnSpPr/>
          <p:nvPr/>
        </p:nvCxnSpPr>
        <p:spPr>
          <a:xfrm>
            <a:off x="6324600" y="5257800"/>
            <a:ext cx="0" cy="381000"/>
          </a:xfrm>
          <a:prstGeom prst="straightConnector1">
            <a:avLst/>
          </a:prstGeom>
          <a:noFill/>
          <a:ln w="9525" cap="flat" cmpd="sng">
            <a:solidFill>
              <a:schemeClr val="dk1"/>
            </a:solidFill>
            <a:prstDash val="solid"/>
            <a:round/>
            <a:headEnd type="none" w="med" len="med"/>
            <a:tailEnd type="none" w="med" len="med"/>
          </a:ln>
        </p:spPr>
      </p:cxnSp>
      <p:sp>
        <p:nvSpPr>
          <p:cNvPr id="601" name="Google Shape;601;p47"/>
          <p:cNvSpPr txBox="1"/>
          <p:nvPr/>
        </p:nvSpPr>
        <p:spPr>
          <a:xfrm>
            <a:off x="6400800" y="5270501"/>
            <a:ext cx="4572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0</a:t>
            </a:r>
            <a:endParaRPr sz="1800">
              <a:solidFill>
                <a:schemeClr val="dk1"/>
              </a:solidFill>
              <a:latin typeface="Arial"/>
              <a:ea typeface="Arial"/>
              <a:cs typeface="Arial"/>
              <a:sym typeface="Arial"/>
            </a:endParaRPr>
          </a:p>
        </p:txBody>
      </p:sp>
      <p:sp>
        <p:nvSpPr>
          <p:cNvPr id="602" name="Google Shape;602;p47"/>
          <p:cNvSpPr txBox="1"/>
          <p:nvPr/>
        </p:nvSpPr>
        <p:spPr>
          <a:xfrm>
            <a:off x="3810000" y="5630864"/>
            <a:ext cx="2971800" cy="9223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Data (CCCCCCCCCCCCCCCCCCCCC)</a:t>
            </a:r>
            <a:endParaRPr/>
          </a:p>
        </p:txBody>
      </p:sp>
      <p:sp>
        <p:nvSpPr>
          <p:cNvPr id="603" name="Google Shape;603;p47"/>
          <p:cNvSpPr txBox="1"/>
          <p:nvPr/>
        </p:nvSpPr>
        <p:spPr>
          <a:xfrm>
            <a:off x="1752600" y="5410201"/>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*c</a:t>
            </a:r>
            <a:endParaRPr/>
          </a:p>
        </p:txBody>
      </p:sp>
      <p:cxnSp>
        <p:nvCxnSpPr>
          <p:cNvPr id="604" name="Google Shape;604;p47"/>
          <p:cNvCxnSpPr/>
          <p:nvPr/>
        </p:nvCxnSpPr>
        <p:spPr>
          <a:xfrm>
            <a:off x="2743200" y="56388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605" name="Google Shape;605;p47"/>
          <p:cNvSpPr txBox="1"/>
          <p:nvPr/>
        </p:nvSpPr>
        <p:spPr>
          <a:xfrm>
            <a:off x="7315200" y="10668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bin_forward       bin_back</a:t>
            </a:r>
            <a:endParaRPr/>
          </a:p>
        </p:txBody>
      </p:sp>
      <p:cxnSp>
        <p:nvCxnSpPr>
          <p:cNvPr id="606" name="Google Shape;606;p47"/>
          <p:cNvCxnSpPr/>
          <p:nvPr/>
        </p:nvCxnSpPr>
        <p:spPr>
          <a:xfrm>
            <a:off x="8915400" y="1066800"/>
            <a:ext cx="0" cy="381000"/>
          </a:xfrm>
          <a:prstGeom prst="straightConnector1">
            <a:avLst/>
          </a:prstGeom>
          <a:noFill/>
          <a:ln w="9525" cap="flat" cmpd="sng">
            <a:solidFill>
              <a:schemeClr val="dk1"/>
            </a:solidFill>
            <a:prstDash val="solid"/>
            <a:round/>
            <a:headEnd type="none" w="med" len="med"/>
            <a:tailEnd type="none" w="med" len="med"/>
          </a:ln>
        </p:spPr>
      </p:cxnSp>
      <p:sp>
        <p:nvSpPr>
          <p:cNvPr id="607" name="Google Shape;607;p47"/>
          <p:cNvSpPr txBox="1"/>
          <p:nvPr/>
        </p:nvSpPr>
        <p:spPr>
          <a:xfrm>
            <a:off x="3810000" y="38862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forward</a:t>
            </a:r>
            <a:endParaRPr/>
          </a:p>
        </p:txBody>
      </p:sp>
      <p:sp>
        <p:nvSpPr>
          <p:cNvPr id="608" name="Google Shape;608;p47"/>
          <p:cNvSpPr txBox="1"/>
          <p:nvPr/>
        </p:nvSpPr>
        <p:spPr>
          <a:xfrm>
            <a:off x="3810000" y="42672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back</a:t>
            </a:r>
            <a:endParaRPr/>
          </a:p>
        </p:txBody>
      </p:sp>
      <p:cxnSp>
        <p:nvCxnSpPr>
          <p:cNvPr id="609" name="Google Shape;609;p47"/>
          <p:cNvCxnSpPr>
            <a:stCxn id="605" idx="1"/>
            <a:endCxn id="591" idx="1"/>
          </p:cNvCxnSpPr>
          <p:nvPr/>
        </p:nvCxnSpPr>
        <p:spPr>
          <a:xfrm flipH="1">
            <a:off x="3810000" y="1254919"/>
            <a:ext cx="3505200" cy="2057400"/>
          </a:xfrm>
          <a:prstGeom prst="bentConnector3">
            <a:avLst>
              <a:gd name="adj1" fmla="val 106523"/>
            </a:avLst>
          </a:prstGeom>
          <a:noFill/>
          <a:ln w="9525" cap="flat" cmpd="sng">
            <a:solidFill>
              <a:schemeClr val="dk1"/>
            </a:solidFill>
            <a:prstDash val="solid"/>
            <a:miter lim="800000"/>
            <a:headEnd type="none" w="med" len="med"/>
            <a:tailEnd type="triangle" w="med" len="med"/>
          </a:ln>
        </p:spPr>
      </p:cxnSp>
      <p:cxnSp>
        <p:nvCxnSpPr>
          <p:cNvPr id="610" name="Google Shape;610;p47"/>
          <p:cNvCxnSpPr>
            <a:stCxn id="605" idx="3"/>
            <a:endCxn id="591" idx="3"/>
          </p:cNvCxnSpPr>
          <p:nvPr/>
        </p:nvCxnSpPr>
        <p:spPr>
          <a:xfrm flipH="1">
            <a:off x="6781800" y="1254919"/>
            <a:ext cx="3505200" cy="2057400"/>
          </a:xfrm>
          <a:prstGeom prst="bentConnector3">
            <a:avLst>
              <a:gd name="adj1" fmla="val -6523"/>
            </a:avLst>
          </a:prstGeom>
          <a:noFill/>
          <a:ln w="9525" cap="flat" cmpd="sng">
            <a:solidFill>
              <a:schemeClr val="dk1"/>
            </a:solidFill>
            <a:prstDash val="solid"/>
            <a:miter lim="800000"/>
            <a:headEnd type="none" w="med" len="med"/>
            <a:tailEnd type="triangle" w="med" len="med"/>
          </a:ln>
        </p:spPr>
      </p:cxnSp>
      <p:cxnSp>
        <p:nvCxnSpPr>
          <p:cNvPr id="611" name="Google Shape;611;p47"/>
          <p:cNvCxnSpPr>
            <a:stCxn id="607" idx="3"/>
            <a:endCxn id="605" idx="0"/>
          </p:cNvCxnSpPr>
          <p:nvPr/>
        </p:nvCxnSpPr>
        <p:spPr>
          <a:xfrm rot="10800000" flipH="1">
            <a:off x="6781800" y="1066819"/>
            <a:ext cx="2019300" cy="3007500"/>
          </a:xfrm>
          <a:prstGeom prst="bentConnector4">
            <a:avLst>
              <a:gd name="adj1" fmla="val 13208"/>
              <a:gd name="adj2" fmla="val 107600"/>
            </a:avLst>
          </a:prstGeom>
          <a:noFill/>
          <a:ln w="9525" cap="flat" cmpd="sng">
            <a:solidFill>
              <a:schemeClr val="dk1"/>
            </a:solidFill>
            <a:prstDash val="solid"/>
            <a:miter lim="800000"/>
            <a:headEnd type="none" w="med" len="med"/>
            <a:tailEnd type="triangle" w="med" len="med"/>
          </a:ln>
        </p:spPr>
      </p:cxnSp>
      <p:cxnSp>
        <p:nvCxnSpPr>
          <p:cNvPr id="612" name="Google Shape;612;p47"/>
          <p:cNvCxnSpPr>
            <a:stCxn id="608" idx="3"/>
            <a:endCxn id="605" idx="2"/>
          </p:cNvCxnSpPr>
          <p:nvPr/>
        </p:nvCxnSpPr>
        <p:spPr>
          <a:xfrm rot="10800000" flipH="1">
            <a:off x="6781800" y="1443019"/>
            <a:ext cx="2019300" cy="3012300"/>
          </a:xfrm>
          <a:prstGeom prst="bentConnector2">
            <a:avLst/>
          </a:prstGeom>
          <a:noFill/>
          <a:ln w="9525" cap="flat" cmpd="sng">
            <a:solidFill>
              <a:schemeClr val="dk1"/>
            </a:solidFill>
            <a:prstDash val="solid"/>
            <a:miter lim="800000"/>
            <a:headEnd type="none" w="med" len="med"/>
            <a:tailEnd type="triangle" w="med" len="med"/>
          </a:ln>
        </p:spPr>
      </p:cxnSp>
      <p:sp>
        <p:nvSpPr>
          <p:cNvPr id="613" name="Google Shape;613;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48</a:t>
            </a:fld>
            <a:endParaRPr sz="1400">
              <a:solidFill>
                <a:schemeClr val="dk1"/>
              </a:solidFill>
              <a:latin typeface="Arial"/>
              <a:ea typeface="Arial"/>
              <a:cs typeface="Arial"/>
              <a:sym typeface="Arial"/>
            </a:endParaRPr>
          </a:p>
        </p:txBody>
      </p:sp>
      <p:sp>
        <p:nvSpPr>
          <p:cNvPr id="614" name="Google Shape;614;p47"/>
          <p:cNvSpPr txBox="1"/>
          <p:nvPr/>
        </p:nvSpPr>
        <p:spPr>
          <a:xfrm>
            <a:off x="7239000" y="3810000"/>
            <a:ext cx="1600200"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0000FF"/>
                </a:solidFill>
                <a:latin typeface="Comic Sans MS"/>
                <a:ea typeface="Comic Sans MS"/>
                <a:cs typeface="Comic Sans MS"/>
                <a:sym typeface="Comic Sans MS"/>
              </a:rPr>
              <a:t>free(b)</a:t>
            </a:r>
            <a:endParaRPr/>
          </a:p>
        </p:txBody>
      </p:sp>
      <p:sp>
        <p:nvSpPr>
          <p:cNvPr id="615" name="Google Shape;615;p47"/>
          <p:cNvSpPr txBox="1"/>
          <p:nvPr/>
        </p:nvSpPr>
        <p:spPr>
          <a:xfrm>
            <a:off x="7239000" y="2057400"/>
            <a:ext cx="1600200"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0000FF"/>
                </a:solidFill>
                <a:latin typeface="Comic Sans MS"/>
                <a:ea typeface="Comic Sans MS"/>
                <a:cs typeface="Comic Sans MS"/>
                <a:sym typeface="Comic Sans MS"/>
              </a:rPr>
              <a:t>free(a)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48"/>
          <p:cNvSpPr txBox="1">
            <a:spLocks noGrp="1"/>
          </p:cNvSpPr>
          <p:nvPr>
            <p:ph type="title"/>
          </p:nvPr>
        </p:nvSpPr>
        <p:spPr>
          <a:xfrm>
            <a:off x="1828800" y="1"/>
            <a:ext cx="8229600" cy="7921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Then “a” was freed</a:t>
            </a:r>
            <a:endParaRPr/>
          </a:p>
        </p:txBody>
      </p:sp>
      <p:sp>
        <p:nvSpPr>
          <p:cNvPr id="622" name="Google Shape;622;p48"/>
          <p:cNvSpPr txBox="1"/>
          <p:nvPr/>
        </p:nvSpPr>
        <p:spPr>
          <a:xfrm>
            <a:off x="3810000" y="13716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prev_free_size=0</a:t>
            </a:r>
            <a:endParaRPr/>
          </a:p>
        </p:txBody>
      </p:sp>
      <p:sp>
        <p:nvSpPr>
          <p:cNvPr id="623" name="Google Shape;623;p48"/>
          <p:cNvSpPr txBox="1"/>
          <p:nvPr/>
        </p:nvSpPr>
        <p:spPr>
          <a:xfrm>
            <a:off x="3810000" y="17526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Size=</a:t>
            </a:r>
            <a:r>
              <a:rPr lang="en-US" sz="1800">
                <a:solidFill>
                  <a:srgbClr val="FF0000"/>
                </a:solidFill>
                <a:latin typeface="Arial"/>
                <a:ea typeface="Arial"/>
                <a:cs typeface="Arial"/>
                <a:sym typeface="Arial"/>
              </a:rPr>
              <a:t>0x120</a:t>
            </a:r>
            <a:endParaRPr sz="1800">
              <a:solidFill>
                <a:schemeClr val="dk1"/>
              </a:solidFill>
              <a:latin typeface="Arial"/>
              <a:ea typeface="Arial"/>
              <a:cs typeface="Arial"/>
              <a:sym typeface="Arial"/>
            </a:endParaRPr>
          </a:p>
        </p:txBody>
      </p:sp>
      <p:cxnSp>
        <p:nvCxnSpPr>
          <p:cNvPr id="624" name="Google Shape;624;p48"/>
          <p:cNvCxnSpPr/>
          <p:nvPr/>
        </p:nvCxnSpPr>
        <p:spPr>
          <a:xfrm>
            <a:off x="6324600" y="1752600"/>
            <a:ext cx="0" cy="381000"/>
          </a:xfrm>
          <a:prstGeom prst="straightConnector1">
            <a:avLst/>
          </a:prstGeom>
          <a:noFill/>
          <a:ln w="9525" cap="flat" cmpd="sng">
            <a:solidFill>
              <a:schemeClr val="dk1"/>
            </a:solidFill>
            <a:prstDash val="solid"/>
            <a:round/>
            <a:headEnd type="none" w="med" len="med"/>
            <a:tailEnd type="none" w="med" len="med"/>
          </a:ln>
        </p:spPr>
      </p:cxnSp>
      <p:sp>
        <p:nvSpPr>
          <p:cNvPr id="625" name="Google Shape;625;p48"/>
          <p:cNvSpPr txBox="1"/>
          <p:nvPr/>
        </p:nvSpPr>
        <p:spPr>
          <a:xfrm>
            <a:off x="6400800" y="1765301"/>
            <a:ext cx="4572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a:t>
            </a:r>
            <a:endParaRPr/>
          </a:p>
        </p:txBody>
      </p:sp>
      <p:sp>
        <p:nvSpPr>
          <p:cNvPr id="626" name="Google Shape;626;p48"/>
          <p:cNvSpPr txBox="1"/>
          <p:nvPr/>
        </p:nvSpPr>
        <p:spPr>
          <a:xfrm>
            <a:off x="3810000" y="2125664"/>
            <a:ext cx="2971800" cy="26749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627" name="Google Shape;627;p48"/>
          <p:cNvSpPr txBox="1"/>
          <p:nvPr/>
        </p:nvSpPr>
        <p:spPr>
          <a:xfrm>
            <a:off x="1752600" y="1905001"/>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*a</a:t>
            </a:r>
            <a:endParaRPr/>
          </a:p>
        </p:txBody>
      </p:sp>
      <p:cxnSp>
        <p:nvCxnSpPr>
          <p:cNvPr id="628" name="Google Shape;628;p48"/>
          <p:cNvCxnSpPr/>
          <p:nvPr/>
        </p:nvCxnSpPr>
        <p:spPr>
          <a:xfrm>
            <a:off x="2743200" y="21336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629" name="Google Shape;629;p48"/>
          <p:cNvSpPr txBox="1"/>
          <p:nvPr/>
        </p:nvSpPr>
        <p:spPr>
          <a:xfrm>
            <a:off x="1752600" y="3657601"/>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*b</a:t>
            </a:r>
            <a:endParaRPr/>
          </a:p>
        </p:txBody>
      </p:sp>
      <p:cxnSp>
        <p:nvCxnSpPr>
          <p:cNvPr id="630" name="Google Shape;630;p48"/>
          <p:cNvCxnSpPr/>
          <p:nvPr/>
        </p:nvCxnSpPr>
        <p:spPr>
          <a:xfrm>
            <a:off x="2743200" y="38862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631" name="Google Shape;631;p48"/>
          <p:cNvSpPr txBox="1"/>
          <p:nvPr/>
        </p:nvSpPr>
        <p:spPr>
          <a:xfrm>
            <a:off x="3810000" y="48768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prev_free_size=</a:t>
            </a:r>
            <a:r>
              <a:rPr lang="en-US" sz="1800">
                <a:solidFill>
                  <a:srgbClr val="FF0000"/>
                </a:solidFill>
                <a:latin typeface="Arial"/>
                <a:ea typeface="Arial"/>
                <a:cs typeface="Arial"/>
                <a:sym typeface="Arial"/>
              </a:rPr>
              <a:t>0x120</a:t>
            </a:r>
            <a:endParaRPr sz="1800">
              <a:solidFill>
                <a:schemeClr val="dk1"/>
              </a:solidFill>
              <a:latin typeface="Arial"/>
              <a:ea typeface="Arial"/>
              <a:cs typeface="Arial"/>
              <a:sym typeface="Arial"/>
            </a:endParaRPr>
          </a:p>
        </p:txBody>
      </p:sp>
      <p:sp>
        <p:nvSpPr>
          <p:cNvPr id="632" name="Google Shape;632;p48"/>
          <p:cNvSpPr txBox="1"/>
          <p:nvPr/>
        </p:nvSpPr>
        <p:spPr>
          <a:xfrm>
            <a:off x="3810000" y="52578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Size=0xa8</a:t>
            </a:r>
            <a:endParaRPr/>
          </a:p>
        </p:txBody>
      </p:sp>
      <p:cxnSp>
        <p:nvCxnSpPr>
          <p:cNvPr id="633" name="Google Shape;633;p48"/>
          <p:cNvCxnSpPr/>
          <p:nvPr/>
        </p:nvCxnSpPr>
        <p:spPr>
          <a:xfrm>
            <a:off x="6324600" y="5257800"/>
            <a:ext cx="0" cy="381000"/>
          </a:xfrm>
          <a:prstGeom prst="straightConnector1">
            <a:avLst/>
          </a:prstGeom>
          <a:noFill/>
          <a:ln w="9525" cap="flat" cmpd="sng">
            <a:solidFill>
              <a:schemeClr val="dk1"/>
            </a:solidFill>
            <a:prstDash val="solid"/>
            <a:round/>
            <a:headEnd type="none" w="med" len="med"/>
            <a:tailEnd type="none" w="med" len="med"/>
          </a:ln>
        </p:spPr>
      </p:cxnSp>
      <p:sp>
        <p:nvSpPr>
          <p:cNvPr id="634" name="Google Shape;634;p48"/>
          <p:cNvSpPr txBox="1"/>
          <p:nvPr/>
        </p:nvSpPr>
        <p:spPr>
          <a:xfrm>
            <a:off x="6400800" y="5270501"/>
            <a:ext cx="4572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0</a:t>
            </a:r>
            <a:endParaRPr sz="1800">
              <a:solidFill>
                <a:schemeClr val="dk1"/>
              </a:solidFill>
              <a:latin typeface="Arial"/>
              <a:ea typeface="Arial"/>
              <a:cs typeface="Arial"/>
              <a:sym typeface="Arial"/>
            </a:endParaRPr>
          </a:p>
        </p:txBody>
      </p:sp>
      <p:sp>
        <p:nvSpPr>
          <p:cNvPr id="635" name="Google Shape;635;p48"/>
          <p:cNvSpPr txBox="1"/>
          <p:nvPr/>
        </p:nvSpPr>
        <p:spPr>
          <a:xfrm>
            <a:off x="3810000" y="5630864"/>
            <a:ext cx="2971800" cy="9223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Data (CCCCCCCCCCCCCCCCCCCCC)</a:t>
            </a:r>
            <a:endParaRPr/>
          </a:p>
        </p:txBody>
      </p:sp>
      <p:sp>
        <p:nvSpPr>
          <p:cNvPr id="636" name="Google Shape;636;p48"/>
          <p:cNvSpPr txBox="1"/>
          <p:nvPr/>
        </p:nvSpPr>
        <p:spPr>
          <a:xfrm>
            <a:off x="1752600" y="5410201"/>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*c</a:t>
            </a:r>
            <a:endParaRPr/>
          </a:p>
        </p:txBody>
      </p:sp>
      <p:cxnSp>
        <p:nvCxnSpPr>
          <p:cNvPr id="637" name="Google Shape;637;p48"/>
          <p:cNvCxnSpPr/>
          <p:nvPr/>
        </p:nvCxnSpPr>
        <p:spPr>
          <a:xfrm>
            <a:off x="2743200" y="56388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638" name="Google Shape;638;p48"/>
          <p:cNvSpPr txBox="1"/>
          <p:nvPr/>
        </p:nvSpPr>
        <p:spPr>
          <a:xfrm>
            <a:off x="7315200" y="10668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bin_forward       bin_back</a:t>
            </a:r>
            <a:endParaRPr/>
          </a:p>
        </p:txBody>
      </p:sp>
      <p:cxnSp>
        <p:nvCxnSpPr>
          <p:cNvPr id="639" name="Google Shape;639;p48"/>
          <p:cNvCxnSpPr/>
          <p:nvPr/>
        </p:nvCxnSpPr>
        <p:spPr>
          <a:xfrm>
            <a:off x="8915400" y="1066800"/>
            <a:ext cx="0" cy="381000"/>
          </a:xfrm>
          <a:prstGeom prst="straightConnector1">
            <a:avLst/>
          </a:prstGeom>
          <a:noFill/>
          <a:ln w="9525" cap="flat" cmpd="sng">
            <a:solidFill>
              <a:schemeClr val="dk1"/>
            </a:solidFill>
            <a:prstDash val="solid"/>
            <a:round/>
            <a:headEnd type="none" w="med" len="med"/>
            <a:tailEnd type="none" w="med" len="med"/>
          </a:ln>
        </p:spPr>
      </p:cxnSp>
      <p:cxnSp>
        <p:nvCxnSpPr>
          <p:cNvPr id="640" name="Google Shape;640;p48"/>
          <p:cNvCxnSpPr>
            <a:stCxn id="638" idx="1"/>
            <a:endCxn id="622" idx="1"/>
          </p:cNvCxnSpPr>
          <p:nvPr/>
        </p:nvCxnSpPr>
        <p:spPr>
          <a:xfrm flipH="1">
            <a:off x="3810000" y="1254919"/>
            <a:ext cx="3505200" cy="304800"/>
          </a:xfrm>
          <a:prstGeom prst="bentConnector3">
            <a:avLst>
              <a:gd name="adj1" fmla="val 106523"/>
            </a:avLst>
          </a:prstGeom>
          <a:noFill/>
          <a:ln w="9525" cap="flat" cmpd="sng">
            <a:solidFill>
              <a:schemeClr val="dk1"/>
            </a:solidFill>
            <a:prstDash val="solid"/>
            <a:miter lim="800000"/>
            <a:headEnd type="none" w="med" len="med"/>
            <a:tailEnd type="triangle" w="med" len="med"/>
          </a:ln>
        </p:spPr>
      </p:cxnSp>
      <p:sp>
        <p:nvSpPr>
          <p:cNvPr id="641" name="Google Shape;641;p48"/>
          <p:cNvSpPr txBox="1"/>
          <p:nvPr/>
        </p:nvSpPr>
        <p:spPr>
          <a:xfrm>
            <a:off x="3810000" y="2138364"/>
            <a:ext cx="2971800" cy="3762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forward</a:t>
            </a:r>
            <a:endParaRPr/>
          </a:p>
        </p:txBody>
      </p:sp>
      <p:sp>
        <p:nvSpPr>
          <p:cNvPr id="642" name="Google Shape;642;p48"/>
          <p:cNvSpPr txBox="1"/>
          <p:nvPr/>
        </p:nvSpPr>
        <p:spPr>
          <a:xfrm>
            <a:off x="3810000" y="2519364"/>
            <a:ext cx="2971800" cy="3762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back</a:t>
            </a:r>
            <a:endParaRPr/>
          </a:p>
        </p:txBody>
      </p:sp>
      <p:cxnSp>
        <p:nvCxnSpPr>
          <p:cNvPr id="643" name="Google Shape;643;p48"/>
          <p:cNvCxnSpPr>
            <a:stCxn id="638" idx="3"/>
            <a:endCxn id="622" idx="3"/>
          </p:cNvCxnSpPr>
          <p:nvPr/>
        </p:nvCxnSpPr>
        <p:spPr>
          <a:xfrm flipH="1">
            <a:off x="6781800" y="1254919"/>
            <a:ext cx="3505200" cy="304800"/>
          </a:xfrm>
          <a:prstGeom prst="bentConnector3">
            <a:avLst>
              <a:gd name="adj1" fmla="val -6523"/>
            </a:avLst>
          </a:prstGeom>
          <a:noFill/>
          <a:ln w="9525" cap="flat" cmpd="sng">
            <a:solidFill>
              <a:schemeClr val="dk1"/>
            </a:solidFill>
            <a:prstDash val="solid"/>
            <a:miter lim="800000"/>
            <a:headEnd type="none" w="med" len="med"/>
            <a:tailEnd type="triangle" w="med" len="med"/>
          </a:ln>
        </p:spPr>
      </p:cxnSp>
      <p:cxnSp>
        <p:nvCxnSpPr>
          <p:cNvPr id="644" name="Google Shape;644;p48"/>
          <p:cNvCxnSpPr>
            <a:stCxn id="641" idx="3"/>
            <a:endCxn id="638" idx="0"/>
          </p:cNvCxnSpPr>
          <p:nvPr/>
        </p:nvCxnSpPr>
        <p:spPr>
          <a:xfrm rot="10800000" flipH="1">
            <a:off x="6781800" y="1066783"/>
            <a:ext cx="2019300" cy="1259700"/>
          </a:xfrm>
          <a:prstGeom prst="bentConnector4">
            <a:avLst>
              <a:gd name="adj1" fmla="val 13208"/>
              <a:gd name="adj2" fmla="val 118144"/>
            </a:avLst>
          </a:prstGeom>
          <a:noFill/>
          <a:ln w="9525" cap="flat" cmpd="sng">
            <a:solidFill>
              <a:schemeClr val="dk1"/>
            </a:solidFill>
            <a:prstDash val="solid"/>
            <a:miter lim="800000"/>
            <a:headEnd type="none" w="med" len="med"/>
            <a:tailEnd type="triangle" w="med" len="med"/>
          </a:ln>
        </p:spPr>
      </p:cxnSp>
      <p:cxnSp>
        <p:nvCxnSpPr>
          <p:cNvPr id="645" name="Google Shape;645;p48"/>
          <p:cNvCxnSpPr>
            <a:stCxn id="642" idx="3"/>
            <a:endCxn id="638" idx="2"/>
          </p:cNvCxnSpPr>
          <p:nvPr/>
        </p:nvCxnSpPr>
        <p:spPr>
          <a:xfrm rot="10800000" flipH="1">
            <a:off x="6781800" y="1442983"/>
            <a:ext cx="2019300" cy="1264500"/>
          </a:xfrm>
          <a:prstGeom prst="bentConnector2">
            <a:avLst/>
          </a:prstGeom>
          <a:noFill/>
          <a:ln w="9525" cap="flat" cmpd="sng">
            <a:solidFill>
              <a:schemeClr val="dk1"/>
            </a:solidFill>
            <a:prstDash val="solid"/>
            <a:miter lim="800000"/>
            <a:headEnd type="none" w="med" len="med"/>
            <a:tailEnd type="triangle" w="med" len="med"/>
          </a:ln>
        </p:spPr>
      </p:cxnSp>
      <p:sp>
        <p:nvSpPr>
          <p:cNvPr id="646" name="Google Shape;646;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49</a:t>
            </a:fld>
            <a:endParaRPr sz="1400">
              <a:solidFill>
                <a:schemeClr val="dk1"/>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Key Observation</a:t>
            </a:r>
            <a:endParaRPr/>
          </a:p>
        </p:txBody>
      </p:sp>
      <p:sp>
        <p:nvSpPr>
          <p:cNvPr id="652" name="Google Shape;652;p4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When the chunk (A) to be free’ed is followed by a free chunk (B), chunk B will be unlinked from the free list, and A will be inserted into the free list.</a:t>
            </a:r>
            <a:endParaRPr/>
          </a:p>
          <a:p>
            <a:pPr marL="228600" lvl="0" indent="-228600" algn="l" rtl="0">
              <a:lnSpc>
                <a:spcPct val="90000"/>
              </a:lnSpc>
              <a:spcBef>
                <a:spcPts val="1000"/>
              </a:spcBef>
              <a:spcAft>
                <a:spcPts val="0"/>
              </a:spcAft>
              <a:buClr>
                <a:schemeClr val="dk1"/>
              </a:buClr>
              <a:buSzPts val="2800"/>
              <a:buChar char="•"/>
            </a:pPr>
            <a:r>
              <a:rPr lang="en-US"/>
              <a:t>If the heap meta data in B has been corrupted, the unlink operation will be dangerous.</a:t>
            </a:r>
            <a:endParaRPr/>
          </a:p>
          <a:p>
            <a:pPr marL="685800" lvl="1" indent="-228600" algn="l" rtl="0">
              <a:lnSpc>
                <a:spcPct val="90000"/>
              </a:lnSpc>
              <a:spcBef>
                <a:spcPts val="500"/>
              </a:spcBef>
              <a:spcAft>
                <a:spcPts val="0"/>
              </a:spcAft>
              <a:buClr>
                <a:schemeClr val="dk1"/>
              </a:buClr>
              <a:buSzPts val="2400"/>
              <a:buChar char="•"/>
            </a:pPr>
            <a:r>
              <a:rPr lang="en-US"/>
              <a:t>Why?</a:t>
            </a:r>
            <a:endParaRPr/>
          </a:p>
        </p:txBody>
      </p:sp>
      <p:sp>
        <p:nvSpPr>
          <p:cNvPr id="653" name="Google Shape;653;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50</a:t>
            </a:fld>
            <a:endParaRPr sz="1400">
              <a:solidFill>
                <a:schemeClr val="dk1"/>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Remove a chunk from the double-linked free list</a:t>
            </a:r>
            <a:endParaRPr/>
          </a:p>
        </p:txBody>
      </p:sp>
      <p:sp>
        <p:nvSpPr>
          <p:cNvPr id="660" name="Google Shape;660;p50"/>
          <p:cNvSpPr txBox="1">
            <a:spLocks noGrp="1"/>
          </p:cNvSpPr>
          <p:nvPr>
            <p:ph type="body" idx="1"/>
          </p:nvPr>
        </p:nvSpPr>
        <p:spPr>
          <a:xfrm>
            <a:off x="1905000" y="1676401"/>
            <a:ext cx="8229600" cy="45259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unlink(P)</a:t>
            </a:r>
            <a:endParaRPr/>
          </a:p>
          <a:p>
            <a:pPr marL="228600" lvl="0" indent="-228600" algn="l" rtl="0">
              <a:lnSpc>
                <a:spcPct val="90000"/>
              </a:lnSpc>
              <a:spcBef>
                <a:spcPts val="1000"/>
              </a:spcBef>
              <a:spcAft>
                <a:spcPts val="0"/>
              </a:spcAft>
              <a:buClr>
                <a:schemeClr val="dk1"/>
              </a:buClr>
              <a:buSzPts val="2800"/>
              <a:buFont typeface="Calibri"/>
              <a:buNone/>
            </a:pPr>
            <a:r>
              <a:rPr lang="en-US"/>
              <a:t>           P-&gt;fd-&gt;bk = P-&gt;bk;</a:t>
            </a:r>
            <a:endParaRPr/>
          </a:p>
          <a:p>
            <a:pPr marL="228600" lvl="0" indent="-228600" algn="l" rtl="0">
              <a:lnSpc>
                <a:spcPct val="90000"/>
              </a:lnSpc>
              <a:spcBef>
                <a:spcPts val="1000"/>
              </a:spcBef>
              <a:spcAft>
                <a:spcPts val="0"/>
              </a:spcAft>
              <a:buClr>
                <a:schemeClr val="dk1"/>
              </a:buClr>
              <a:buSzPts val="2800"/>
              <a:buFont typeface="Calibri"/>
              <a:buNone/>
            </a:pPr>
            <a:r>
              <a:rPr lang="en-US"/>
              <a:t>           P-&gt;bk-&gt;fd = P-&gt;fd;</a:t>
            </a:r>
            <a:endParaRPr/>
          </a:p>
        </p:txBody>
      </p:sp>
      <p:sp>
        <p:nvSpPr>
          <p:cNvPr id="661" name="Google Shape;661;p50"/>
          <p:cNvSpPr/>
          <p:nvPr/>
        </p:nvSpPr>
        <p:spPr>
          <a:xfrm>
            <a:off x="4572000" y="3886200"/>
            <a:ext cx="1905000" cy="1143000"/>
          </a:xfrm>
          <a:prstGeom prst="rect">
            <a:avLst/>
          </a:prstGeom>
          <a:noFill/>
          <a:ln w="9525" cap="flat" cmpd="sng">
            <a:solidFill>
              <a:schemeClr val="dk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2" name="Google Shape;662;p50"/>
          <p:cNvSpPr txBox="1"/>
          <p:nvPr/>
        </p:nvSpPr>
        <p:spPr>
          <a:xfrm>
            <a:off x="4572000" y="5029200"/>
            <a:ext cx="19050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back</a:t>
            </a:r>
            <a:endParaRPr/>
          </a:p>
        </p:txBody>
      </p:sp>
      <p:sp>
        <p:nvSpPr>
          <p:cNvPr id="663" name="Google Shape;663;p50"/>
          <p:cNvSpPr txBox="1"/>
          <p:nvPr/>
        </p:nvSpPr>
        <p:spPr>
          <a:xfrm>
            <a:off x="4572000" y="4648200"/>
            <a:ext cx="19050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forward</a:t>
            </a:r>
            <a:endParaRPr/>
          </a:p>
        </p:txBody>
      </p:sp>
      <p:sp>
        <p:nvSpPr>
          <p:cNvPr id="664" name="Google Shape;664;p50"/>
          <p:cNvSpPr/>
          <p:nvPr/>
        </p:nvSpPr>
        <p:spPr>
          <a:xfrm>
            <a:off x="2209800" y="3886200"/>
            <a:ext cx="1905000" cy="1143000"/>
          </a:xfrm>
          <a:prstGeom prst="rect">
            <a:avLst/>
          </a:prstGeom>
          <a:noFill/>
          <a:ln w="9525" cap="flat" cmpd="sng">
            <a:solidFill>
              <a:schemeClr val="dk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5" name="Google Shape;665;p50"/>
          <p:cNvSpPr txBox="1"/>
          <p:nvPr/>
        </p:nvSpPr>
        <p:spPr>
          <a:xfrm>
            <a:off x="2209800" y="5029200"/>
            <a:ext cx="19050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back</a:t>
            </a:r>
            <a:endParaRPr/>
          </a:p>
        </p:txBody>
      </p:sp>
      <p:sp>
        <p:nvSpPr>
          <p:cNvPr id="666" name="Google Shape;666;p50"/>
          <p:cNvSpPr txBox="1"/>
          <p:nvPr/>
        </p:nvSpPr>
        <p:spPr>
          <a:xfrm>
            <a:off x="2209800" y="4648200"/>
            <a:ext cx="19050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forward</a:t>
            </a:r>
            <a:endParaRPr/>
          </a:p>
        </p:txBody>
      </p:sp>
      <p:sp>
        <p:nvSpPr>
          <p:cNvPr id="667" name="Google Shape;667;p50"/>
          <p:cNvSpPr/>
          <p:nvPr/>
        </p:nvSpPr>
        <p:spPr>
          <a:xfrm>
            <a:off x="6934200" y="3886200"/>
            <a:ext cx="1905000" cy="1143000"/>
          </a:xfrm>
          <a:prstGeom prst="rect">
            <a:avLst/>
          </a:prstGeom>
          <a:noFill/>
          <a:ln w="9525" cap="flat" cmpd="sng">
            <a:solidFill>
              <a:schemeClr val="dk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8" name="Google Shape;668;p50"/>
          <p:cNvSpPr txBox="1"/>
          <p:nvPr/>
        </p:nvSpPr>
        <p:spPr>
          <a:xfrm>
            <a:off x="6934200" y="5029200"/>
            <a:ext cx="19050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back</a:t>
            </a:r>
            <a:endParaRPr/>
          </a:p>
        </p:txBody>
      </p:sp>
      <p:sp>
        <p:nvSpPr>
          <p:cNvPr id="669" name="Google Shape;669;p50"/>
          <p:cNvSpPr txBox="1"/>
          <p:nvPr/>
        </p:nvSpPr>
        <p:spPr>
          <a:xfrm>
            <a:off x="6934200" y="4648200"/>
            <a:ext cx="19050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forward</a:t>
            </a:r>
            <a:endParaRPr/>
          </a:p>
        </p:txBody>
      </p:sp>
      <p:sp>
        <p:nvSpPr>
          <p:cNvPr id="670" name="Google Shape;670;p50"/>
          <p:cNvSpPr txBox="1"/>
          <p:nvPr/>
        </p:nvSpPr>
        <p:spPr>
          <a:xfrm>
            <a:off x="4953000" y="3352800"/>
            <a:ext cx="381000" cy="381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a:t>
            </a:r>
            <a:endParaRPr/>
          </a:p>
        </p:txBody>
      </p:sp>
      <p:cxnSp>
        <p:nvCxnSpPr>
          <p:cNvPr id="671" name="Google Shape;671;p50"/>
          <p:cNvCxnSpPr>
            <a:endCxn id="661" idx="0"/>
          </p:cNvCxnSpPr>
          <p:nvPr/>
        </p:nvCxnSpPr>
        <p:spPr>
          <a:xfrm>
            <a:off x="5257800" y="3581400"/>
            <a:ext cx="266700" cy="304800"/>
          </a:xfrm>
          <a:prstGeom prst="straightConnector1">
            <a:avLst/>
          </a:prstGeom>
          <a:noFill/>
          <a:ln w="9525" cap="flat" cmpd="sng">
            <a:solidFill>
              <a:schemeClr val="dk1"/>
            </a:solidFill>
            <a:prstDash val="solid"/>
            <a:round/>
            <a:headEnd type="none" w="med" len="med"/>
            <a:tailEnd type="triangle" w="med" len="med"/>
          </a:ln>
        </p:spPr>
      </p:cxnSp>
      <p:cxnSp>
        <p:nvCxnSpPr>
          <p:cNvPr id="672" name="Google Shape;672;p50"/>
          <p:cNvCxnSpPr>
            <a:stCxn id="673" idx="1"/>
            <a:endCxn id="664" idx="0"/>
          </p:cNvCxnSpPr>
          <p:nvPr/>
        </p:nvCxnSpPr>
        <p:spPr>
          <a:xfrm rot="10800000">
            <a:off x="3162300" y="3886200"/>
            <a:ext cx="1409700" cy="1333500"/>
          </a:xfrm>
          <a:prstGeom prst="bentConnector4">
            <a:avLst>
              <a:gd name="adj1" fmla="val 16218"/>
              <a:gd name="adj2" fmla="val 117144"/>
            </a:avLst>
          </a:prstGeom>
          <a:noFill/>
          <a:ln w="9525" cap="flat" cmpd="sng">
            <a:solidFill>
              <a:schemeClr val="dk1"/>
            </a:solidFill>
            <a:prstDash val="solid"/>
            <a:miter lim="800000"/>
            <a:headEnd type="none" w="med" len="med"/>
            <a:tailEnd type="triangle" w="med" len="med"/>
          </a:ln>
        </p:spPr>
      </p:cxnSp>
      <p:cxnSp>
        <p:nvCxnSpPr>
          <p:cNvPr id="674" name="Google Shape;674;p50"/>
          <p:cNvCxnSpPr>
            <a:endCxn id="667" idx="0"/>
          </p:cNvCxnSpPr>
          <p:nvPr/>
        </p:nvCxnSpPr>
        <p:spPr>
          <a:xfrm rot="10800000" flipH="1">
            <a:off x="6477000" y="3886200"/>
            <a:ext cx="1409700" cy="914400"/>
          </a:xfrm>
          <a:prstGeom prst="bentConnector4">
            <a:avLst>
              <a:gd name="adj1" fmla="val 16218"/>
              <a:gd name="adj2" fmla="val 125000"/>
            </a:avLst>
          </a:prstGeom>
          <a:noFill/>
          <a:ln w="9525" cap="flat" cmpd="sng">
            <a:solidFill>
              <a:schemeClr val="dk1"/>
            </a:solidFill>
            <a:prstDash val="solid"/>
            <a:miter lim="800000"/>
            <a:headEnd type="none" w="med" len="med"/>
            <a:tailEnd type="triangle" w="med" len="med"/>
          </a:ln>
        </p:spPr>
      </p:cxnSp>
      <p:sp>
        <p:nvSpPr>
          <p:cNvPr id="673" name="Google Shape;673;p50"/>
          <p:cNvSpPr/>
          <p:nvPr/>
        </p:nvSpPr>
        <p:spPr>
          <a:xfrm>
            <a:off x="4572000" y="5029200"/>
            <a:ext cx="1905000" cy="381000"/>
          </a:xfrm>
          <a:prstGeom prst="roundRect">
            <a:avLst>
              <a:gd name="adj" fmla="val 16667"/>
            </a:avLst>
          </a:prstGeom>
          <a:solidFill>
            <a:srgbClr val="FF0000">
              <a:alpha val="28627"/>
            </a:srgb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5" name="Google Shape;675;p50"/>
          <p:cNvSpPr txBox="1"/>
          <p:nvPr/>
        </p:nvSpPr>
        <p:spPr>
          <a:xfrm>
            <a:off x="2057400" y="5638801"/>
            <a:ext cx="3276600" cy="92392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FF0000"/>
                </a:solidFill>
                <a:latin typeface="Arial"/>
                <a:ea typeface="Arial"/>
                <a:cs typeface="Arial"/>
                <a:sym typeface="Arial"/>
              </a:rPr>
              <a:t>If the “fd” pointer is corrupted, we can control which memory cell to be modified</a:t>
            </a:r>
            <a:endParaRPr sz="1800">
              <a:solidFill>
                <a:srgbClr val="FF0000"/>
              </a:solidFill>
              <a:latin typeface="Arial"/>
              <a:ea typeface="Arial"/>
              <a:cs typeface="Arial"/>
              <a:sym typeface="Arial"/>
            </a:endParaRPr>
          </a:p>
        </p:txBody>
      </p:sp>
      <p:sp>
        <p:nvSpPr>
          <p:cNvPr id="676" name="Google Shape;676;p50"/>
          <p:cNvSpPr txBox="1"/>
          <p:nvPr/>
        </p:nvSpPr>
        <p:spPr>
          <a:xfrm>
            <a:off x="5791200" y="5637214"/>
            <a:ext cx="3429000" cy="92392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FF0000"/>
                </a:solidFill>
                <a:latin typeface="Arial"/>
                <a:ea typeface="Arial"/>
                <a:cs typeface="Arial"/>
                <a:sym typeface="Arial"/>
              </a:rPr>
              <a:t>If the “bk” pointer is corrupted, we can control what value to put into the memory cell</a:t>
            </a:r>
            <a:endParaRPr sz="1800">
              <a:solidFill>
                <a:srgbClr val="FF0000"/>
              </a:solidFill>
              <a:latin typeface="Arial"/>
              <a:ea typeface="Arial"/>
              <a:cs typeface="Arial"/>
              <a:sym typeface="Arial"/>
            </a:endParaRPr>
          </a:p>
        </p:txBody>
      </p:sp>
      <p:sp>
        <p:nvSpPr>
          <p:cNvPr id="677" name="Google Shape;677;p50"/>
          <p:cNvSpPr/>
          <p:nvPr/>
        </p:nvSpPr>
        <p:spPr>
          <a:xfrm>
            <a:off x="4572000" y="4648200"/>
            <a:ext cx="1905000" cy="381000"/>
          </a:xfrm>
          <a:prstGeom prst="roundRect">
            <a:avLst>
              <a:gd name="adj" fmla="val 16667"/>
            </a:avLst>
          </a:prstGeom>
          <a:solidFill>
            <a:srgbClr val="FF0000">
              <a:alpha val="28627"/>
            </a:srgb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8" name="Google Shape;678;p50"/>
          <p:cNvSpPr/>
          <p:nvPr/>
        </p:nvSpPr>
        <p:spPr>
          <a:xfrm>
            <a:off x="3048000" y="2286000"/>
            <a:ext cx="3886200" cy="533400"/>
          </a:xfrm>
          <a:prstGeom prst="roundRect">
            <a:avLst>
              <a:gd name="adj" fmla="val 16667"/>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9" name="Google Shape;679;p50"/>
          <p:cNvSpPr/>
          <p:nvPr/>
        </p:nvSpPr>
        <p:spPr>
          <a:xfrm>
            <a:off x="3048000" y="2895600"/>
            <a:ext cx="3886200" cy="533400"/>
          </a:xfrm>
          <a:prstGeom prst="roundRect">
            <a:avLst>
              <a:gd name="adj" fmla="val 16667"/>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0" name="Google Shape;680;p50"/>
          <p:cNvSpPr txBox="1"/>
          <p:nvPr/>
        </p:nvSpPr>
        <p:spPr>
          <a:xfrm>
            <a:off x="8534400" y="3124200"/>
            <a:ext cx="1676400" cy="9159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FF0000"/>
                </a:solidFill>
                <a:latin typeface="Arial"/>
                <a:ea typeface="Arial"/>
                <a:cs typeface="Arial"/>
                <a:sym typeface="Arial"/>
              </a:rPr>
              <a:t>Will create some trouble for us</a:t>
            </a:r>
            <a:endParaRPr/>
          </a:p>
        </p:txBody>
      </p:sp>
      <p:cxnSp>
        <p:nvCxnSpPr>
          <p:cNvPr id="681" name="Google Shape;681;p50"/>
          <p:cNvCxnSpPr/>
          <p:nvPr/>
        </p:nvCxnSpPr>
        <p:spPr>
          <a:xfrm>
            <a:off x="6934200" y="3200400"/>
            <a:ext cx="1676400" cy="228600"/>
          </a:xfrm>
          <a:prstGeom prst="straightConnector1">
            <a:avLst/>
          </a:prstGeom>
          <a:noFill/>
          <a:ln w="19050" cap="flat" cmpd="sng">
            <a:solidFill>
              <a:srgbClr val="FF0000"/>
            </a:solidFill>
            <a:prstDash val="solid"/>
            <a:round/>
            <a:headEnd type="none" w="med" len="med"/>
            <a:tailEnd type="triangle" w="med" len="med"/>
          </a:ln>
        </p:spPr>
      </p:cxnSp>
      <p:sp>
        <p:nvSpPr>
          <p:cNvPr id="682" name="Google Shape;682;p50"/>
          <p:cNvSpPr txBox="1"/>
          <p:nvPr/>
        </p:nvSpPr>
        <p:spPr>
          <a:xfrm>
            <a:off x="5638800" y="6477000"/>
            <a:ext cx="4419600" cy="3381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accent2"/>
                </a:solidFill>
                <a:latin typeface="Arial"/>
                <a:ea typeface="Arial"/>
                <a:cs typeface="Arial"/>
                <a:sym typeface="Arial"/>
              </a:rPr>
              <a:t>Overwrite the “back” field with “what”.</a:t>
            </a:r>
            <a:endParaRPr sz="1600">
              <a:solidFill>
                <a:schemeClr val="accent2"/>
              </a:solidFill>
              <a:latin typeface="Arial"/>
              <a:ea typeface="Arial"/>
              <a:cs typeface="Arial"/>
              <a:sym typeface="Arial"/>
            </a:endParaRPr>
          </a:p>
        </p:txBody>
      </p:sp>
      <p:sp>
        <p:nvSpPr>
          <p:cNvPr id="683" name="Google Shape;683;p50"/>
          <p:cNvSpPr txBox="1"/>
          <p:nvPr/>
        </p:nvSpPr>
        <p:spPr>
          <a:xfrm>
            <a:off x="1447800" y="6477000"/>
            <a:ext cx="5029200" cy="3381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accent2"/>
                </a:solidFill>
                <a:latin typeface="Arial"/>
                <a:ea typeface="Arial"/>
                <a:cs typeface="Arial"/>
                <a:sym typeface="Arial"/>
              </a:rPr>
              <a:t>Overwrite the “forward” field with “where-12”.</a:t>
            </a:r>
            <a:endParaRPr sz="1600">
              <a:solidFill>
                <a:schemeClr val="accent2"/>
              </a:solidFill>
              <a:latin typeface="Arial"/>
              <a:ea typeface="Arial"/>
              <a:cs typeface="Arial"/>
              <a:sym typeface="Arial"/>
            </a:endParaRPr>
          </a:p>
        </p:txBody>
      </p:sp>
      <p:sp>
        <p:nvSpPr>
          <p:cNvPr id="684" name="Google Shape;684;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51</a:t>
            </a:fld>
            <a:endParaRPr sz="140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7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8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7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7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8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7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8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 heap overflow attack</a:t>
            </a:r>
            <a:endParaRPr/>
          </a:p>
        </p:txBody>
      </p:sp>
      <p:sp>
        <p:nvSpPr>
          <p:cNvPr id="691" name="Google Shape;691;p5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Overwrite a heap memory chunk by running past the allocated space.</a:t>
            </a:r>
            <a:endParaRPr/>
          </a:p>
          <a:p>
            <a:pPr marL="228600" lvl="0" indent="-228600" algn="l" rtl="0">
              <a:lnSpc>
                <a:spcPct val="90000"/>
              </a:lnSpc>
              <a:spcBef>
                <a:spcPts val="1000"/>
              </a:spcBef>
              <a:spcAft>
                <a:spcPts val="0"/>
              </a:spcAft>
              <a:buClr>
                <a:schemeClr val="dk1"/>
              </a:buClr>
              <a:buSzPts val="2800"/>
              <a:buChar char="•"/>
            </a:pPr>
            <a:r>
              <a:rPr lang="en-US"/>
              <a:t>Create a fake heap structure that pretends to be a free chunk.</a:t>
            </a:r>
            <a:endParaRPr/>
          </a:p>
          <a:p>
            <a:pPr marL="228600" lvl="0" indent="-228600" algn="l" rtl="0">
              <a:lnSpc>
                <a:spcPct val="90000"/>
              </a:lnSpc>
              <a:spcBef>
                <a:spcPts val="1000"/>
              </a:spcBef>
              <a:spcAft>
                <a:spcPts val="0"/>
              </a:spcAft>
              <a:buClr>
                <a:schemeClr val="dk1"/>
              </a:buClr>
              <a:buSzPts val="2800"/>
              <a:buChar char="•"/>
            </a:pPr>
            <a:r>
              <a:rPr lang="en-US"/>
              <a:t>When the current chunk is free()’d, an arbitrary memory overwrite will occur.</a:t>
            </a:r>
            <a:endParaRPr/>
          </a:p>
          <a:p>
            <a:pPr marL="228600" lvl="0" indent="-228600" algn="l" rtl="0">
              <a:lnSpc>
                <a:spcPct val="90000"/>
              </a:lnSpc>
              <a:spcBef>
                <a:spcPts val="1000"/>
              </a:spcBef>
              <a:spcAft>
                <a:spcPts val="0"/>
              </a:spcAft>
              <a:buClr>
                <a:schemeClr val="dk1"/>
              </a:buClr>
              <a:buSzPts val="2800"/>
              <a:buChar char="•"/>
            </a:pPr>
            <a:r>
              <a:rPr lang="en-US"/>
              <a:t>We can control the </a:t>
            </a:r>
            <a:r>
              <a:rPr lang="en-US">
                <a:solidFill>
                  <a:schemeClr val="accent2"/>
                </a:solidFill>
              </a:rPr>
              <a:t>“where” and “what”</a:t>
            </a:r>
            <a:r>
              <a:rPr lang="en-US"/>
              <a:t> of the memory overwrite.</a:t>
            </a:r>
            <a:endParaRPr/>
          </a:p>
        </p:txBody>
      </p:sp>
      <p:sp>
        <p:nvSpPr>
          <p:cNvPr id="692" name="Google Shape;692;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52</a:t>
            </a:fld>
            <a:endParaRPr sz="1400">
              <a:solidFill>
                <a:schemeClr val="dk1"/>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The “where”</a:t>
            </a:r>
            <a:endParaRPr/>
          </a:p>
        </p:txBody>
      </p:sp>
      <p:sp>
        <p:nvSpPr>
          <p:cNvPr id="699" name="Google Shape;699;p52"/>
          <p:cNvSpPr txBox="1">
            <a:spLocks noGrp="1"/>
          </p:cNvSpPr>
          <p:nvPr>
            <p:ph type="body" idx="1"/>
          </p:nvPr>
        </p:nvSpPr>
        <p:spPr>
          <a:xfrm>
            <a:off x="2057400" y="1219201"/>
            <a:ext cx="8229600" cy="45259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By modifying certain memory locations, we can modify the EIP and make it point to injected malicious code.</a:t>
            </a:r>
            <a:endParaRPr/>
          </a:p>
          <a:p>
            <a:pPr marL="228600" lvl="0" indent="-228600" algn="l" rtl="0">
              <a:lnSpc>
                <a:spcPct val="90000"/>
              </a:lnSpc>
              <a:spcBef>
                <a:spcPts val="1000"/>
              </a:spcBef>
              <a:spcAft>
                <a:spcPts val="0"/>
              </a:spcAft>
              <a:buClr>
                <a:schemeClr val="dk1"/>
              </a:buClr>
              <a:buSzPts val="2800"/>
              <a:buChar char="•"/>
            </a:pPr>
            <a:r>
              <a:rPr lang="en-US"/>
              <a:t>The Global Offset Table (GOT) contains the entry addresses of dynamically linked library functions (e.g. printf, malloc, free, exit, strcpy, etc.)</a:t>
            </a:r>
            <a:endParaRPr/>
          </a:p>
          <a:p>
            <a:pPr marL="685800" lvl="1" indent="-228600" algn="l" rtl="0">
              <a:lnSpc>
                <a:spcPct val="90000"/>
              </a:lnSpc>
              <a:spcBef>
                <a:spcPts val="500"/>
              </a:spcBef>
              <a:spcAft>
                <a:spcPts val="0"/>
              </a:spcAft>
              <a:buClr>
                <a:schemeClr val="dk1"/>
              </a:buClr>
              <a:buSzPts val="2000"/>
              <a:buChar char="•"/>
            </a:pPr>
            <a:r>
              <a:rPr lang="en-US" sz="2000"/>
              <a:t>We can overwrite a GOT entry that will likely be used by the program</a:t>
            </a:r>
            <a:endParaRPr/>
          </a:p>
          <a:p>
            <a:pPr marL="685800" lvl="1" indent="-228600" algn="l" rtl="0">
              <a:lnSpc>
                <a:spcPct val="90000"/>
              </a:lnSpc>
              <a:spcBef>
                <a:spcPts val="500"/>
              </a:spcBef>
              <a:spcAft>
                <a:spcPts val="0"/>
              </a:spcAft>
              <a:buClr>
                <a:schemeClr val="dk1"/>
              </a:buClr>
              <a:buSzPts val="2400"/>
              <a:buFont typeface="Calibri"/>
              <a:buNone/>
            </a:pPr>
            <a:r>
              <a:rPr lang="en-US"/>
              <a:t>   </a:t>
            </a:r>
            <a:endParaRPr/>
          </a:p>
        </p:txBody>
      </p:sp>
      <p:sp>
        <p:nvSpPr>
          <p:cNvPr id="700" name="Google Shape;700;p52"/>
          <p:cNvSpPr/>
          <p:nvPr/>
        </p:nvSpPr>
        <p:spPr>
          <a:xfrm>
            <a:off x="4333975" y="4086198"/>
            <a:ext cx="3676500" cy="2635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Arial"/>
                <a:ea typeface="Arial"/>
                <a:cs typeface="Arial"/>
                <a:sym typeface="Arial"/>
              </a:rPr>
              <a:t>$ objdump -R heap</a:t>
            </a:r>
            <a:endParaRPr sz="1500"/>
          </a:p>
          <a:p>
            <a:pPr marL="0" marR="0" lvl="0" indent="0" algn="l" rtl="0">
              <a:spcBef>
                <a:spcPts val="0"/>
              </a:spcBef>
              <a:spcAft>
                <a:spcPts val="0"/>
              </a:spcAft>
              <a:buNone/>
            </a:pPr>
            <a:r>
              <a:rPr lang="en-US" sz="1300">
                <a:solidFill>
                  <a:schemeClr val="dk1"/>
                </a:solidFill>
                <a:latin typeface="Arial"/>
                <a:ea typeface="Arial"/>
                <a:cs typeface="Arial"/>
                <a:sym typeface="Arial"/>
              </a:rPr>
              <a:t>heap:     file format elf32-i386</a:t>
            </a:r>
            <a:endParaRPr sz="1500"/>
          </a:p>
          <a:p>
            <a:pPr marL="0" marR="0" lvl="0" indent="0" algn="l" rtl="0">
              <a:spcBef>
                <a:spcPts val="0"/>
              </a:spcBef>
              <a:spcAft>
                <a:spcPts val="0"/>
              </a:spcAft>
              <a:buNone/>
            </a:pPr>
            <a:r>
              <a:rPr lang="en-US" sz="1300">
                <a:solidFill>
                  <a:schemeClr val="dk1"/>
                </a:solidFill>
                <a:latin typeface="Arial"/>
                <a:ea typeface="Arial"/>
                <a:cs typeface="Arial"/>
                <a:sym typeface="Arial"/>
              </a:rPr>
              <a:t>DYNAMIC RELOCATION RECORDS</a:t>
            </a:r>
            <a:endParaRPr sz="1500"/>
          </a:p>
          <a:p>
            <a:pPr marL="0" marR="0" lvl="0" indent="0" algn="l" rtl="0">
              <a:spcBef>
                <a:spcPts val="0"/>
              </a:spcBef>
              <a:spcAft>
                <a:spcPts val="0"/>
              </a:spcAft>
              <a:buNone/>
            </a:pPr>
            <a:r>
              <a:rPr lang="en-US" sz="1300">
                <a:solidFill>
                  <a:schemeClr val="dk1"/>
                </a:solidFill>
                <a:latin typeface="Arial"/>
                <a:ea typeface="Arial"/>
                <a:cs typeface="Arial"/>
                <a:sym typeface="Arial"/>
              </a:rPr>
              <a:t>OFFSET   TYPE              VALUE </a:t>
            </a:r>
            <a:endParaRPr sz="1500"/>
          </a:p>
          <a:p>
            <a:pPr marL="0" marR="0" lvl="0" indent="0" algn="l" rtl="0">
              <a:spcBef>
                <a:spcPts val="0"/>
              </a:spcBef>
              <a:spcAft>
                <a:spcPts val="0"/>
              </a:spcAft>
              <a:buNone/>
            </a:pPr>
            <a:r>
              <a:rPr lang="en-US" sz="1300">
                <a:solidFill>
                  <a:schemeClr val="dk1"/>
                </a:solidFill>
                <a:latin typeface="Arial"/>
                <a:ea typeface="Arial"/>
                <a:cs typeface="Arial"/>
                <a:sym typeface="Arial"/>
              </a:rPr>
              <a:t>0804975c R_386_GLOB_DAT    __gmon_start__</a:t>
            </a:r>
            <a:endParaRPr sz="1500"/>
          </a:p>
          <a:p>
            <a:pPr marL="0" marR="0" lvl="0" indent="0" algn="l" rtl="0">
              <a:spcBef>
                <a:spcPts val="0"/>
              </a:spcBef>
              <a:spcAft>
                <a:spcPts val="0"/>
              </a:spcAft>
              <a:buNone/>
            </a:pPr>
            <a:r>
              <a:rPr lang="en-US" sz="1300">
                <a:solidFill>
                  <a:schemeClr val="dk1"/>
                </a:solidFill>
                <a:latin typeface="Arial"/>
                <a:ea typeface="Arial"/>
                <a:cs typeface="Arial"/>
                <a:sym typeface="Arial"/>
              </a:rPr>
              <a:t>08049744 R_386_JUMP_SLOT   malloc</a:t>
            </a:r>
            <a:endParaRPr sz="1300">
              <a:solidFill>
                <a:schemeClr val="dk1"/>
              </a:solidFill>
              <a:latin typeface="Arial"/>
              <a:ea typeface="Arial"/>
              <a:cs typeface="Arial"/>
              <a:sym typeface="Arial"/>
            </a:endParaRPr>
          </a:p>
          <a:p>
            <a:pPr marL="0" marR="0" lvl="0" indent="0" algn="l" rtl="0">
              <a:spcBef>
                <a:spcPts val="0"/>
              </a:spcBef>
              <a:spcAft>
                <a:spcPts val="0"/>
              </a:spcAft>
              <a:buNone/>
            </a:pPr>
            <a:r>
              <a:rPr lang="en-US" sz="1300">
                <a:solidFill>
                  <a:schemeClr val="dk1"/>
                </a:solidFill>
                <a:latin typeface="Arial"/>
                <a:ea typeface="Arial"/>
                <a:cs typeface="Arial"/>
                <a:sym typeface="Arial"/>
              </a:rPr>
              <a:t>08049748 R_386_JUMP_SLOT   __libc_start_main</a:t>
            </a:r>
            <a:endParaRPr sz="1300">
              <a:solidFill>
                <a:schemeClr val="dk1"/>
              </a:solidFill>
              <a:latin typeface="Arial"/>
              <a:ea typeface="Arial"/>
              <a:cs typeface="Arial"/>
              <a:sym typeface="Arial"/>
            </a:endParaRPr>
          </a:p>
          <a:p>
            <a:pPr marL="0" marR="0" lvl="0" indent="0" algn="l" rtl="0">
              <a:spcBef>
                <a:spcPts val="0"/>
              </a:spcBef>
              <a:spcAft>
                <a:spcPts val="0"/>
              </a:spcAft>
              <a:buNone/>
            </a:pPr>
            <a:r>
              <a:rPr lang="en-US" sz="1300">
                <a:solidFill>
                  <a:schemeClr val="dk1"/>
                </a:solidFill>
                <a:latin typeface="Arial"/>
                <a:ea typeface="Arial"/>
                <a:cs typeface="Arial"/>
                <a:sym typeface="Arial"/>
              </a:rPr>
              <a:t>0804974c R_386_JUMP_SLOT   printf</a:t>
            </a:r>
            <a:endParaRPr sz="1300">
              <a:solidFill>
                <a:schemeClr val="dk1"/>
              </a:solidFill>
              <a:latin typeface="Arial"/>
              <a:ea typeface="Arial"/>
              <a:cs typeface="Arial"/>
              <a:sym typeface="Arial"/>
            </a:endParaRPr>
          </a:p>
          <a:p>
            <a:pPr marL="0" marR="0" lvl="0" indent="0" algn="l" rtl="0">
              <a:spcBef>
                <a:spcPts val="0"/>
              </a:spcBef>
              <a:spcAft>
                <a:spcPts val="0"/>
              </a:spcAft>
              <a:buNone/>
            </a:pPr>
            <a:r>
              <a:rPr lang="en-US" sz="1300">
                <a:solidFill>
                  <a:schemeClr val="dk1"/>
                </a:solidFill>
                <a:latin typeface="Arial"/>
                <a:ea typeface="Arial"/>
                <a:cs typeface="Arial"/>
                <a:sym typeface="Arial"/>
              </a:rPr>
              <a:t>08049750 R_386_JUMP_SLOT   exit</a:t>
            </a:r>
            <a:endParaRPr sz="1500"/>
          </a:p>
          <a:p>
            <a:pPr marL="0" marR="0" lvl="0" indent="0" algn="l" rtl="0">
              <a:spcBef>
                <a:spcPts val="0"/>
              </a:spcBef>
              <a:spcAft>
                <a:spcPts val="0"/>
              </a:spcAft>
              <a:buNone/>
            </a:pPr>
            <a:r>
              <a:rPr lang="en-US" sz="1300">
                <a:solidFill>
                  <a:schemeClr val="accent2"/>
                </a:solidFill>
                <a:latin typeface="Arial"/>
                <a:ea typeface="Arial"/>
                <a:cs typeface="Arial"/>
                <a:sym typeface="Arial"/>
              </a:rPr>
              <a:t>08049754 R_386_JUMP_SLOT   free</a:t>
            </a:r>
            <a:endParaRPr sz="1500"/>
          </a:p>
          <a:p>
            <a:pPr marL="0" marR="0" lvl="0" indent="0" algn="l" rtl="0">
              <a:spcBef>
                <a:spcPts val="0"/>
              </a:spcBef>
              <a:spcAft>
                <a:spcPts val="0"/>
              </a:spcAft>
              <a:buNone/>
            </a:pPr>
            <a:r>
              <a:rPr lang="en-US" sz="1300">
                <a:solidFill>
                  <a:schemeClr val="dk1"/>
                </a:solidFill>
                <a:latin typeface="Arial"/>
                <a:ea typeface="Arial"/>
                <a:cs typeface="Arial"/>
                <a:sym typeface="Arial"/>
              </a:rPr>
              <a:t>08049758 R_386_JUMP_SLOT   strcpy</a:t>
            </a:r>
            <a:endParaRPr sz="1300">
              <a:solidFill>
                <a:schemeClr val="dk1"/>
              </a:solidFill>
              <a:latin typeface="Arial"/>
              <a:ea typeface="Arial"/>
              <a:cs typeface="Arial"/>
              <a:sym typeface="Arial"/>
            </a:endParaRPr>
          </a:p>
        </p:txBody>
      </p:sp>
      <p:sp>
        <p:nvSpPr>
          <p:cNvPr id="701" name="Google Shape;701;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53</a:t>
            </a:fld>
            <a:endParaRPr sz="1400">
              <a:solidFill>
                <a:schemeClr val="dk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The “what”</a:t>
            </a:r>
            <a:endParaRPr/>
          </a:p>
        </p:txBody>
      </p:sp>
      <p:sp>
        <p:nvSpPr>
          <p:cNvPr id="708" name="Google Shape;708;p5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 “what” will be the address of the malicious code we injected into the buffer.</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But, P-&gt;bk-&gt;fd=P-&gt;fd will “puncture” our shellcode from bytes 8-12.</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Thus the shell code must “jump over” this hole. </a:t>
            </a:r>
            <a:endParaRPr/>
          </a:p>
        </p:txBody>
      </p:sp>
      <p:sp>
        <p:nvSpPr>
          <p:cNvPr id="709" name="Google Shape;709;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54</a:t>
            </a:fld>
            <a:endParaRPr sz="1400">
              <a:solidFill>
                <a:schemeClr val="dk1"/>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Remove a chunk from the double-linked free list</a:t>
            </a:r>
            <a:endParaRPr/>
          </a:p>
        </p:txBody>
      </p:sp>
      <p:sp>
        <p:nvSpPr>
          <p:cNvPr id="716" name="Google Shape;716;p54"/>
          <p:cNvSpPr txBox="1">
            <a:spLocks noGrp="1"/>
          </p:cNvSpPr>
          <p:nvPr>
            <p:ph type="body" idx="1"/>
          </p:nvPr>
        </p:nvSpPr>
        <p:spPr>
          <a:xfrm>
            <a:off x="1905000" y="1676401"/>
            <a:ext cx="8229600" cy="45259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unlink(P)</a:t>
            </a:r>
            <a:endParaRPr/>
          </a:p>
          <a:p>
            <a:pPr marL="228600" lvl="0" indent="-228600" algn="l" rtl="0">
              <a:lnSpc>
                <a:spcPct val="90000"/>
              </a:lnSpc>
              <a:spcBef>
                <a:spcPts val="1000"/>
              </a:spcBef>
              <a:spcAft>
                <a:spcPts val="0"/>
              </a:spcAft>
              <a:buClr>
                <a:schemeClr val="dk1"/>
              </a:buClr>
              <a:buSzPts val="2800"/>
              <a:buFont typeface="Calibri"/>
              <a:buNone/>
            </a:pPr>
            <a:r>
              <a:rPr lang="en-US"/>
              <a:t>           P-&gt;fd-&gt;bk = P-&gt;bk;</a:t>
            </a:r>
            <a:endParaRPr/>
          </a:p>
          <a:p>
            <a:pPr marL="228600" lvl="0" indent="-228600" algn="l" rtl="0">
              <a:lnSpc>
                <a:spcPct val="90000"/>
              </a:lnSpc>
              <a:spcBef>
                <a:spcPts val="1000"/>
              </a:spcBef>
              <a:spcAft>
                <a:spcPts val="0"/>
              </a:spcAft>
              <a:buClr>
                <a:schemeClr val="dk1"/>
              </a:buClr>
              <a:buSzPts val="2800"/>
              <a:buFont typeface="Calibri"/>
              <a:buNone/>
            </a:pPr>
            <a:r>
              <a:rPr lang="en-US"/>
              <a:t>           P-&gt;bk-&gt;fd = P-&gt;fd;</a:t>
            </a:r>
            <a:endParaRPr/>
          </a:p>
        </p:txBody>
      </p:sp>
      <p:sp>
        <p:nvSpPr>
          <p:cNvPr id="717" name="Google Shape;717;p54"/>
          <p:cNvSpPr/>
          <p:nvPr/>
        </p:nvSpPr>
        <p:spPr>
          <a:xfrm>
            <a:off x="4572000" y="3886200"/>
            <a:ext cx="1905000" cy="1143000"/>
          </a:xfrm>
          <a:prstGeom prst="rect">
            <a:avLst/>
          </a:prstGeom>
          <a:noFill/>
          <a:ln w="9525" cap="flat" cmpd="sng">
            <a:solidFill>
              <a:schemeClr val="dk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8" name="Google Shape;718;p54"/>
          <p:cNvSpPr txBox="1"/>
          <p:nvPr/>
        </p:nvSpPr>
        <p:spPr>
          <a:xfrm>
            <a:off x="4572000" y="5029200"/>
            <a:ext cx="19050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back</a:t>
            </a:r>
            <a:endParaRPr/>
          </a:p>
        </p:txBody>
      </p:sp>
      <p:sp>
        <p:nvSpPr>
          <p:cNvPr id="719" name="Google Shape;719;p54"/>
          <p:cNvSpPr txBox="1"/>
          <p:nvPr/>
        </p:nvSpPr>
        <p:spPr>
          <a:xfrm>
            <a:off x="4572000" y="4648200"/>
            <a:ext cx="19050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forward</a:t>
            </a:r>
            <a:endParaRPr/>
          </a:p>
        </p:txBody>
      </p:sp>
      <p:sp>
        <p:nvSpPr>
          <p:cNvPr id="720" name="Google Shape;720;p54"/>
          <p:cNvSpPr/>
          <p:nvPr/>
        </p:nvSpPr>
        <p:spPr>
          <a:xfrm>
            <a:off x="2209800" y="3886200"/>
            <a:ext cx="1905000" cy="1143000"/>
          </a:xfrm>
          <a:prstGeom prst="rect">
            <a:avLst/>
          </a:prstGeom>
          <a:noFill/>
          <a:ln w="9525" cap="flat" cmpd="sng">
            <a:solidFill>
              <a:schemeClr val="dk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1" name="Google Shape;721;p54"/>
          <p:cNvSpPr txBox="1"/>
          <p:nvPr/>
        </p:nvSpPr>
        <p:spPr>
          <a:xfrm>
            <a:off x="2209800" y="5029200"/>
            <a:ext cx="19050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back</a:t>
            </a:r>
            <a:endParaRPr/>
          </a:p>
        </p:txBody>
      </p:sp>
      <p:sp>
        <p:nvSpPr>
          <p:cNvPr id="722" name="Google Shape;722;p54"/>
          <p:cNvSpPr txBox="1"/>
          <p:nvPr/>
        </p:nvSpPr>
        <p:spPr>
          <a:xfrm>
            <a:off x="2209800" y="4648200"/>
            <a:ext cx="19050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forward</a:t>
            </a:r>
            <a:endParaRPr/>
          </a:p>
        </p:txBody>
      </p:sp>
      <p:sp>
        <p:nvSpPr>
          <p:cNvPr id="723" name="Google Shape;723;p54"/>
          <p:cNvSpPr/>
          <p:nvPr/>
        </p:nvSpPr>
        <p:spPr>
          <a:xfrm>
            <a:off x="6934200" y="3886200"/>
            <a:ext cx="1905000" cy="1143000"/>
          </a:xfrm>
          <a:prstGeom prst="rect">
            <a:avLst/>
          </a:prstGeom>
          <a:noFill/>
          <a:ln w="9525" cap="flat" cmpd="sng">
            <a:solidFill>
              <a:schemeClr val="dk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4" name="Google Shape;724;p54"/>
          <p:cNvSpPr txBox="1"/>
          <p:nvPr/>
        </p:nvSpPr>
        <p:spPr>
          <a:xfrm>
            <a:off x="6934200" y="5029200"/>
            <a:ext cx="19050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back</a:t>
            </a:r>
            <a:endParaRPr/>
          </a:p>
        </p:txBody>
      </p:sp>
      <p:sp>
        <p:nvSpPr>
          <p:cNvPr id="725" name="Google Shape;725;p54"/>
          <p:cNvSpPr txBox="1"/>
          <p:nvPr/>
        </p:nvSpPr>
        <p:spPr>
          <a:xfrm>
            <a:off x="6934200" y="4648200"/>
            <a:ext cx="19050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forward</a:t>
            </a:r>
            <a:endParaRPr/>
          </a:p>
        </p:txBody>
      </p:sp>
      <p:sp>
        <p:nvSpPr>
          <p:cNvPr id="726" name="Google Shape;726;p54"/>
          <p:cNvSpPr txBox="1"/>
          <p:nvPr/>
        </p:nvSpPr>
        <p:spPr>
          <a:xfrm>
            <a:off x="4953000" y="3352800"/>
            <a:ext cx="381000" cy="381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a:t>
            </a:r>
            <a:endParaRPr/>
          </a:p>
        </p:txBody>
      </p:sp>
      <p:cxnSp>
        <p:nvCxnSpPr>
          <p:cNvPr id="727" name="Google Shape;727;p54"/>
          <p:cNvCxnSpPr>
            <a:endCxn id="717" idx="0"/>
          </p:cNvCxnSpPr>
          <p:nvPr/>
        </p:nvCxnSpPr>
        <p:spPr>
          <a:xfrm>
            <a:off x="5257800" y="3581400"/>
            <a:ext cx="266700" cy="304800"/>
          </a:xfrm>
          <a:prstGeom prst="straightConnector1">
            <a:avLst/>
          </a:prstGeom>
          <a:noFill/>
          <a:ln w="9525" cap="flat" cmpd="sng">
            <a:solidFill>
              <a:schemeClr val="dk1"/>
            </a:solidFill>
            <a:prstDash val="solid"/>
            <a:round/>
            <a:headEnd type="none" w="med" len="med"/>
            <a:tailEnd type="triangle" w="med" len="med"/>
          </a:ln>
        </p:spPr>
      </p:cxnSp>
      <p:cxnSp>
        <p:nvCxnSpPr>
          <p:cNvPr id="728" name="Google Shape;728;p54"/>
          <p:cNvCxnSpPr>
            <a:stCxn id="729" idx="1"/>
            <a:endCxn id="720" idx="0"/>
          </p:cNvCxnSpPr>
          <p:nvPr/>
        </p:nvCxnSpPr>
        <p:spPr>
          <a:xfrm rot="10800000">
            <a:off x="3162300" y="3886200"/>
            <a:ext cx="1409700" cy="1333500"/>
          </a:xfrm>
          <a:prstGeom prst="bentConnector4">
            <a:avLst>
              <a:gd name="adj1" fmla="val 16218"/>
              <a:gd name="adj2" fmla="val 117144"/>
            </a:avLst>
          </a:prstGeom>
          <a:noFill/>
          <a:ln w="9525" cap="flat" cmpd="sng">
            <a:solidFill>
              <a:schemeClr val="dk1"/>
            </a:solidFill>
            <a:prstDash val="solid"/>
            <a:miter lim="800000"/>
            <a:headEnd type="none" w="med" len="med"/>
            <a:tailEnd type="triangle" w="med" len="med"/>
          </a:ln>
        </p:spPr>
      </p:cxnSp>
      <p:cxnSp>
        <p:nvCxnSpPr>
          <p:cNvPr id="730" name="Google Shape;730;p54"/>
          <p:cNvCxnSpPr>
            <a:endCxn id="723" idx="0"/>
          </p:cNvCxnSpPr>
          <p:nvPr/>
        </p:nvCxnSpPr>
        <p:spPr>
          <a:xfrm rot="10800000" flipH="1">
            <a:off x="6477000" y="3886200"/>
            <a:ext cx="1409700" cy="914400"/>
          </a:xfrm>
          <a:prstGeom prst="bentConnector4">
            <a:avLst>
              <a:gd name="adj1" fmla="val 16218"/>
              <a:gd name="adj2" fmla="val 125000"/>
            </a:avLst>
          </a:prstGeom>
          <a:noFill/>
          <a:ln w="9525" cap="flat" cmpd="sng">
            <a:solidFill>
              <a:schemeClr val="dk1"/>
            </a:solidFill>
            <a:prstDash val="solid"/>
            <a:miter lim="800000"/>
            <a:headEnd type="none" w="med" len="med"/>
            <a:tailEnd type="triangle" w="med" len="med"/>
          </a:ln>
        </p:spPr>
      </p:cxnSp>
      <p:sp>
        <p:nvSpPr>
          <p:cNvPr id="729" name="Google Shape;729;p54"/>
          <p:cNvSpPr/>
          <p:nvPr/>
        </p:nvSpPr>
        <p:spPr>
          <a:xfrm>
            <a:off x="4572000" y="5029200"/>
            <a:ext cx="1905000" cy="381000"/>
          </a:xfrm>
          <a:prstGeom prst="roundRect">
            <a:avLst>
              <a:gd name="adj" fmla="val 16667"/>
            </a:avLst>
          </a:prstGeom>
          <a:solidFill>
            <a:srgbClr val="FF0000">
              <a:alpha val="28627"/>
            </a:srgb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1" name="Google Shape;731;p54"/>
          <p:cNvSpPr txBox="1"/>
          <p:nvPr/>
        </p:nvSpPr>
        <p:spPr>
          <a:xfrm>
            <a:off x="2057400" y="5638801"/>
            <a:ext cx="3276600" cy="92392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FF0000"/>
                </a:solidFill>
                <a:latin typeface="Arial"/>
                <a:ea typeface="Arial"/>
                <a:cs typeface="Arial"/>
                <a:sym typeface="Arial"/>
              </a:rPr>
              <a:t>If the “fd” pointer is corrupted, we can control which memory cell to be modified</a:t>
            </a:r>
            <a:endParaRPr sz="1800">
              <a:solidFill>
                <a:srgbClr val="FF0000"/>
              </a:solidFill>
              <a:latin typeface="Arial"/>
              <a:ea typeface="Arial"/>
              <a:cs typeface="Arial"/>
              <a:sym typeface="Arial"/>
            </a:endParaRPr>
          </a:p>
        </p:txBody>
      </p:sp>
      <p:sp>
        <p:nvSpPr>
          <p:cNvPr id="732" name="Google Shape;732;p54"/>
          <p:cNvSpPr txBox="1"/>
          <p:nvPr/>
        </p:nvSpPr>
        <p:spPr>
          <a:xfrm>
            <a:off x="5791200" y="5637214"/>
            <a:ext cx="3429000" cy="92392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FF0000"/>
                </a:solidFill>
                <a:latin typeface="Arial"/>
                <a:ea typeface="Arial"/>
                <a:cs typeface="Arial"/>
                <a:sym typeface="Arial"/>
              </a:rPr>
              <a:t>If the “bk” pointer is corrupted, we can control what value to put into the memory cell</a:t>
            </a:r>
            <a:endParaRPr sz="1800">
              <a:solidFill>
                <a:srgbClr val="FF0000"/>
              </a:solidFill>
              <a:latin typeface="Arial"/>
              <a:ea typeface="Arial"/>
              <a:cs typeface="Arial"/>
              <a:sym typeface="Arial"/>
            </a:endParaRPr>
          </a:p>
        </p:txBody>
      </p:sp>
      <p:sp>
        <p:nvSpPr>
          <p:cNvPr id="733" name="Google Shape;733;p54"/>
          <p:cNvSpPr/>
          <p:nvPr/>
        </p:nvSpPr>
        <p:spPr>
          <a:xfrm>
            <a:off x="4572000" y="4648200"/>
            <a:ext cx="1905000" cy="381000"/>
          </a:xfrm>
          <a:prstGeom prst="roundRect">
            <a:avLst>
              <a:gd name="adj" fmla="val 16667"/>
            </a:avLst>
          </a:prstGeom>
          <a:solidFill>
            <a:srgbClr val="FF0000">
              <a:alpha val="28627"/>
            </a:srgb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4" name="Google Shape;734;p54"/>
          <p:cNvSpPr/>
          <p:nvPr/>
        </p:nvSpPr>
        <p:spPr>
          <a:xfrm>
            <a:off x="3048000" y="2895600"/>
            <a:ext cx="3886200" cy="533400"/>
          </a:xfrm>
          <a:prstGeom prst="roundRect">
            <a:avLst>
              <a:gd name="adj" fmla="val 16667"/>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5" name="Google Shape;735;p54"/>
          <p:cNvSpPr txBox="1"/>
          <p:nvPr/>
        </p:nvSpPr>
        <p:spPr>
          <a:xfrm>
            <a:off x="8534400" y="3124200"/>
            <a:ext cx="1676400" cy="9159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FF0000"/>
                </a:solidFill>
                <a:latin typeface="Arial"/>
                <a:ea typeface="Arial"/>
                <a:cs typeface="Arial"/>
                <a:sym typeface="Arial"/>
              </a:rPr>
              <a:t>Will create some trouble for us</a:t>
            </a:r>
            <a:endParaRPr/>
          </a:p>
        </p:txBody>
      </p:sp>
      <p:cxnSp>
        <p:nvCxnSpPr>
          <p:cNvPr id="736" name="Google Shape;736;p54"/>
          <p:cNvCxnSpPr/>
          <p:nvPr/>
        </p:nvCxnSpPr>
        <p:spPr>
          <a:xfrm>
            <a:off x="6934200" y="3200400"/>
            <a:ext cx="1676400" cy="228600"/>
          </a:xfrm>
          <a:prstGeom prst="straightConnector1">
            <a:avLst/>
          </a:prstGeom>
          <a:noFill/>
          <a:ln w="19050" cap="flat" cmpd="sng">
            <a:solidFill>
              <a:srgbClr val="FF0000"/>
            </a:solidFill>
            <a:prstDash val="solid"/>
            <a:round/>
            <a:headEnd type="none" w="med" len="med"/>
            <a:tailEnd type="triangle" w="med" len="med"/>
          </a:ln>
        </p:spPr>
      </p:cxnSp>
      <p:sp>
        <p:nvSpPr>
          <p:cNvPr id="737" name="Google Shape;737;p54"/>
          <p:cNvSpPr txBox="1"/>
          <p:nvPr/>
        </p:nvSpPr>
        <p:spPr>
          <a:xfrm>
            <a:off x="5638800" y="6477000"/>
            <a:ext cx="4419600" cy="3381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accent2"/>
                </a:solidFill>
                <a:latin typeface="Arial"/>
                <a:ea typeface="Arial"/>
                <a:cs typeface="Arial"/>
                <a:sym typeface="Arial"/>
              </a:rPr>
              <a:t>Overwrite the “back” field with “what”.</a:t>
            </a:r>
            <a:endParaRPr sz="1600">
              <a:solidFill>
                <a:schemeClr val="accent2"/>
              </a:solidFill>
              <a:latin typeface="Arial"/>
              <a:ea typeface="Arial"/>
              <a:cs typeface="Arial"/>
              <a:sym typeface="Arial"/>
            </a:endParaRPr>
          </a:p>
        </p:txBody>
      </p:sp>
      <p:sp>
        <p:nvSpPr>
          <p:cNvPr id="738" name="Google Shape;738;p54"/>
          <p:cNvSpPr txBox="1"/>
          <p:nvPr/>
        </p:nvSpPr>
        <p:spPr>
          <a:xfrm>
            <a:off x="1447800" y="6477000"/>
            <a:ext cx="5029200" cy="3381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accent2"/>
                </a:solidFill>
                <a:latin typeface="Arial"/>
                <a:ea typeface="Arial"/>
                <a:cs typeface="Arial"/>
                <a:sym typeface="Arial"/>
              </a:rPr>
              <a:t>Overwrite the “forward” field with “where-12”.</a:t>
            </a:r>
            <a:endParaRPr sz="1600">
              <a:solidFill>
                <a:schemeClr val="accent2"/>
              </a:solidFill>
              <a:latin typeface="Arial"/>
              <a:ea typeface="Arial"/>
              <a:cs typeface="Arial"/>
              <a:sym typeface="Arial"/>
            </a:endParaRPr>
          </a:p>
        </p:txBody>
      </p:sp>
      <p:sp>
        <p:nvSpPr>
          <p:cNvPr id="739" name="Google Shape;739;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55</a:t>
            </a:fld>
            <a:endParaRPr sz="1400">
              <a:solidFill>
                <a:schemeClr val="dk1"/>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55"/>
          <p:cNvSpPr txBox="1">
            <a:spLocks noGrp="1"/>
          </p:cNvSpPr>
          <p:nvPr>
            <p:ph type="title"/>
          </p:nvPr>
        </p:nvSpPr>
        <p:spPr>
          <a:xfrm>
            <a:off x="1828800" y="274638"/>
            <a:ext cx="8229600" cy="7921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Calibri"/>
              <a:buNone/>
            </a:pPr>
            <a:r>
              <a:rPr lang="en-US" sz="2800"/>
              <a:t>How to make free() think the chunk after “a” is free</a:t>
            </a:r>
            <a:endParaRPr sz="2800"/>
          </a:p>
        </p:txBody>
      </p:sp>
      <p:sp>
        <p:nvSpPr>
          <p:cNvPr id="746" name="Google Shape;746;p55"/>
          <p:cNvSpPr txBox="1"/>
          <p:nvPr/>
        </p:nvSpPr>
        <p:spPr>
          <a:xfrm>
            <a:off x="3810000" y="13716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prev_free_size=0</a:t>
            </a:r>
            <a:endParaRPr/>
          </a:p>
        </p:txBody>
      </p:sp>
      <p:sp>
        <p:nvSpPr>
          <p:cNvPr id="747" name="Google Shape;747;p55"/>
          <p:cNvSpPr txBox="1"/>
          <p:nvPr/>
        </p:nvSpPr>
        <p:spPr>
          <a:xfrm>
            <a:off x="3810000" y="17526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Size=0x88</a:t>
            </a:r>
            <a:endParaRPr/>
          </a:p>
        </p:txBody>
      </p:sp>
      <p:cxnSp>
        <p:nvCxnSpPr>
          <p:cNvPr id="748" name="Google Shape;748;p55"/>
          <p:cNvCxnSpPr/>
          <p:nvPr/>
        </p:nvCxnSpPr>
        <p:spPr>
          <a:xfrm>
            <a:off x="6324600" y="1752600"/>
            <a:ext cx="0" cy="381000"/>
          </a:xfrm>
          <a:prstGeom prst="straightConnector1">
            <a:avLst/>
          </a:prstGeom>
          <a:noFill/>
          <a:ln w="9525" cap="flat" cmpd="sng">
            <a:solidFill>
              <a:schemeClr val="dk1"/>
            </a:solidFill>
            <a:prstDash val="solid"/>
            <a:round/>
            <a:headEnd type="none" w="med" len="med"/>
            <a:tailEnd type="none" w="med" len="med"/>
          </a:ln>
        </p:spPr>
      </p:cxnSp>
      <p:sp>
        <p:nvSpPr>
          <p:cNvPr id="749" name="Google Shape;749;p55"/>
          <p:cNvSpPr txBox="1"/>
          <p:nvPr/>
        </p:nvSpPr>
        <p:spPr>
          <a:xfrm>
            <a:off x="6400800" y="1765301"/>
            <a:ext cx="4572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a:t>
            </a:r>
            <a:endParaRPr/>
          </a:p>
        </p:txBody>
      </p:sp>
      <p:sp>
        <p:nvSpPr>
          <p:cNvPr id="750" name="Google Shape;750;p55"/>
          <p:cNvSpPr txBox="1"/>
          <p:nvPr/>
        </p:nvSpPr>
        <p:spPr>
          <a:xfrm>
            <a:off x="3810000" y="2125664"/>
            <a:ext cx="2971800" cy="9223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Data (AAAAAAAAAAAAAAAAAAAAA)</a:t>
            </a:r>
            <a:endParaRPr/>
          </a:p>
        </p:txBody>
      </p:sp>
      <p:sp>
        <p:nvSpPr>
          <p:cNvPr id="751" name="Google Shape;751;p55"/>
          <p:cNvSpPr txBox="1"/>
          <p:nvPr/>
        </p:nvSpPr>
        <p:spPr>
          <a:xfrm>
            <a:off x="1752600" y="1905001"/>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*a</a:t>
            </a:r>
            <a:endParaRPr/>
          </a:p>
        </p:txBody>
      </p:sp>
      <p:cxnSp>
        <p:nvCxnSpPr>
          <p:cNvPr id="752" name="Google Shape;752;p55"/>
          <p:cNvCxnSpPr/>
          <p:nvPr/>
        </p:nvCxnSpPr>
        <p:spPr>
          <a:xfrm>
            <a:off x="2743200" y="21336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753" name="Google Shape;753;p55"/>
          <p:cNvSpPr txBox="1"/>
          <p:nvPr/>
        </p:nvSpPr>
        <p:spPr>
          <a:xfrm>
            <a:off x="3810000" y="31242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prev_free_size=0</a:t>
            </a:r>
            <a:endParaRPr/>
          </a:p>
        </p:txBody>
      </p:sp>
      <p:sp>
        <p:nvSpPr>
          <p:cNvPr id="754" name="Google Shape;754;p55"/>
          <p:cNvSpPr txBox="1"/>
          <p:nvPr/>
        </p:nvSpPr>
        <p:spPr>
          <a:xfrm>
            <a:off x="3810000" y="35052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Size=0x98</a:t>
            </a:r>
            <a:endParaRPr/>
          </a:p>
        </p:txBody>
      </p:sp>
      <p:cxnSp>
        <p:nvCxnSpPr>
          <p:cNvPr id="755" name="Google Shape;755;p55"/>
          <p:cNvCxnSpPr/>
          <p:nvPr/>
        </p:nvCxnSpPr>
        <p:spPr>
          <a:xfrm>
            <a:off x="6324600" y="3505200"/>
            <a:ext cx="0" cy="381000"/>
          </a:xfrm>
          <a:prstGeom prst="straightConnector1">
            <a:avLst/>
          </a:prstGeom>
          <a:noFill/>
          <a:ln w="9525" cap="flat" cmpd="sng">
            <a:solidFill>
              <a:schemeClr val="dk1"/>
            </a:solidFill>
            <a:prstDash val="solid"/>
            <a:round/>
            <a:headEnd type="none" w="med" len="med"/>
            <a:tailEnd type="none" w="med" len="med"/>
          </a:ln>
        </p:spPr>
      </p:cxnSp>
      <p:sp>
        <p:nvSpPr>
          <p:cNvPr id="756" name="Google Shape;756;p55"/>
          <p:cNvSpPr txBox="1"/>
          <p:nvPr/>
        </p:nvSpPr>
        <p:spPr>
          <a:xfrm>
            <a:off x="6400800" y="3517901"/>
            <a:ext cx="4572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a:t>
            </a:r>
            <a:endParaRPr/>
          </a:p>
        </p:txBody>
      </p:sp>
      <p:sp>
        <p:nvSpPr>
          <p:cNvPr id="757" name="Google Shape;757;p55"/>
          <p:cNvSpPr txBox="1"/>
          <p:nvPr/>
        </p:nvSpPr>
        <p:spPr>
          <a:xfrm>
            <a:off x="3810000" y="3878264"/>
            <a:ext cx="2971800" cy="9223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Data (BBBBBBBBBBBBBBBBBBBBBB)</a:t>
            </a:r>
            <a:endParaRPr/>
          </a:p>
        </p:txBody>
      </p:sp>
      <p:sp>
        <p:nvSpPr>
          <p:cNvPr id="758" name="Google Shape;758;p55"/>
          <p:cNvSpPr txBox="1"/>
          <p:nvPr/>
        </p:nvSpPr>
        <p:spPr>
          <a:xfrm>
            <a:off x="1828800" y="3657600"/>
            <a:ext cx="990600" cy="3698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 b</a:t>
            </a:r>
            <a:endParaRPr/>
          </a:p>
        </p:txBody>
      </p:sp>
      <p:cxnSp>
        <p:nvCxnSpPr>
          <p:cNvPr id="759" name="Google Shape;759;p55"/>
          <p:cNvCxnSpPr/>
          <p:nvPr/>
        </p:nvCxnSpPr>
        <p:spPr>
          <a:xfrm>
            <a:off x="2743200" y="38862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760" name="Google Shape;760;p55"/>
          <p:cNvSpPr txBox="1"/>
          <p:nvPr/>
        </p:nvSpPr>
        <p:spPr>
          <a:xfrm>
            <a:off x="3810000" y="48768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prev_free_size=0x98</a:t>
            </a:r>
            <a:endParaRPr/>
          </a:p>
        </p:txBody>
      </p:sp>
      <p:sp>
        <p:nvSpPr>
          <p:cNvPr id="761" name="Google Shape;761;p55"/>
          <p:cNvSpPr txBox="1"/>
          <p:nvPr/>
        </p:nvSpPr>
        <p:spPr>
          <a:xfrm>
            <a:off x="3810000" y="5257800"/>
            <a:ext cx="2971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Size=0xa8</a:t>
            </a:r>
            <a:endParaRPr/>
          </a:p>
        </p:txBody>
      </p:sp>
      <p:cxnSp>
        <p:nvCxnSpPr>
          <p:cNvPr id="762" name="Google Shape;762;p55"/>
          <p:cNvCxnSpPr/>
          <p:nvPr/>
        </p:nvCxnSpPr>
        <p:spPr>
          <a:xfrm>
            <a:off x="6324600" y="5257800"/>
            <a:ext cx="0" cy="381000"/>
          </a:xfrm>
          <a:prstGeom prst="straightConnector1">
            <a:avLst/>
          </a:prstGeom>
          <a:noFill/>
          <a:ln w="9525" cap="flat" cmpd="sng">
            <a:solidFill>
              <a:schemeClr val="dk1"/>
            </a:solidFill>
            <a:prstDash val="solid"/>
            <a:round/>
            <a:headEnd type="none" w="med" len="med"/>
            <a:tailEnd type="none" w="med" len="med"/>
          </a:ln>
        </p:spPr>
      </p:cxnSp>
      <p:sp>
        <p:nvSpPr>
          <p:cNvPr id="763" name="Google Shape;763;p55"/>
          <p:cNvSpPr txBox="1"/>
          <p:nvPr/>
        </p:nvSpPr>
        <p:spPr>
          <a:xfrm>
            <a:off x="6400800" y="5270501"/>
            <a:ext cx="4572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0</a:t>
            </a:r>
            <a:endParaRPr/>
          </a:p>
        </p:txBody>
      </p:sp>
      <p:sp>
        <p:nvSpPr>
          <p:cNvPr id="764" name="Google Shape;764;p55"/>
          <p:cNvSpPr txBox="1"/>
          <p:nvPr/>
        </p:nvSpPr>
        <p:spPr>
          <a:xfrm>
            <a:off x="3810000" y="5630864"/>
            <a:ext cx="2971800" cy="9223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Data (CCCCCCCCCCCCCCCCCCCCC)</a:t>
            </a:r>
            <a:endParaRPr/>
          </a:p>
        </p:txBody>
      </p:sp>
      <p:sp>
        <p:nvSpPr>
          <p:cNvPr id="765" name="Google Shape;765;p55"/>
          <p:cNvSpPr txBox="1"/>
          <p:nvPr/>
        </p:nvSpPr>
        <p:spPr>
          <a:xfrm>
            <a:off x="1752600" y="5410201"/>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char *c</a:t>
            </a:r>
            <a:endParaRPr/>
          </a:p>
        </p:txBody>
      </p:sp>
      <p:cxnSp>
        <p:nvCxnSpPr>
          <p:cNvPr id="766" name="Google Shape;766;p55"/>
          <p:cNvCxnSpPr/>
          <p:nvPr/>
        </p:nvCxnSpPr>
        <p:spPr>
          <a:xfrm>
            <a:off x="2743200" y="56388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767" name="Google Shape;767;p55"/>
          <p:cNvSpPr txBox="1"/>
          <p:nvPr/>
        </p:nvSpPr>
        <p:spPr>
          <a:xfrm>
            <a:off x="6781800" y="5105401"/>
            <a:ext cx="3581400" cy="646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The second next chunk’s “size” word shall be an even number</a:t>
            </a:r>
            <a:endParaRPr sz="1800">
              <a:solidFill>
                <a:srgbClr val="FF0000"/>
              </a:solidFill>
              <a:latin typeface="Arial"/>
              <a:ea typeface="Arial"/>
              <a:cs typeface="Arial"/>
              <a:sym typeface="Arial"/>
            </a:endParaRPr>
          </a:p>
        </p:txBody>
      </p:sp>
      <p:sp>
        <p:nvSpPr>
          <p:cNvPr id="768" name="Google Shape;768;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56</a:t>
            </a:fld>
            <a:endParaRPr sz="1400">
              <a:solidFill>
                <a:schemeClr val="dk1"/>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Assembled heap-overflow payload</a:t>
            </a:r>
            <a:endParaRPr/>
          </a:p>
        </p:txBody>
      </p:sp>
      <p:sp>
        <p:nvSpPr>
          <p:cNvPr id="775" name="Google Shape;775;p56"/>
          <p:cNvSpPr txBox="1"/>
          <p:nvPr/>
        </p:nvSpPr>
        <p:spPr>
          <a:xfrm>
            <a:off x="3810000" y="1828800"/>
            <a:ext cx="5181600" cy="26670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776" name="Google Shape;776;p56"/>
          <p:cNvSpPr txBox="1"/>
          <p:nvPr/>
        </p:nvSpPr>
        <p:spPr>
          <a:xfrm>
            <a:off x="3810000" y="1841500"/>
            <a:ext cx="2590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XXXX</a:t>
            </a:r>
            <a:endParaRPr/>
          </a:p>
        </p:txBody>
      </p:sp>
      <p:sp>
        <p:nvSpPr>
          <p:cNvPr id="777" name="Google Shape;777;p56"/>
          <p:cNvSpPr txBox="1"/>
          <p:nvPr/>
        </p:nvSpPr>
        <p:spPr>
          <a:xfrm>
            <a:off x="3810000" y="2222500"/>
            <a:ext cx="2590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\x90\x90\x90\x90</a:t>
            </a:r>
            <a:endParaRPr/>
          </a:p>
        </p:txBody>
      </p:sp>
      <p:sp>
        <p:nvSpPr>
          <p:cNvPr id="778" name="Google Shape;778;p56"/>
          <p:cNvSpPr txBox="1"/>
          <p:nvPr/>
        </p:nvSpPr>
        <p:spPr>
          <a:xfrm>
            <a:off x="6400800" y="1841500"/>
            <a:ext cx="2590800" cy="37623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YYYY</a:t>
            </a:r>
            <a:endParaRPr/>
          </a:p>
        </p:txBody>
      </p:sp>
      <p:sp>
        <p:nvSpPr>
          <p:cNvPr id="779" name="Google Shape;779;p56"/>
          <p:cNvSpPr txBox="1"/>
          <p:nvPr/>
        </p:nvSpPr>
        <p:spPr>
          <a:xfrm>
            <a:off x="1828800" y="1600201"/>
            <a:ext cx="91440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buffer</a:t>
            </a:r>
            <a:endParaRPr/>
          </a:p>
        </p:txBody>
      </p:sp>
      <p:cxnSp>
        <p:nvCxnSpPr>
          <p:cNvPr id="780" name="Google Shape;780;p56"/>
          <p:cNvCxnSpPr/>
          <p:nvPr/>
        </p:nvCxnSpPr>
        <p:spPr>
          <a:xfrm>
            <a:off x="2743200" y="1828800"/>
            <a:ext cx="1066800" cy="0"/>
          </a:xfrm>
          <a:prstGeom prst="straightConnector1">
            <a:avLst/>
          </a:prstGeom>
          <a:noFill/>
          <a:ln w="9525" cap="flat" cmpd="sng">
            <a:solidFill>
              <a:schemeClr val="dk1"/>
            </a:solidFill>
            <a:prstDash val="solid"/>
            <a:round/>
            <a:headEnd type="none" w="med" len="med"/>
            <a:tailEnd type="triangle" w="med" len="med"/>
          </a:ln>
        </p:spPr>
      </p:cxnSp>
      <p:sp>
        <p:nvSpPr>
          <p:cNvPr id="781" name="Google Shape;781;p56"/>
          <p:cNvSpPr txBox="1"/>
          <p:nvPr/>
        </p:nvSpPr>
        <p:spPr>
          <a:xfrm>
            <a:off x="6400800" y="2214564"/>
            <a:ext cx="2590800" cy="3762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nop, nop, jmp + 4</a:t>
            </a:r>
            <a:endParaRPr/>
          </a:p>
        </p:txBody>
      </p:sp>
      <p:sp>
        <p:nvSpPr>
          <p:cNvPr id="782" name="Google Shape;782;p56"/>
          <p:cNvSpPr txBox="1"/>
          <p:nvPr/>
        </p:nvSpPr>
        <p:spPr>
          <a:xfrm>
            <a:off x="3810000" y="2595564"/>
            <a:ext cx="2590800" cy="3762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ZZZZ</a:t>
            </a:r>
            <a:endParaRPr/>
          </a:p>
        </p:txBody>
      </p:sp>
      <p:sp>
        <p:nvSpPr>
          <p:cNvPr id="783" name="Google Shape;783;p56"/>
          <p:cNvSpPr txBox="1"/>
          <p:nvPr/>
        </p:nvSpPr>
        <p:spPr>
          <a:xfrm>
            <a:off x="6400800" y="2595564"/>
            <a:ext cx="2590800" cy="3762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Shellcode…</a:t>
            </a:r>
            <a:endParaRPr/>
          </a:p>
        </p:txBody>
      </p:sp>
      <p:sp>
        <p:nvSpPr>
          <p:cNvPr id="784" name="Google Shape;784;p56"/>
          <p:cNvSpPr txBox="1"/>
          <p:nvPr/>
        </p:nvSpPr>
        <p:spPr>
          <a:xfrm>
            <a:off x="3810000" y="2971800"/>
            <a:ext cx="51816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Shellcode…</a:t>
            </a:r>
            <a:endParaRPr/>
          </a:p>
        </p:txBody>
      </p:sp>
      <p:sp>
        <p:nvSpPr>
          <p:cNvPr id="785" name="Google Shape;785;p56"/>
          <p:cNvSpPr txBox="1"/>
          <p:nvPr/>
        </p:nvSpPr>
        <p:spPr>
          <a:xfrm>
            <a:off x="3810000" y="3886200"/>
            <a:ext cx="5181600" cy="6096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Padding</a:t>
            </a:r>
            <a:endParaRPr/>
          </a:p>
        </p:txBody>
      </p:sp>
      <p:sp>
        <p:nvSpPr>
          <p:cNvPr id="786" name="Google Shape;786;p56"/>
          <p:cNvSpPr txBox="1"/>
          <p:nvPr/>
        </p:nvSpPr>
        <p:spPr>
          <a:xfrm>
            <a:off x="3810000" y="4500564"/>
            <a:ext cx="2590800" cy="3762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0xffffffff (-1)</a:t>
            </a:r>
            <a:endParaRPr/>
          </a:p>
        </p:txBody>
      </p:sp>
      <p:sp>
        <p:nvSpPr>
          <p:cNvPr id="787" name="Google Shape;787;p56"/>
          <p:cNvSpPr txBox="1"/>
          <p:nvPr/>
        </p:nvSpPr>
        <p:spPr>
          <a:xfrm>
            <a:off x="6400800" y="4500564"/>
            <a:ext cx="2590800" cy="3762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0xffffffff (-1)</a:t>
            </a:r>
            <a:endParaRPr/>
          </a:p>
        </p:txBody>
      </p:sp>
      <p:sp>
        <p:nvSpPr>
          <p:cNvPr id="788" name="Google Shape;788;p56"/>
          <p:cNvSpPr txBox="1"/>
          <p:nvPr/>
        </p:nvSpPr>
        <p:spPr>
          <a:xfrm>
            <a:off x="3810000" y="4881564"/>
            <a:ext cx="2590800" cy="3762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GOT_entry - 12</a:t>
            </a:r>
            <a:endParaRPr/>
          </a:p>
        </p:txBody>
      </p:sp>
      <p:sp>
        <p:nvSpPr>
          <p:cNvPr id="789" name="Google Shape;789;p56"/>
          <p:cNvSpPr txBox="1"/>
          <p:nvPr/>
        </p:nvSpPr>
        <p:spPr>
          <a:xfrm>
            <a:off x="6400800" y="4881564"/>
            <a:ext cx="2590800" cy="376237"/>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buffer + 8</a:t>
            </a:r>
            <a:endParaRPr/>
          </a:p>
        </p:txBody>
      </p:sp>
      <p:sp>
        <p:nvSpPr>
          <p:cNvPr id="790" name="Google Shape;790;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57</a:t>
            </a:fld>
            <a:endParaRPr sz="1400">
              <a:solidFill>
                <a:schemeClr val="dk1"/>
              </a:solidFill>
              <a:latin typeface="Arial"/>
              <a:ea typeface="Arial"/>
              <a:cs typeface="Arial"/>
              <a:sym typeface="Arial"/>
            </a:endParaRPr>
          </a:p>
        </p:txBody>
      </p:sp>
      <p:sp>
        <p:nvSpPr>
          <p:cNvPr id="791" name="Google Shape;791;p56"/>
          <p:cNvSpPr/>
          <p:nvPr/>
        </p:nvSpPr>
        <p:spPr>
          <a:xfrm>
            <a:off x="3624263" y="4419600"/>
            <a:ext cx="5562600" cy="9144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2" name="Google Shape;792;p56"/>
          <p:cNvSpPr/>
          <p:nvPr/>
        </p:nvSpPr>
        <p:spPr>
          <a:xfrm flipH="1">
            <a:off x="1981200" y="3733800"/>
            <a:ext cx="1295400" cy="6858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20000" y="22500"/>
                </a:lnTo>
                <a:lnTo>
                  <a:pt x="-44939" y="114106"/>
                </a:lnTo>
              </a:path>
            </a:pathLst>
          </a:custGeom>
          <a:noFill/>
          <a:ln w="1905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rgbClr val="FF0000"/>
                </a:solidFill>
                <a:latin typeface="Arial"/>
                <a:ea typeface="Arial"/>
                <a:cs typeface="Arial"/>
                <a:sym typeface="Arial"/>
              </a:rPr>
              <a:t>fake heap structure</a:t>
            </a:r>
            <a:endParaRPr/>
          </a:p>
        </p:txBody>
      </p:sp>
      <p:sp>
        <p:nvSpPr>
          <p:cNvPr id="793" name="Google Shape;793;p56"/>
          <p:cNvSpPr/>
          <p:nvPr/>
        </p:nvSpPr>
        <p:spPr>
          <a:xfrm>
            <a:off x="4191000" y="2590800"/>
            <a:ext cx="1862138" cy="3810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4" name="Google Shape;794;p56"/>
          <p:cNvSpPr/>
          <p:nvPr/>
        </p:nvSpPr>
        <p:spPr>
          <a:xfrm flipH="1">
            <a:off x="1524000" y="2209800"/>
            <a:ext cx="2133600" cy="12954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20000" y="22500"/>
                </a:lnTo>
                <a:lnTo>
                  <a:pt x="-28777" y="50417"/>
                </a:lnTo>
              </a:path>
            </a:pathLst>
          </a:custGeom>
          <a:noFill/>
          <a:ln w="1905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rgbClr val="FF0000"/>
                </a:solidFill>
                <a:latin typeface="Arial"/>
                <a:ea typeface="Arial"/>
                <a:cs typeface="Arial"/>
                <a:sym typeface="Arial"/>
              </a:rPr>
              <a:t>This word will be overwritten by the second part of unlink statement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9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9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Format String Attacks</a:t>
            </a:r>
            <a:endParaRPr/>
          </a:p>
        </p:txBody>
      </p:sp>
      <p:sp>
        <p:nvSpPr>
          <p:cNvPr id="800" name="Google Shape;800;p5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int printf(const char *format [, argument]…);</a:t>
            </a:r>
            <a:endParaRPr/>
          </a:p>
          <a:p>
            <a:pPr marL="685800" lvl="1" indent="-228600" algn="l" rtl="0">
              <a:lnSpc>
                <a:spcPct val="90000"/>
              </a:lnSpc>
              <a:spcBef>
                <a:spcPts val="500"/>
              </a:spcBef>
              <a:spcAft>
                <a:spcPts val="0"/>
              </a:spcAft>
              <a:buClr>
                <a:schemeClr val="dk1"/>
              </a:buClr>
              <a:buSzPts val="2400"/>
              <a:buChar char="•"/>
            </a:pPr>
            <a:r>
              <a:rPr lang="en-US"/>
              <a:t>snprintf, wsprintf …</a:t>
            </a:r>
            <a:endParaRPr/>
          </a:p>
          <a:p>
            <a:pPr marL="228600" lvl="0" indent="-228600" algn="l" rtl="0">
              <a:lnSpc>
                <a:spcPct val="90000"/>
              </a:lnSpc>
              <a:spcBef>
                <a:spcPts val="1000"/>
              </a:spcBef>
              <a:spcAft>
                <a:spcPts val="0"/>
              </a:spcAft>
              <a:buClr>
                <a:schemeClr val="dk1"/>
              </a:buClr>
              <a:buSzPts val="2800"/>
              <a:buChar char="•"/>
            </a:pPr>
            <a:r>
              <a:rPr lang="en-US"/>
              <a:t>What may happen if we execute</a:t>
            </a:r>
            <a:endParaRPr/>
          </a:p>
          <a:p>
            <a:pPr marL="228600" lvl="0" indent="-228600" algn="l" rtl="0">
              <a:lnSpc>
                <a:spcPct val="90000"/>
              </a:lnSpc>
              <a:spcBef>
                <a:spcPts val="1000"/>
              </a:spcBef>
              <a:spcAft>
                <a:spcPts val="0"/>
              </a:spcAft>
              <a:buClr>
                <a:schemeClr val="dk1"/>
              </a:buClr>
              <a:buSzPts val="2800"/>
              <a:buFont typeface="Noto Sans Symbols"/>
              <a:buNone/>
            </a:pPr>
            <a:r>
              <a:rPr lang="en-US" b="1"/>
              <a:t>			printf(string);</a:t>
            </a:r>
            <a:endParaRPr/>
          </a:p>
          <a:p>
            <a:pPr marL="685800" lvl="1" indent="-228600" algn="l" rtl="0">
              <a:lnSpc>
                <a:spcPct val="90000"/>
              </a:lnSpc>
              <a:spcBef>
                <a:spcPts val="500"/>
              </a:spcBef>
              <a:spcAft>
                <a:spcPts val="0"/>
              </a:spcAft>
              <a:buClr>
                <a:schemeClr val="dk1"/>
              </a:buClr>
              <a:buSzPts val="2400"/>
              <a:buChar char="•"/>
            </a:pPr>
            <a:r>
              <a:rPr lang="en-US"/>
              <a:t>Where </a:t>
            </a:r>
            <a:r>
              <a:rPr lang="en-US" b="1"/>
              <a:t>string </a:t>
            </a:r>
            <a:r>
              <a:rPr lang="en-US"/>
              <a:t>is user-supplied ?</a:t>
            </a:r>
            <a:endParaRPr/>
          </a:p>
          <a:p>
            <a:pPr marL="685800" lvl="1" indent="-228600" algn="l" rtl="0">
              <a:lnSpc>
                <a:spcPct val="90000"/>
              </a:lnSpc>
              <a:spcBef>
                <a:spcPts val="500"/>
              </a:spcBef>
              <a:spcAft>
                <a:spcPts val="0"/>
              </a:spcAft>
              <a:buClr>
                <a:schemeClr val="dk1"/>
              </a:buClr>
              <a:buSzPts val="2400"/>
              <a:buChar char="•"/>
            </a:pPr>
            <a:r>
              <a:rPr lang="en-US"/>
              <a:t>If it contains special characters, eg %s, %x, %n, %hn?</a:t>
            </a:r>
            <a:endParaRPr/>
          </a:p>
          <a:p>
            <a:pPr marL="228600" lvl="0" indent="-50800" algn="l" rtl="0">
              <a:lnSpc>
                <a:spcPct val="90000"/>
              </a:lnSpc>
              <a:spcBef>
                <a:spcPts val="1000"/>
              </a:spcBef>
              <a:spcAft>
                <a:spcPts val="0"/>
              </a:spcAft>
              <a:buClr>
                <a:schemeClr val="dk1"/>
              </a:buClr>
              <a:buSzPts val="2800"/>
              <a:buNone/>
            </a:pPr>
            <a:endParaRPr/>
          </a:p>
        </p:txBody>
      </p:sp>
      <p:sp>
        <p:nvSpPr>
          <p:cNvPr id="801" name="Google Shape;801;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Format String Attacks</a:t>
            </a:r>
            <a:endParaRPr/>
          </a:p>
        </p:txBody>
      </p:sp>
      <p:sp>
        <p:nvSpPr>
          <p:cNvPr id="807" name="Google Shape;807;p5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Why this could happen?</a:t>
            </a:r>
            <a:endParaRPr/>
          </a:p>
          <a:p>
            <a:pPr marL="685800" lvl="1" indent="-228600" algn="l" rtl="0">
              <a:lnSpc>
                <a:spcPct val="90000"/>
              </a:lnSpc>
              <a:spcBef>
                <a:spcPts val="500"/>
              </a:spcBef>
              <a:spcAft>
                <a:spcPts val="0"/>
              </a:spcAft>
              <a:buClr>
                <a:schemeClr val="dk1"/>
              </a:buClr>
              <a:buSzPts val="2400"/>
              <a:buChar char="•"/>
            </a:pPr>
            <a:r>
              <a:rPr lang="en-US"/>
              <a:t>Many programs delay output message for batch display:</a:t>
            </a:r>
            <a:endParaRPr/>
          </a:p>
          <a:p>
            <a:pPr marL="685800" lvl="1" indent="-228600" algn="l" rtl="0">
              <a:lnSpc>
                <a:spcPct val="90000"/>
              </a:lnSpc>
              <a:spcBef>
                <a:spcPts val="500"/>
              </a:spcBef>
              <a:spcAft>
                <a:spcPts val="0"/>
              </a:spcAft>
              <a:buClr>
                <a:srgbClr val="C00000"/>
              </a:buClr>
              <a:buSzPts val="2400"/>
              <a:buChar char="•"/>
            </a:pPr>
            <a:r>
              <a:rPr lang="en-US">
                <a:solidFill>
                  <a:srgbClr val="C00000"/>
                </a:solidFill>
              </a:rPr>
              <a:t>fprintf(STDOUT, err_msg);</a:t>
            </a:r>
            <a:endParaRPr/>
          </a:p>
          <a:p>
            <a:pPr marL="685800" lvl="1" indent="-228600" algn="l" rtl="0">
              <a:lnSpc>
                <a:spcPct val="90000"/>
              </a:lnSpc>
              <a:spcBef>
                <a:spcPts val="500"/>
              </a:spcBef>
              <a:spcAft>
                <a:spcPts val="0"/>
              </a:spcAft>
              <a:buClr>
                <a:schemeClr val="dk1"/>
              </a:buClr>
              <a:buSzPts val="2400"/>
              <a:buChar char="•"/>
            </a:pPr>
            <a:r>
              <a:rPr lang="en-US"/>
              <a:t>Where the err_msg is composed based on user inputs</a:t>
            </a:r>
            <a:endParaRPr/>
          </a:p>
          <a:p>
            <a:pPr marL="685800" lvl="1" indent="-228600" algn="l" rtl="0">
              <a:lnSpc>
                <a:spcPct val="90000"/>
              </a:lnSpc>
              <a:spcBef>
                <a:spcPts val="500"/>
              </a:spcBef>
              <a:spcAft>
                <a:spcPts val="0"/>
              </a:spcAft>
              <a:buClr>
                <a:schemeClr val="dk1"/>
              </a:buClr>
              <a:buSzPts val="2400"/>
              <a:buChar char="•"/>
            </a:pPr>
            <a:r>
              <a:rPr lang="en-US"/>
              <a:t>If a user can change err_msg freely, format string attack is possible</a:t>
            </a:r>
            <a:endParaRPr/>
          </a:p>
          <a:p>
            <a:pPr marL="685800" lvl="1" indent="-76200" algn="l" rtl="0">
              <a:lnSpc>
                <a:spcPct val="90000"/>
              </a:lnSpc>
              <a:spcBef>
                <a:spcPts val="500"/>
              </a:spcBef>
              <a:spcAft>
                <a:spcPts val="0"/>
              </a:spcAft>
              <a:buClr>
                <a:schemeClr val="dk1"/>
              </a:buClr>
              <a:buSzPts val="2400"/>
              <a:buNone/>
            </a:pPr>
            <a:endParaRPr/>
          </a:p>
          <a:p>
            <a:pPr marL="228600" lvl="0" indent="-50800" algn="l" rtl="0">
              <a:lnSpc>
                <a:spcPct val="90000"/>
              </a:lnSpc>
              <a:spcBef>
                <a:spcPts val="1000"/>
              </a:spcBef>
              <a:spcAft>
                <a:spcPts val="0"/>
              </a:spcAft>
              <a:buClr>
                <a:schemeClr val="dk1"/>
              </a:buClr>
              <a:buSzPts val="2800"/>
              <a:buNone/>
            </a:pPr>
            <a:endParaRPr/>
          </a:p>
        </p:txBody>
      </p:sp>
      <p:sp>
        <p:nvSpPr>
          <p:cNvPr id="808" name="Google Shape;808;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p5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Format String Attacks</a:t>
            </a:r>
            <a:endParaRPr sz="4000"/>
          </a:p>
        </p:txBody>
      </p:sp>
      <p:sp>
        <p:nvSpPr>
          <p:cNvPr id="814" name="Google Shape;814;p59"/>
          <p:cNvSpPr txBox="1">
            <a:spLocks noGrp="1"/>
          </p:cNvSpPr>
          <p:nvPr>
            <p:ph type="body" idx="1"/>
          </p:nvPr>
        </p:nvSpPr>
        <p:spPr>
          <a:xfrm>
            <a:off x="838200" y="1825625"/>
            <a:ext cx="10515600" cy="4896000"/>
          </a:xfrm>
          <a:prstGeom prst="rect">
            <a:avLst/>
          </a:prstGeom>
          <a:noFill/>
          <a:ln>
            <a:noFill/>
          </a:ln>
        </p:spPr>
        <p:txBody>
          <a:bodyPr spcFirstLastPara="1" wrap="square" lIns="91425" tIns="45700" rIns="91425" bIns="45700" anchor="t" anchorCtr="0">
            <a:normAutofit/>
          </a:bodyPr>
          <a:lstStyle/>
          <a:p>
            <a:pPr marL="228600" lvl="0" indent="-241300" algn="l" rtl="0">
              <a:lnSpc>
                <a:spcPct val="90000"/>
              </a:lnSpc>
              <a:spcBef>
                <a:spcPts val="0"/>
              </a:spcBef>
              <a:spcAft>
                <a:spcPts val="0"/>
              </a:spcAft>
              <a:buClr>
                <a:schemeClr val="dk1"/>
              </a:buClr>
              <a:buSzPts val="3000"/>
              <a:buChar char="•"/>
            </a:pPr>
            <a:r>
              <a:rPr lang="en-US" sz="3000"/>
              <a:t>%</a:t>
            </a:r>
            <a:r>
              <a:rPr lang="en-US" sz="3000" b="1"/>
              <a:t>x </a:t>
            </a:r>
            <a:r>
              <a:rPr lang="en-US" sz="3000"/>
              <a:t>reads and prints 4 bytes from stack</a:t>
            </a:r>
            <a:endParaRPr sz="3000"/>
          </a:p>
          <a:p>
            <a:pPr marL="685800" lvl="1" indent="-241300" algn="l" rtl="0">
              <a:lnSpc>
                <a:spcPct val="90000"/>
              </a:lnSpc>
              <a:spcBef>
                <a:spcPts val="500"/>
              </a:spcBef>
              <a:spcAft>
                <a:spcPts val="0"/>
              </a:spcAft>
              <a:buClr>
                <a:schemeClr val="dk1"/>
              </a:buClr>
              <a:buSzPts val="2600"/>
              <a:buChar char="•"/>
            </a:pPr>
            <a:r>
              <a:rPr lang="en-US" sz="2600"/>
              <a:t>this may leak sensitive data</a:t>
            </a:r>
            <a:endParaRPr sz="2600"/>
          </a:p>
          <a:p>
            <a:pPr marL="228600" lvl="0" indent="-241300" algn="l" rtl="0">
              <a:lnSpc>
                <a:spcPct val="90000"/>
              </a:lnSpc>
              <a:spcBef>
                <a:spcPts val="1000"/>
              </a:spcBef>
              <a:spcAft>
                <a:spcPts val="0"/>
              </a:spcAft>
              <a:buClr>
                <a:schemeClr val="dk1"/>
              </a:buClr>
              <a:buSzPts val="3000"/>
              <a:buChar char="•"/>
            </a:pPr>
            <a:r>
              <a:rPr lang="en-US" sz="3000"/>
              <a:t>%</a:t>
            </a:r>
            <a:r>
              <a:rPr lang="en-US" sz="3000" b="1"/>
              <a:t>n </a:t>
            </a:r>
            <a:r>
              <a:rPr lang="en-US" sz="3000"/>
              <a:t>writes the number of characters printed so far onto the stack</a:t>
            </a:r>
            <a:endParaRPr sz="3000"/>
          </a:p>
          <a:p>
            <a:pPr marL="685800" lvl="1" indent="-241300" algn="l" rtl="0">
              <a:lnSpc>
                <a:spcPct val="90000"/>
              </a:lnSpc>
              <a:spcBef>
                <a:spcPts val="500"/>
              </a:spcBef>
              <a:spcAft>
                <a:spcPts val="0"/>
              </a:spcAft>
              <a:buClr>
                <a:schemeClr val="dk1"/>
              </a:buClr>
              <a:buSzPts val="2600"/>
              <a:buChar char="•"/>
            </a:pPr>
            <a:r>
              <a:rPr lang="en-US" sz="2600"/>
              <a:t>this allow stack overflow attacks...</a:t>
            </a:r>
            <a:endParaRPr sz="2600"/>
          </a:p>
          <a:p>
            <a:pPr marL="228600" lvl="0" indent="-241300" algn="l" rtl="0">
              <a:lnSpc>
                <a:spcPct val="90000"/>
              </a:lnSpc>
              <a:spcBef>
                <a:spcPts val="1000"/>
              </a:spcBef>
              <a:spcAft>
                <a:spcPts val="0"/>
              </a:spcAft>
              <a:buClr>
                <a:schemeClr val="dk1"/>
              </a:buClr>
              <a:buSzPts val="3000"/>
              <a:buChar char="•"/>
            </a:pPr>
            <a:r>
              <a:rPr lang="en-US" sz="3000"/>
              <a:t>C format strings break the “don’t mix data &amp; code” principle.</a:t>
            </a:r>
            <a:endParaRPr sz="3000"/>
          </a:p>
          <a:p>
            <a:pPr marL="228600" lvl="0" indent="-241300" algn="l" rtl="0">
              <a:lnSpc>
                <a:spcPct val="90000"/>
              </a:lnSpc>
              <a:spcBef>
                <a:spcPts val="1000"/>
              </a:spcBef>
              <a:spcAft>
                <a:spcPts val="0"/>
              </a:spcAft>
              <a:buClr>
                <a:schemeClr val="dk1"/>
              </a:buClr>
              <a:buSzPts val="3000"/>
              <a:buChar char="•"/>
            </a:pPr>
            <a:r>
              <a:rPr lang="en-US" sz="3000"/>
              <a:t>“Easy” to spot &amp; fix:</a:t>
            </a:r>
            <a:endParaRPr sz="3000"/>
          </a:p>
          <a:p>
            <a:pPr marL="685800" lvl="1" indent="-241300" algn="l" rtl="0">
              <a:lnSpc>
                <a:spcPct val="90000"/>
              </a:lnSpc>
              <a:spcBef>
                <a:spcPts val="500"/>
              </a:spcBef>
              <a:spcAft>
                <a:spcPts val="0"/>
              </a:spcAft>
              <a:buClr>
                <a:schemeClr val="dk1"/>
              </a:buClr>
              <a:buSzPts val="2600"/>
              <a:buChar char="•"/>
            </a:pPr>
            <a:r>
              <a:rPr lang="en-US" sz="2600"/>
              <a:t>replace </a:t>
            </a:r>
            <a:r>
              <a:rPr lang="en-US" sz="2600" b="1"/>
              <a:t>printf(str) by printf(“%s”, str)</a:t>
            </a:r>
            <a:endParaRPr sz="2600"/>
          </a:p>
          <a:p>
            <a:pPr marL="228600" lvl="0" indent="-50800" algn="l" rtl="0">
              <a:lnSpc>
                <a:spcPct val="90000"/>
              </a:lnSpc>
              <a:spcBef>
                <a:spcPts val="1000"/>
              </a:spcBef>
              <a:spcAft>
                <a:spcPts val="0"/>
              </a:spcAft>
              <a:buClr>
                <a:schemeClr val="dk1"/>
              </a:buClr>
              <a:buSzPts val="2800"/>
              <a:buNone/>
            </a:pPr>
            <a:endParaRPr sz="3000"/>
          </a:p>
        </p:txBody>
      </p:sp>
      <p:sp>
        <p:nvSpPr>
          <p:cNvPr id="815" name="Google Shape;815;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6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821" name="Google Shape;821;p62"/>
          <p:cNvSpPr txBox="1">
            <a:spLocks noGrp="1"/>
          </p:cNvSpPr>
          <p:nvPr>
            <p:ph type="body" idx="1"/>
          </p:nvPr>
        </p:nvSpPr>
        <p:spPr>
          <a:xfrm>
            <a:off x="838200" y="1825625"/>
            <a:ext cx="10515600" cy="3318000"/>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l" rtl="0">
              <a:lnSpc>
                <a:spcPct val="90000"/>
              </a:lnSpc>
              <a:spcBef>
                <a:spcPts val="0"/>
              </a:spcBef>
              <a:spcAft>
                <a:spcPts val="0"/>
              </a:spcAft>
              <a:buClr>
                <a:schemeClr val="dk1"/>
              </a:buClr>
              <a:buSzPct val="100000"/>
              <a:buFont typeface="Noto Sans Symbols"/>
              <a:buNone/>
            </a:pPr>
            <a:r>
              <a:rPr lang="en-US" sz="1800"/>
              <a:t>#include &lt;stdio.h&gt;</a:t>
            </a:r>
            <a:endParaRPr/>
          </a:p>
          <a:p>
            <a:pPr marL="228600" lvl="0" indent="-228600" algn="l" rtl="0">
              <a:lnSpc>
                <a:spcPct val="90000"/>
              </a:lnSpc>
              <a:spcBef>
                <a:spcPts val="1000"/>
              </a:spcBef>
              <a:spcAft>
                <a:spcPts val="0"/>
              </a:spcAft>
              <a:buClr>
                <a:schemeClr val="dk1"/>
              </a:buClr>
              <a:buSzPct val="100000"/>
              <a:buFont typeface="Noto Sans Symbols"/>
              <a:buNone/>
            </a:pPr>
            <a:r>
              <a:rPr lang="en-US" sz="1800"/>
              <a:t>void foo(char *format){</a:t>
            </a:r>
            <a:endParaRPr/>
          </a:p>
          <a:p>
            <a:pPr marL="228600" lvl="0" indent="-228600" algn="l" rtl="0">
              <a:lnSpc>
                <a:spcPct val="90000"/>
              </a:lnSpc>
              <a:spcBef>
                <a:spcPts val="1000"/>
              </a:spcBef>
              <a:spcAft>
                <a:spcPts val="0"/>
              </a:spcAft>
              <a:buClr>
                <a:schemeClr val="dk1"/>
              </a:buClr>
              <a:buSzPct val="100000"/>
              <a:buFont typeface="Noto Sans Symbols"/>
              <a:buNone/>
            </a:pPr>
            <a:r>
              <a:rPr lang="en-US" sz="1800"/>
              <a:t>	int a1=11; int a2=12;</a:t>
            </a:r>
            <a:endParaRPr/>
          </a:p>
          <a:p>
            <a:pPr marL="228600" lvl="0" indent="-228600" algn="l" rtl="0">
              <a:lnSpc>
                <a:spcPct val="90000"/>
              </a:lnSpc>
              <a:spcBef>
                <a:spcPts val="1000"/>
              </a:spcBef>
              <a:spcAft>
                <a:spcPts val="0"/>
              </a:spcAft>
              <a:buClr>
                <a:schemeClr val="dk1"/>
              </a:buClr>
              <a:buSzPct val="100000"/>
              <a:buFont typeface="Noto Sans Symbols"/>
              <a:buNone/>
            </a:pPr>
            <a:r>
              <a:rPr lang="en-US" sz="1800"/>
              <a:t>	int a3=13; int a4=14;</a:t>
            </a:r>
            <a:endParaRPr/>
          </a:p>
          <a:p>
            <a:pPr marL="228600" lvl="0" indent="-228600" algn="l" rtl="0">
              <a:lnSpc>
                <a:spcPct val="90000"/>
              </a:lnSpc>
              <a:spcBef>
                <a:spcPts val="1000"/>
              </a:spcBef>
              <a:spcAft>
                <a:spcPts val="0"/>
              </a:spcAft>
              <a:buClr>
                <a:schemeClr val="dk1"/>
              </a:buClr>
              <a:buSzPct val="100000"/>
              <a:buFont typeface="Noto Sans Symbols"/>
              <a:buNone/>
            </a:pPr>
            <a:r>
              <a:rPr lang="en-US" sz="1800"/>
              <a:t>	printf(format);</a:t>
            </a:r>
            <a:endParaRPr/>
          </a:p>
          <a:p>
            <a:pPr marL="228600" lvl="0" indent="-228600" algn="l" rtl="0">
              <a:lnSpc>
                <a:spcPct val="90000"/>
              </a:lnSpc>
              <a:spcBef>
                <a:spcPts val="1000"/>
              </a:spcBef>
              <a:spcAft>
                <a:spcPts val="0"/>
              </a:spcAft>
              <a:buClr>
                <a:schemeClr val="dk1"/>
              </a:buClr>
              <a:buSzPct val="100000"/>
              <a:buFont typeface="Noto Sans Symbols"/>
              <a:buNone/>
            </a:pPr>
            <a:r>
              <a:rPr lang="en-US" sz="1800"/>
              <a:t>}</a:t>
            </a:r>
            <a:endParaRPr/>
          </a:p>
          <a:p>
            <a:pPr marL="228600" lvl="0" indent="-228600" algn="l" rtl="0">
              <a:lnSpc>
                <a:spcPct val="90000"/>
              </a:lnSpc>
              <a:spcBef>
                <a:spcPts val="1000"/>
              </a:spcBef>
              <a:spcAft>
                <a:spcPts val="0"/>
              </a:spcAft>
              <a:buClr>
                <a:schemeClr val="dk1"/>
              </a:buClr>
              <a:buSzPct val="100000"/>
              <a:buFont typeface="Noto Sans Symbols"/>
              <a:buNone/>
            </a:pPr>
            <a:r>
              <a:rPr lang="en-US" sz="1800"/>
              <a:t>void main(int argc, char **argv){</a:t>
            </a:r>
            <a:endParaRPr/>
          </a:p>
          <a:p>
            <a:pPr marL="228600" lvl="0" indent="-228600" algn="l" rtl="0">
              <a:lnSpc>
                <a:spcPct val="90000"/>
              </a:lnSpc>
              <a:spcBef>
                <a:spcPts val="1000"/>
              </a:spcBef>
              <a:spcAft>
                <a:spcPts val="0"/>
              </a:spcAft>
              <a:buClr>
                <a:schemeClr val="dk1"/>
              </a:buClr>
              <a:buSzPct val="100000"/>
              <a:buFont typeface="Noto Sans Symbols"/>
              <a:buNone/>
            </a:pPr>
            <a:r>
              <a:rPr lang="en-US" sz="1800"/>
              <a:t>	foo(argv[1]);</a:t>
            </a:r>
            <a:endParaRPr/>
          </a:p>
          <a:p>
            <a:pPr marL="228600" lvl="0" indent="-228600" algn="l" rtl="0">
              <a:lnSpc>
                <a:spcPct val="90000"/>
              </a:lnSpc>
              <a:spcBef>
                <a:spcPts val="1000"/>
              </a:spcBef>
              <a:spcAft>
                <a:spcPts val="0"/>
              </a:spcAft>
              <a:buClr>
                <a:schemeClr val="dk1"/>
              </a:buClr>
              <a:buSzPct val="100000"/>
              <a:buFont typeface="Noto Sans Symbols"/>
              <a:buNone/>
            </a:pPr>
            <a:r>
              <a:rPr lang="en-US" sz="1800"/>
              <a:t>	printf("\n");    </a:t>
            </a:r>
            <a:endParaRPr/>
          </a:p>
          <a:p>
            <a:pPr marL="228600" lvl="0" indent="-228600" algn="l" rtl="0">
              <a:lnSpc>
                <a:spcPct val="90000"/>
              </a:lnSpc>
              <a:spcBef>
                <a:spcPts val="1000"/>
              </a:spcBef>
              <a:spcAft>
                <a:spcPts val="0"/>
              </a:spcAft>
              <a:buClr>
                <a:schemeClr val="dk1"/>
              </a:buClr>
              <a:buSzPct val="100000"/>
              <a:buFont typeface="Noto Sans Symbols"/>
              <a:buNone/>
            </a:pPr>
            <a:r>
              <a:rPr lang="en-US" sz="1800"/>
              <a:t>}</a:t>
            </a:r>
            <a:endParaRPr/>
          </a:p>
          <a:p>
            <a:pPr marL="228600" lvl="0" indent="-228600" algn="l" rtl="0">
              <a:lnSpc>
                <a:spcPct val="90000"/>
              </a:lnSpc>
              <a:spcBef>
                <a:spcPts val="1000"/>
              </a:spcBef>
              <a:spcAft>
                <a:spcPts val="0"/>
              </a:spcAft>
              <a:buClr>
                <a:srgbClr val="000000"/>
              </a:buClr>
              <a:buSzPct val="100000"/>
              <a:buFont typeface="Noto Sans Symbols"/>
              <a:buNone/>
            </a:pPr>
            <a:r>
              <a:rPr lang="en-US" sz="2400">
                <a:solidFill>
                  <a:srgbClr val="000000"/>
                </a:solidFill>
              </a:rPr>
              <a:t>$./format-x-subfun "%x %x %x %x : %x,   %x,   %x    "</a:t>
            </a:r>
            <a:endParaRPr/>
          </a:p>
          <a:p>
            <a:pPr marL="228600" lvl="0" indent="-228600" algn="l" rtl="0">
              <a:lnSpc>
                <a:spcPct val="90000"/>
              </a:lnSpc>
              <a:spcBef>
                <a:spcPts val="1000"/>
              </a:spcBef>
              <a:spcAft>
                <a:spcPts val="0"/>
              </a:spcAft>
              <a:buClr>
                <a:srgbClr val="000000"/>
              </a:buClr>
              <a:buSzPct val="100000"/>
              <a:buFont typeface="Noto Sans Symbols"/>
              <a:buNone/>
            </a:pPr>
            <a:r>
              <a:rPr lang="en-US" sz="2400">
                <a:solidFill>
                  <a:srgbClr val="000000"/>
                </a:solidFill>
              </a:rPr>
              <a:t>80495bc </a:t>
            </a:r>
            <a:r>
              <a:rPr lang="en-US" sz="2400" b="1">
                <a:solidFill>
                  <a:srgbClr val="C00000"/>
                </a:solidFill>
              </a:rPr>
              <a:t>e d c : b</a:t>
            </a:r>
            <a:r>
              <a:rPr lang="en-US" sz="2400">
                <a:solidFill>
                  <a:srgbClr val="000000"/>
                </a:solidFill>
              </a:rPr>
              <a:t>,   bffff7e8,   </a:t>
            </a:r>
            <a:r>
              <a:rPr lang="en-US" sz="2400" b="1">
                <a:solidFill>
                  <a:srgbClr val="C00000"/>
                </a:solidFill>
              </a:rPr>
              <a:t>80483f4</a:t>
            </a:r>
            <a:endParaRPr/>
          </a:p>
        </p:txBody>
      </p:sp>
      <p:cxnSp>
        <p:nvCxnSpPr>
          <p:cNvPr id="822" name="Google Shape;822;p62"/>
          <p:cNvCxnSpPr/>
          <p:nvPr/>
        </p:nvCxnSpPr>
        <p:spPr>
          <a:xfrm rot="10800000">
            <a:off x="4119889" y="5068876"/>
            <a:ext cx="523800" cy="484200"/>
          </a:xfrm>
          <a:prstGeom prst="straightConnector1">
            <a:avLst/>
          </a:prstGeom>
          <a:noFill/>
          <a:ln w="12700" cap="flat" cmpd="sng">
            <a:solidFill>
              <a:srgbClr val="000000"/>
            </a:solidFill>
            <a:prstDash val="solid"/>
            <a:round/>
            <a:headEnd type="none" w="med" len="med"/>
            <a:tailEnd type="stealth" w="med" len="med"/>
          </a:ln>
        </p:spPr>
      </p:cxnSp>
      <p:sp>
        <p:nvSpPr>
          <p:cNvPr id="823" name="Google Shape;823;p62"/>
          <p:cNvSpPr txBox="1"/>
          <p:nvPr/>
        </p:nvSpPr>
        <p:spPr>
          <a:xfrm>
            <a:off x="4455463" y="5761714"/>
            <a:ext cx="24240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00279F"/>
              </a:buClr>
              <a:buSzPts val="2400"/>
              <a:buFont typeface="Noto Sans Symbols"/>
              <a:buNone/>
            </a:pPr>
            <a:r>
              <a:rPr lang="en-US" sz="2400">
                <a:solidFill>
                  <a:srgbClr val="00279F"/>
                </a:solidFill>
                <a:latin typeface="Batang"/>
                <a:ea typeface="Batang"/>
                <a:cs typeface="Batang"/>
                <a:sym typeface="Batang"/>
              </a:rPr>
              <a:t>Return address</a:t>
            </a:r>
            <a:endParaRPr/>
          </a:p>
        </p:txBody>
      </p:sp>
      <p:cxnSp>
        <p:nvCxnSpPr>
          <p:cNvPr id="824" name="Google Shape;824;p62"/>
          <p:cNvCxnSpPr/>
          <p:nvPr/>
        </p:nvCxnSpPr>
        <p:spPr>
          <a:xfrm rot="10800000">
            <a:off x="1983889" y="5068876"/>
            <a:ext cx="523800" cy="484200"/>
          </a:xfrm>
          <a:prstGeom prst="straightConnector1">
            <a:avLst/>
          </a:prstGeom>
          <a:noFill/>
          <a:ln w="12700" cap="flat" cmpd="sng">
            <a:solidFill>
              <a:srgbClr val="000000"/>
            </a:solidFill>
            <a:prstDash val="solid"/>
            <a:round/>
            <a:headEnd type="none" w="med" len="med"/>
            <a:tailEnd type="stealth" w="med" len="med"/>
          </a:ln>
        </p:spPr>
      </p:cxnSp>
      <p:sp>
        <p:nvSpPr>
          <p:cNvPr id="825" name="Google Shape;825;p62"/>
          <p:cNvSpPr txBox="1"/>
          <p:nvPr/>
        </p:nvSpPr>
        <p:spPr>
          <a:xfrm>
            <a:off x="1983904" y="5634039"/>
            <a:ext cx="23151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00279F"/>
              </a:buClr>
              <a:buSzPts val="2400"/>
              <a:buFont typeface="Noto Sans Symbols"/>
              <a:buNone/>
            </a:pPr>
            <a:r>
              <a:rPr lang="en-US" sz="2400">
                <a:solidFill>
                  <a:srgbClr val="00279F"/>
                </a:solidFill>
                <a:latin typeface="Batang"/>
                <a:ea typeface="Batang"/>
                <a:cs typeface="Batang"/>
                <a:sym typeface="Batang"/>
              </a:rPr>
              <a:t>Four variables</a:t>
            </a:r>
            <a:endParaRPr/>
          </a:p>
        </p:txBody>
      </p:sp>
      <p:sp>
        <p:nvSpPr>
          <p:cNvPr id="826" name="Google Shape;826;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832" name="Google Shape;832;p6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1"/>
              <a:t>What does this string (“%x:%x:%s”) do?</a:t>
            </a:r>
            <a:endParaRPr/>
          </a:p>
          <a:p>
            <a:pPr marL="685800" lvl="1" indent="-228600" algn="l" rtl="0">
              <a:lnSpc>
                <a:spcPct val="90000"/>
              </a:lnSpc>
              <a:spcBef>
                <a:spcPts val="500"/>
              </a:spcBef>
              <a:spcAft>
                <a:spcPts val="0"/>
              </a:spcAft>
              <a:buClr>
                <a:schemeClr val="dk1"/>
              </a:buClr>
              <a:buSzPts val="2400"/>
              <a:buChar char="•"/>
            </a:pPr>
            <a:r>
              <a:rPr lang="en-US" b="1"/>
              <a:t>Prints first two words of stack memory</a:t>
            </a:r>
            <a:endParaRPr/>
          </a:p>
          <a:p>
            <a:pPr marL="685800" lvl="1" indent="-228600" algn="l" rtl="0">
              <a:lnSpc>
                <a:spcPct val="90000"/>
              </a:lnSpc>
              <a:spcBef>
                <a:spcPts val="500"/>
              </a:spcBef>
              <a:spcAft>
                <a:spcPts val="0"/>
              </a:spcAft>
              <a:buClr>
                <a:schemeClr val="dk1"/>
              </a:buClr>
              <a:buSzPts val="2400"/>
              <a:buChar char="•"/>
            </a:pPr>
            <a:r>
              <a:rPr lang="en-US" b="1"/>
              <a:t>Treats next stack memory word as memory addr and prints everything until first '\0‘</a:t>
            </a:r>
            <a:endParaRPr/>
          </a:p>
          <a:p>
            <a:pPr marL="1143000" lvl="2" indent="-228600" algn="l" rtl="0">
              <a:lnSpc>
                <a:spcPct val="90000"/>
              </a:lnSpc>
              <a:spcBef>
                <a:spcPts val="500"/>
              </a:spcBef>
              <a:spcAft>
                <a:spcPts val="0"/>
              </a:spcAft>
              <a:buClr>
                <a:schemeClr val="dk1"/>
              </a:buClr>
              <a:buSzPts val="2000"/>
              <a:buChar char="•"/>
            </a:pPr>
            <a:r>
              <a:rPr lang="en-US" b="1"/>
              <a:t>Could segment fault if goes to other program’s memory</a:t>
            </a:r>
            <a:endParaRPr/>
          </a:p>
        </p:txBody>
      </p:sp>
      <p:sp>
        <p:nvSpPr>
          <p:cNvPr id="833" name="Google Shape;833;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6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839" name="Google Shape;839;p6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1"/>
              <a:t>Use obscure format specifier (%n) to write any value to any address in the victim’s memory</a:t>
            </a:r>
            <a:endParaRPr/>
          </a:p>
          <a:p>
            <a:pPr marL="685800" lvl="1" indent="-228600" algn="l" rtl="0">
              <a:lnSpc>
                <a:spcPct val="90000"/>
              </a:lnSpc>
              <a:spcBef>
                <a:spcPts val="500"/>
              </a:spcBef>
              <a:spcAft>
                <a:spcPts val="0"/>
              </a:spcAft>
              <a:buClr>
                <a:schemeClr val="dk1"/>
              </a:buClr>
              <a:buSzPts val="2400"/>
              <a:buChar char="•"/>
            </a:pPr>
            <a:r>
              <a:rPr lang="en-US" b="1"/>
              <a:t>%n --- write 4 bytes at once</a:t>
            </a:r>
            <a:endParaRPr/>
          </a:p>
          <a:p>
            <a:pPr marL="685800" lvl="1" indent="-228600" algn="l" rtl="0">
              <a:lnSpc>
                <a:spcPct val="90000"/>
              </a:lnSpc>
              <a:spcBef>
                <a:spcPts val="500"/>
              </a:spcBef>
              <a:spcAft>
                <a:spcPts val="0"/>
              </a:spcAft>
              <a:buClr>
                <a:schemeClr val="dk1"/>
              </a:buClr>
              <a:buSzPts val="2400"/>
              <a:buChar char="•"/>
            </a:pPr>
            <a:r>
              <a:rPr lang="en-US" b="1"/>
              <a:t>%hn  --- write 2 bytes at once</a:t>
            </a:r>
            <a:endParaRPr/>
          </a:p>
          <a:p>
            <a:pPr marL="228600" lvl="0" indent="-228600" algn="l" rtl="0">
              <a:lnSpc>
                <a:spcPct val="90000"/>
              </a:lnSpc>
              <a:spcBef>
                <a:spcPts val="1000"/>
              </a:spcBef>
              <a:spcAft>
                <a:spcPts val="0"/>
              </a:spcAft>
              <a:buClr>
                <a:schemeClr val="dk1"/>
              </a:buClr>
              <a:buSzPts val="2800"/>
              <a:buChar char="•"/>
            </a:pPr>
            <a:r>
              <a:rPr lang="en-US" b="1"/>
              <a:t>Enables attackers to mount malicious code injection attacks</a:t>
            </a:r>
            <a:endParaRPr/>
          </a:p>
          <a:p>
            <a:pPr marL="685800" lvl="1" indent="-228600" algn="l" rtl="0">
              <a:lnSpc>
                <a:spcPct val="90000"/>
              </a:lnSpc>
              <a:spcBef>
                <a:spcPts val="500"/>
              </a:spcBef>
              <a:spcAft>
                <a:spcPts val="0"/>
              </a:spcAft>
              <a:buClr>
                <a:schemeClr val="dk1"/>
              </a:buClr>
              <a:buSzPts val="2400"/>
              <a:buChar char="•"/>
            </a:pPr>
            <a:r>
              <a:rPr lang="en-US" b="1"/>
              <a:t>Introduce code anywhere into victim’s memory</a:t>
            </a:r>
            <a:endParaRPr/>
          </a:p>
          <a:p>
            <a:pPr marL="685800" lvl="1" indent="-228600" algn="l" rtl="0">
              <a:lnSpc>
                <a:spcPct val="90000"/>
              </a:lnSpc>
              <a:spcBef>
                <a:spcPts val="500"/>
              </a:spcBef>
              <a:spcAft>
                <a:spcPts val="0"/>
              </a:spcAft>
              <a:buClr>
                <a:schemeClr val="dk1"/>
              </a:buClr>
              <a:buSzPts val="2400"/>
              <a:buChar char="•"/>
            </a:pPr>
            <a:r>
              <a:rPr lang="en-US" b="1"/>
              <a:t>Use format string bug to overwrite return address on stack (or a function pointer) with pointer to malicious code</a:t>
            </a:r>
            <a:endParaRPr/>
          </a:p>
          <a:p>
            <a:pPr marL="228600" lvl="0" indent="-50800" algn="l" rtl="0">
              <a:lnSpc>
                <a:spcPct val="90000"/>
              </a:lnSpc>
              <a:spcBef>
                <a:spcPts val="1000"/>
              </a:spcBef>
              <a:spcAft>
                <a:spcPts val="0"/>
              </a:spcAft>
              <a:buClr>
                <a:schemeClr val="dk1"/>
              </a:buClr>
              <a:buSzPts val="2800"/>
              <a:buNone/>
            </a:pPr>
            <a:endParaRPr/>
          </a:p>
        </p:txBody>
      </p:sp>
      <p:sp>
        <p:nvSpPr>
          <p:cNvPr id="840" name="Google Shape;840;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6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Calibri"/>
              <a:buNone/>
            </a:pPr>
            <a:r>
              <a:rPr lang="en-US" sz="3200"/>
              <a:t>Example of “%n”---- write data in memory</a:t>
            </a:r>
            <a:endParaRPr sz="3200"/>
          </a:p>
        </p:txBody>
      </p:sp>
      <p:sp>
        <p:nvSpPr>
          <p:cNvPr id="846" name="Google Shape;846;p6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Font typeface="Noto Sans Symbols"/>
              <a:buNone/>
            </a:pPr>
            <a:r>
              <a:rPr lang="en-US" sz="2400">
                <a:latin typeface="Times New Roman"/>
                <a:ea typeface="Times New Roman"/>
                <a:cs typeface="Times New Roman"/>
                <a:sym typeface="Times New Roman"/>
              </a:rPr>
              <a:t>#include &lt;stdio.h&gt;</a:t>
            </a:r>
            <a:endParaRPr/>
          </a:p>
          <a:p>
            <a:pPr marL="228600" lvl="0" indent="-228600" algn="l" rtl="0">
              <a:lnSpc>
                <a:spcPct val="90000"/>
              </a:lnSpc>
              <a:spcBef>
                <a:spcPts val="1000"/>
              </a:spcBef>
              <a:spcAft>
                <a:spcPts val="0"/>
              </a:spcAft>
              <a:buClr>
                <a:schemeClr val="dk1"/>
              </a:buClr>
              <a:buSzPct val="100000"/>
              <a:buFont typeface="Noto Sans Symbols"/>
              <a:buNone/>
            </a:pPr>
            <a:r>
              <a:rPr lang="en-US" sz="2400">
                <a:latin typeface="Times New Roman"/>
                <a:ea typeface="Times New Roman"/>
                <a:cs typeface="Times New Roman"/>
                <a:sym typeface="Times New Roman"/>
              </a:rPr>
              <a:t>void main(int argc, char **argv){</a:t>
            </a:r>
            <a:endParaRPr/>
          </a:p>
          <a:p>
            <a:pPr marL="228600" lvl="0" indent="-228600" algn="l" rtl="0">
              <a:lnSpc>
                <a:spcPct val="90000"/>
              </a:lnSpc>
              <a:spcBef>
                <a:spcPts val="1000"/>
              </a:spcBef>
              <a:spcAft>
                <a:spcPts val="0"/>
              </a:spcAft>
              <a:buClr>
                <a:schemeClr val="dk1"/>
              </a:buClr>
              <a:buSzPct val="100000"/>
              <a:buFont typeface="Noto Sans Symbols"/>
              <a:buNone/>
            </a:pPr>
            <a:r>
              <a:rPr lang="en-US" sz="2400">
                <a:latin typeface="Times New Roman"/>
                <a:ea typeface="Times New Roman"/>
                <a:cs typeface="Times New Roman"/>
                <a:sym typeface="Times New Roman"/>
              </a:rPr>
              <a:t>	int bytes;</a:t>
            </a:r>
            <a:endParaRPr/>
          </a:p>
          <a:p>
            <a:pPr marL="228600" lvl="0" indent="-228600" algn="l" rtl="0">
              <a:lnSpc>
                <a:spcPct val="90000"/>
              </a:lnSpc>
              <a:spcBef>
                <a:spcPts val="1000"/>
              </a:spcBef>
              <a:spcAft>
                <a:spcPts val="0"/>
              </a:spcAft>
              <a:buClr>
                <a:schemeClr val="dk1"/>
              </a:buClr>
              <a:buSzPct val="100000"/>
              <a:buFont typeface="Noto Sans Symbols"/>
              <a:buNone/>
            </a:pPr>
            <a:r>
              <a:rPr lang="en-US" sz="2400">
                <a:latin typeface="Times New Roman"/>
                <a:ea typeface="Times New Roman"/>
                <a:cs typeface="Times New Roman"/>
                <a:sym typeface="Times New Roman"/>
              </a:rPr>
              <a:t>	printf(“%s%n\n”, argv[1], &amp;bytes);</a:t>
            </a:r>
            <a:endParaRPr/>
          </a:p>
          <a:p>
            <a:pPr marL="228600" lvl="0" indent="-228600" algn="l" rtl="0">
              <a:lnSpc>
                <a:spcPct val="90000"/>
              </a:lnSpc>
              <a:spcBef>
                <a:spcPts val="1000"/>
              </a:spcBef>
              <a:spcAft>
                <a:spcPts val="0"/>
              </a:spcAft>
              <a:buClr>
                <a:schemeClr val="dk1"/>
              </a:buClr>
              <a:buSzPct val="100000"/>
              <a:buFont typeface="Noto Sans Symbols"/>
              <a:buNone/>
            </a:pPr>
            <a:r>
              <a:rPr lang="en-US" sz="2400">
                <a:latin typeface="Times New Roman"/>
                <a:ea typeface="Times New Roman"/>
                <a:cs typeface="Times New Roman"/>
                <a:sym typeface="Times New Roman"/>
              </a:rPr>
              <a:t>     printf(“You input %d characters\n”, bytes);    </a:t>
            </a:r>
            <a:endParaRPr/>
          </a:p>
          <a:p>
            <a:pPr marL="228600" lvl="0" indent="-228600" algn="l" rtl="0">
              <a:lnSpc>
                <a:spcPct val="90000"/>
              </a:lnSpc>
              <a:spcBef>
                <a:spcPts val="1000"/>
              </a:spcBef>
              <a:spcAft>
                <a:spcPts val="0"/>
              </a:spcAft>
              <a:buClr>
                <a:schemeClr val="dk1"/>
              </a:buClr>
              <a:buSzPct val="100000"/>
              <a:buFont typeface="Noto Sans Symbols"/>
              <a:buNone/>
            </a:pPr>
            <a:r>
              <a:rPr lang="en-US" sz="2400">
                <a:latin typeface="Times New Roman"/>
                <a:ea typeface="Times New Roman"/>
                <a:cs typeface="Times New Roman"/>
                <a:sym typeface="Times New Roman"/>
              </a:rPr>
              <a:t>}</a:t>
            </a:r>
            <a:endParaRPr/>
          </a:p>
          <a:p>
            <a:pPr marL="228600" lvl="0" indent="-228600" algn="l" rtl="0">
              <a:lnSpc>
                <a:spcPct val="90000"/>
              </a:lnSpc>
              <a:spcBef>
                <a:spcPts val="1000"/>
              </a:spcBef>
              <a:spcAft>
                <a:spcPts val="0"/>
              </a:spcAft>
              <a:buClr>
                <a:srgbClr val="0070C0"/>
              </a:buClr>
              <a:buSzPct val="100000"/>
              <a:buFont typeface="Noto Sans Symbols"/>
              <a:buNone/>
            </a:pPr>
            <a:r>
              <a:rPr lang="en-US" sz="2000" b="1">
                <a:solidFill>
                  <a:srgbClr val="0070C0"/>
                </a:solidFill>
                <a:latin typeface="Times New Roman"/>
                <a:ea typeface="Times New Roman"/>
                <a:cs typeface="Times New Roman"/>
                <a:sym typeface="Times New Roman"/>
              </a:rPr>
              <a:t>s:~$./test  hello</a:t>
            </a:r>
            <a:endParaRPr/>
          </a:p>
          <a:p>
            <a:pPr marL="228600" lvl="0" indent="-228600" algn="l" rtl="0">
              <a:lnSpc>
                <a:spcPct val="90000"/>
              </a:lnSpc>
              <a:spcBef>
                <a:spcPts val="1000"/>
              </a:spcBef>
              <a:spcAft>
                <a:spcPts val="0"/>
              </a:spcAft>
              <a:buClr>
                <a:srgbClr val="0070C0"/>
              </a:buClr>
              <a:buSzPct val="100000"/>
              <a:buFont typeface="Noto Sans Symbols"/>
              <a:buNone/>
            </a:pPr>
            <a:r>
              <a:rPr lang="en-US" sz="2000" b="1">
                <a:solidFill>
                  <a:srgbClr val="0070C0"/>
                </a:solidFill>
                <a:latin typeface="Times New Roman"/>
                <a:ea typeface="Times New Roman"/>
                <a:cs typeface="Times New Roman"/>
                <a:sym typeface="Times New Roman"/>
              </a:rPr>
              <a:t>hello</a:t>
            </a:r>
            <a:endParaRPr/>
          </a:p>
          <a:p>
            <a:pPr marL="228600" lvl="0" indent="-228600" algn="l" rtl="0">
              <a:lnSpc>
                <a:spcPct val="90000"/>
              </a:lnSpc>
              <a:spcBef>
                <a:spcPts val="1000"/>
              </a:spcBef>
              <a:spcAft>
                <a:spcPts val="0"/>
              </a:spcAft>
              <a:buClr>
                <a:srgbClr val="0070C0"/>
              </a:buClr>
              <a:buSzPct val="100000"/>
              <a:buFont typeface="Noto Sans Symbols"/>
              <a:buNone/>
            </a:pPr>
            <a:r>
              <a:rPr lang="en-US" sz="2000" b="1">
                <a:solidFill>
                  <a:srgbClr val="0070C0"/>
                </a:solidFill>
                <a:latin typeface="Times New Roman"/>
                <a:ea typeface="Times New Roman"/>
                <a:cs typeface="Times New Roman"/>
                <a:sym typeface="Times New Roman"/>
              </a:rPr>
              <a:t>You input 5 characters</a:t>
            </a:r>
            <a:endParaRPr/>
          </a:p>
          <a:p>
            <a:pPr marL="228600" lvl="0" indent="-228600" algn="l" rtl="0">
              <a:lnSpc>
                <a:spcPct val="90000"/>
              </a:lnSpc>
              <a:spcBef>
                <a:spcPts val="1000"/>
              </a:spcBef>
              <a:spcAft>
                <a:spcPts val="0"/>
              </a:spcAft>
              <a:buClr>
                <a:schemeClr val="dk1"/>
              </a:buClr>
              <a:buSzPct val="100000"/>
              <a:buFont typeface="Noto Sans Symbols"/>
              <a:buNone/>
            </a:pPr>
            <a:endParaRPr sz="2000" b="1">
              <a:solidFill>
                <a:srgbClr val="000000"/>
              </a:solidFill>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ct val="100000"/>
              <a:buFont typeface="Noto Sans Symbols"/>
              <a:buNone/>
            </a:pPr>
            <a:endParaRPr sz="2400"/>
          </a:p>
          <a:p>
            <a:pPr marL="228600" lvl="0" indent="-228600" algn="l" rtl="0">
              <a:lnSpc>
                <a:spcPct val="90000"/>
              </a:lnSpc>
              <a:spcBef>
                <a:spcPts val="1000"/>
              </a:spcBef>
              <a:spcAft>
                <a:spcPts val="0"/>
              </a:spcAft>
              <a:buClr>
                <a:schemeClr val="dk1"/>
              </a:buClr>
              <a:buSzPct val="100000"/>
              <a:buFont typeface="Noto Sans Symbols"/>
              <a:buNone/>
            </a:pPr>
            <a:endParaRPr sz="2400"/>
          </a:p>
        </p:txBody>
      </p:sp>
      <p:sp>
        <p:nvSpPr>
          <p:cNvPr id="847" name="Google Shape;847;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g1cd00f23db8_1_0"/>
          <p:cNvSpPr txBox="1">
            <a:spLocks noGrp="1"/>
          </p:cNvSpPr>
          <p:nvPr>
            <p:ph type="title"/>
          </p:nvPr>
        </p:nvSpPr>
        <p:spPr>
          <a:xfrm>
            <a:off x="838200" y="365125"/>
            <a:ext cx="10515600" cy="798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1800">
                <a:solidFill>
                  <a:srgbClr val="414042"/>
                </a:solidFill>
                <a:highlight>
                  <a:srgbClr val="FFFFFF"/>
                </a:highlight>
                <a:latin typeface="Roboto"/>
                <a:ea typeface="Roboto"/>
                <a:cs typeface="Roboto"/>
                <a:sym typeface="Roboto"/>
              </a:rPr>
              <a:t>getenvaddr.c which can give us the address of environment variables:</a:t>
            </a:r>
            <a:endParaRPr sz="4700"/>
          </a:p>
        </p:txBody>
      </p:sp>
      <p:sp>
        <p:nvSpPr>
          <p:cNvPr id="854" name="Google Shape;854;g1cd00f23db8_1_0"/>
          <p:cNvSpPr txBox="1">
            <a:spLocks noGrp="1"/>
          </p:cNvSpPr>
          <p:nvPr>
            <p:ph type="body" idx="1"/>
          </p:nvPr>
        </p:nvSpPr>
        <p:spPr>
          <a:xfrm>
            <a:off x="1053075" y="1091475"/>
            <a:ext cx="10515600" cy="4351200"/>
          </a:xfrm>
          <a:prstGeom prst="rect">
            <a:avLst/>
          </a:prstGeom>
        </p:spPr>
        <p:txBody>
          <a:bodyPr spcFirstLastPara="1" wrap="square" lIns="91425" tIns="45700" rIns="91425" bIns="45700" anchor="t" anchorCtr="0">
            <a:normAutofit fontScale="25000" lnSpcReduction="20000"/>
          </a:bodyPr>
          <a:lstStyle/>
          <a:p>
            <a:pPr marL="0" lvl="0" indent="0" algn="l" rtl="0">
              <a:spcBef>
                <a:spcPts val="1000"/>
              </a:spcBef>
              <a:spcAft>
                <a:spcPts val="0"/>
              </a:spcAft>
              <a:buClr>
                <a:schemeClr val="dk1"/>
              </a:buClr>
              <a:buSzPts val="275"/>
              <a:buFont typeface="Arial"/>
              <a:buNone/>
            </a:pPr>
            <a:r>
              <a:rPr lang="en-US" sz="7723"/>
              <a:t>#include&lt;stdio.h&gt;</a:t>
            </a:r>
            <a:endParaRPr sz="7723"/>
          </a:p>
          <a:p>
            <a:pPr marL="0" lvl="0" indent="0" algn="l" rtl="0">
              <a:spcBef>
                <a:spcPts val="1000"/>
              </a:spcBef>
              <a:spcAft>
                <a:spcPts val="0"/>
              </a:spcAft>
              <a:buClr>
                <a:schemeClr val="dk1"/>
              </a:buClr>
              <a:buSzPts val="275"/>
              <a:buFont typeface="Arial"/>
              <a:buNone/>
            </a:pPr>
            <a:r>
              <a:rPr lang="en-US" sz="7723"/>
              <a:t>#include&lt;stdlib.h&gt;</a:t>
            </a:r>
            <a:endParaRPr sz="7723"/>
          </a:p>
          <a:p>
            <a:pPr marL="0" lvl="0" indent="0" algn="l" rtl="0">
              <a:spcBef>
                <a:spcPts val="1000"/>
              </a:spcBef>
              <a:spcAft>
                <a:spcPts val="0"/>
              </a:spcAft>
              <a:buClr>
                <a:schemeClr val="dk1"/>
              </a:buClr>
              <a:buSzPts val="275"/>
              <a:buFont typeface="Arial"/>
              <a:buNone/>
            </a:pPr>
            <a:r>
              <a:rPr lang="en-US" sz="7723"/>
              <a:t>#include&lt;string.h&gt;</a:t>
            </a:r>
            <a:endParaRPr sz="7723"/>
          </a:p>
          <a:p>
            <a:pPr marL="0" lvl="0" indent="0" algn="l" rtl="0">
              <a:spcBef>
                <a:spcPts val="1000"/>
              </a:spcBef>
              <a:spcAft>
                <a:spcPts val="0"/>
              </a:spcAft>
              <a:buClr>
                <a:schemeClr val="dk1"/>
              </a:buClr>
              <a:buSzPts val="275"/>
              <a:buFont typeface="Arial"/>
              <a:buNone/>
            </a:pPr>
            <a:endParaRPr sz="7723"/>
          </a:p>
          <a:p>
            <a:pPr marL="0" lvl="0" indent="0" algn="l" rtl="0">
              <a:spcBef>
                <a:spcPts val="1000"/>
              </a:spcBef>
              <a:spcAft>
                <a:spcPts val="0"/>
              </a:spcAft>
              <a:buClr>
                <a:schemeClr val="dk1"/>
              </a:buClr>
              <a:buSzPts val="275"/>
              <a:buFont typeface="Arial"/>
              <a:buNone/>
            </a:pPr>
            <a:r>
              <a:rPr lang="en-US" sz="7723"/>
              <a:t>int main(int argc, char* argv[]){</a:t>
            </a:r>
            <a:endParaRPr sz="7723"/>
          </a:p>
          <a:p>
            <a:pPr marL="0" lvl="0" indent="0" algn="l" rtl="0">
              <a:spcBef>
                <a:spcPts val="1000"/>
              </a:spcBef>
              <a:spcAft>
                <a:spcPts val="0"/>
              </a:spcAft>
              <a:buClr>
                <a:schemeClr val="dk1"/>
              </a:buClr>
              <a:buSzPts val="275"/>
              <a:buFont typeface="Arial"/>
              <a:buNone/>
            </a:pPr>
            <a:r>
              <a:rPr lang="en-US" sz="7723"/>
              <a:t>	char* ptr;</a:t>
            </a:r>
            <a:endParaRPr sz="7723"/>
          </a:p>
          <a:p>
            <a:pPr marL="0" lvl="0" indent="0" algn="l" rtl="0">
              <a:spcBef>
                <a:spcPts val="1000"/>
              </a:spcBef>
              <a:spcAft>
                <a:spcPts val="0"/>
              </a:spcAft>
              <a:buClr>
                <a:schemeClr val="dk1"/>
              </a:buClr>
              <a:buSzPts val="275"/>
              <a:buFont typeface="Arial"/>
              <a:buNone/>
            </a:pPr>
            <a:r>
              <a:rPr lang="en-US" sz="7723"/>
              <a:t>	if (argc &lt; 3) {</a:t>
            </a:r>
            <a:endParaRPr sz="7723"/>
          </a:p>
          <a:p>
            <a:pPr marL="0" lvl="0" indent="0" algn="l" rtl="0">
              <a:spcBef>
                <a:spcPts val="1000"/>
              </a:spcBef>
              <a:spcAft>
                <a:spcPts val="0"/>
              </a:spcAft>
              <a:buClr>
                <a:schemeClr val="dk1"/>
              </a:buClr>
              <a:buSzPts val="275"/>
              <a:buFont typeface="Arial"/>
              <a:buNone/>
            </a:pPr>
            <a:r>
              <a:rPr lang="en-US" sz="7723"/>
              <a:t>    	printf("at least 2 arguments needed\n");</a:t>
            </a:r>
            <a:endParaRPr sz="7723"/>
          </a:p>
          <a:p>
            <a:pPr marL="0" lvl="0" indent="0" algn="l" rtl="0">
              <a:spcBef>
                <a:spcPts val="1000"/>
              </a:spcBef>
              <a:spcAft>
                <a:spcPts val="0"/>
              </a:spcAft>
              <a:buClr>
                <a:schemeClr val="dk1"/>
              </a:buClr>
              <a:buSzPts val="275"/>
              <a:buFont typeface="Arial"/>
              <a:buNone/>
            </a:pPr>
            <a:r>
              <a:rPr lang="en-US" sz="7723"/>
              <a:t>    	exit(0);</a:t>
            </a:r>
            <a:endParaRPr sz="7723"/>
          </a:p>
          <a:p>
            <a:pPr marL="0" lvl="0" indent="0" algn="l" rtl="0">
              <a:spcBef>
                <a:spcPts val="1000"/>
              </a:spcBef>
              <a:spcAft>
                <a:spcPts val="0"/>
              </a:spcAft>
              <a:buClr>
                <a:schemeClr val="dk1"/>
              </a:buClr>
              <a:buSzPts val="275"/>
              <a:buFont typeface="Arial"/>
              <a:buNone/>
            </a:pPr>
            <a:r>
              <a:rPr lang="en-US" sz="7723"/>
              <a:t>	}</a:t>
            </a:r>
            <a:endParaRPr sz="7723"/>
          </a:p>
          <a:p>
            <a:pPr marL="0" lvl="0" indent="0" algn="l" rtl="0">
              <a:spcBef>
                <a:spcPts val="1000"/>
              </a:spcBef>
              <a:spcAft>
                <a:spcPts val="0"/>
              </a:spcAft>
              <a:buClr>
                <a:schemeClr val="dk1"/>
              </a:buClr>
              <a:buSzPts val="275"/>
              <a:buFont typeface="Arial"/>
              <a:buNone/>
            </a:pPr>
            <a:endParaRPr sz="7723"/>
          </a:p>
          <a:p>
            <a:pPr marL="0" lvl="0" indent="0" algn="l" rtl="0">
              <a:spcBef>
                <a:spcPts val="1000"/>
              </a:spcBef>
              <a:spcAft>
                <a:spcPts val="0"/>
              </a:spcAft>
              <a:buClr>
                <a:schemeClr val="dk1"/>
              </a:buClr>
              <a:buSzPts val="275"/>
              <a:buFont typeface="Arial"/>
              <a:buNone/>
            </a:pPr>
            <a:r>
              <a:rPr lang="en-US" sz="7723"/>
              <a:t>	ptr = getenv(argv[1]);</a:t>
            </a:r>
            <a:endParaRPr sz="7723"/>
          </a:p>
          <a:p>
            <a:pPr marL="0" lvl="0" indent="0" algn="l" rtl="0">
              <a:spcBef>
                <a:spcPts val="1000"/>
              </a:spcBef>
              <a:spcAft>
                <a:spcPts val="0"/>
              </a:spcAft>
              <a:buClr>
                <a:schemeClr val="dk1"/>
              </a:buClr>
              <a:buSzPts val="275"/>
              <a:buFont typeface="Arial"/>
              <a:buNone/>
            </a:pPr>
            <a:r>
              <a:rPr lang="en-US" sz="7723"/>
              <a:t>	ptr += (strlen(argv[0]) - strlen(argv[2]))*2;</a:t>
            </a:r>
            <a:endParaRPr sz="7723"/>
          </a:p>
          <a:p>
            <a:pPr marL="0" lvl="0" indent="0" algn="l" rtl="0">
              <a:spcBef>
                <a:spcPts val="1000"/>
              </a:spcBef>
              <a:spcAft>
                <a:spcPts val="0"/>
              </a:spcAft>
              <a:buClr>
                <a:schemeClr val="dk1"/>
              </a:buClr>
              <a:buSzPts val="275"/>
              <a:buFont typeface="Arial"/>
              <a:buNone/>
            </a:pPr>
            <a:r>
              <a:rPr lang="en-US" sz="7723"/>
              <a:t>	printf("%s is stored at the address %p\n", argv[1], ptr);</a:t>
            </a:r>
            <a:endParaRPr sz="7723"/>
          </a:p>
          <a:p>
            <a:pPr marL="0" lvl="0" indent="0" algn="l" rtl="0">
              <a:spcBef>
                <a:spcPts val="1000"/>
              </a:spcBef>
              <a:spcAft>
                <a:spcPts val="0"/>
              </a:spcAft>
              <a:buClr>
                <a:schemeClr val="dk1"/>
              </a:buClr>
              <a:buSzPts val="275"/>
              <a:buFont typeface="Arial"/>
              <a:buNone/>
            </a:pPr>
            <a:r>
              <a:rPr lang="en-US" sz="7723"/>
              <a:t>	return 0;</a:t>
            </a:r>
            <a:endParaRPr sz="7723"/>
          </a:p>
          <a:p>
            <a:pPr marL="0" lvl="0" indent="0" algn="l" rtl="0">
              <a:spcBef>
                <a:spcPts val="1000"/>
              </a:spcBef>
              <a:spcAft>
                <a:spcPts val="0"/>
              </a:spcAft>
              <a:buClr>
                <a:schemeClr val="dk1"/>
              </a:buClr>
              <a:buSzPts val="275"/>
              <a:buFont typeface="Arial"/>
              <a:buNone/>
            </a:pPr>
            <a:r>
              <a:rPr lang="en-US" sz="7723"/>
              <a:t>}</a:t>
            </a:r>
            <a:endParaRPr sz="7723"/>
          </a:p>
          <a:p>
            <a:pPr marL="0" lvl="0" indent="0" algn="l" rtl="0">
              <a:spcBef>
                <a:spcPts val="1000"/>
              </a:spcBef>
              <a:spcAft>
                <a:spcPts val="0"/>
              </a:spcAft>
              <a:buClr>
                <a:schemeClr val="dk1"/>
              </a:buClr>
              <a:buSzPct val="39285"/>
              <a:buFont typeface="Arial"/>
              <a:buNone/>
            </a:pPr>
            <a:endParaRPr/>
          </a:p>
          <a:p>
            <a:pPr marL="0" lvl="0" indent="0" algn="l" rtl="0">
              <a:spcBef>
                <a:spcPts val="1000"/>
              </a:spcBef>
              <a:spcAft>
                <a:spcPts val="0"/>
              </a:spcAft>
              <a:buNone/>
            </a:pPr>
            <a:endParaRPr/>
          </a:p>
        </p:txBody>
      </p:sp>
      <p:sp>
        <p:nvSpPr>
          <p:cNvPr id="855" name="Google Shape;855;g1cd00f23db8_1_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Google Shape;861;g1cd00f23db8_1_22"/>
          <p:cNvSpPr txBox="1">
            <a:spLocks noGrp="1"/>
          </p:cNvSpPr>
          <p:nvPr>
            <p:ph type="body" idx="1"/>
          </p:nvPr>
        </p:nvSpPr>
        <p:spPr>
          <a:xfrm>
            <a:off x="605425" y="625925"/>
            <a:ext cx="10515600" cy="4351200"/>
          </a:xfrm>
          <a:prstGeom prst="rect">
            <a:avLst/>
          </a:prstGeom>
        </p:spPr>
        <p:txBody>
          <a:bodyPr spcFirstLastPara="1" wrap="square" lIns="91425" tIns="45700" rIns="91425" bIns="45700" anchor="t" anchorCtr="0">
            <a:normAutofit/>
          </a:bodyPr>
          <a:lstStyle/>
          <a:p>
            <a:pPr marL="0" lvl="0" indent="0" algn="l" rtl="0">
              <a:lnSpc>
                <a:spcPct val="115000"/>
              </a:lnSpc>
              <a:spcBef>
                <a:spcPts val="0"/>
              </a:spcBef>
              <a:spcAft>
                <a:spcPts val="0"/>
              </a:spcAft>
              <a:buNone/>
            </a:pPr>
            <a:r>
              <a:rPr lang="en-US" sz="1900">
                <a:solidFill>
                  <a:srgbClr val="414042"/>
                </a:solidFill>
                <a:highlight>
                  <a:srgbClr val="FFFFFF"/>
                </a:highlight>
                <a:latin typeface="Roboto"/>
                <a:ea typeface="Roboto"/>
                <a:cs typeface="Roboto"/>
                <a:sym typeface="Roboto"/>
              </a:rPr>
              <a:t>Now first, we convert the address given by the program in the little endian address format.</a:t>
            </a:r>
            <a:endParaRPr sz="1900">
              <a:solidFill>
                <a:srgbClr val="414042"/>
              </a:solidFill>
              <a:highlight>
                <a:srgbClr val="FFFFFF"/>
              </a:highlight>
              <a:latin typeface="Roboto"/>
              <a:ea typeface="Roboto"/>
              <a:cs typeface="Roboto"/>
              <a:sym typeface="Roboto"/>
            </a:endParaRPr>
          </a:p>
          <a:p>
            <a:pPr marL="0" lvl="0" indent="0" algn="l" rtl="0">
              <a:lnSpc>
                <a:spcPct val="115000"/>
              </a:lnSpc>
              <a:spcBef>
                <a:spcPts val="0"/>
              </a:spcBef>
              <a:spcAft>
                <a:spcPts val="0"/>
              </a:spcAft>
              <a:buNone/>
            </a:pPr>
            <a:r>
              <a:rPr lang="en-US" sz="1900">
                <a:solidFill>
                  <a:srgbClr val="414042"/>
                </a:solidFill>
                <a:highlight>
                  <a:srgbClr val="FFFFFF"/>
                </a:highlight>
                <a:latin typeface="Roboto"/>
                <a:ea typeface="Roboto"/>
                <a:cs typeface="Roboto"/>
                <a:sym typeface="Roboto"/>
              </a:rPr>
              <a:t>So, it will be “/xc0/xdf/xff/xff”.</a:t>
            </a:r>
            <a:endParaRPr sz="1900">
              <a:solidFill>
                <a:srgbClr val="414042"/>
              </a:solidFill>
              <a:highlight>
                <a:srgbClr val="FFFFFF"/>
              </a:highlight>
              <a:latin typeface="Roboto"/>
              <a:ea typeface="Roboto"/>
              <a:cs typeface="Roboto"/>
              <a:sym typeface="Roboto"/>
            </a:endParaRPr>
          </a:p>
          <a:p>
            <a:pPr marL="0" lvl="0" indent="0" algn="l" rtl="0">
              <a:lnSpc>
                <a:spcPct val="115000"/>
              </a:lnSpc>
              <a:spcBef>
                <a:spcPts val="0"/>
              </a:spcBef>
              <a:spcAft>
                <a:spcPts val="0"/>
              </a:spcAft>
              <a:buNone/>
            </a:pPr>
            <a:endParaRPr sz="1500">
              <a:solidFill>
                <a:srgbClr val="414042"/>
              </a:solidFill>
              <a:highlight>
                <a:srgbClr val="FFFFFF"/>
              </a:highlight>
              <a:latin typeface="Roboto"/>
              <a:ea typeface="Roboto"/>
              <a:cs typeface="Roboto"/>
              <a:sym typeface="Roboto"/>
            </a:endParaRPr>
          </a:p>
          <a:p>
            <a:pPr marL="0" lvl="0" indent="0" algn="l" rtl="0">
              <a:lnSpc>
                <a:spcPct val="115000"/>
              </a:lnSpc>
              <a:spcBef>
                <a:spcPts val="0"/>
              </a:spcBef>
              <a:spcAft>
                <a:spcPts val="0"/>
              </a:spcAft>
              <a:buNone/>
            </a:pPr>
            <a:endParaRPr sz="1500">
              <a:solidFill>
                <a:srgbClr val="414042"/>
              </a:solidFill>
              <a:highlight>
                <a:srgbClr val="FFFFFF"/>
              </a:highlight>
              <a:latin typeface="Roboto"/>
              <a:ea typeface="Roboto"/>
              <a:cs typeface="Roboto"/>
              <a:sym typeface="Roboto"/>
            </a:endParaRPr>
          </a:p>
          <a:p>
            <a:pPr marL="0" lvl="0" indent="0" algn="l" rtl="0">
              <a:lnSpc>
                <a:spcPct val="115000"/>
              </a:lnSpc>
              <a:spcBef>
                <a:spcPts val="0"/>
              </a:spcBef>
              <a:spcAft>
                <a:spcPts val="0"/>
              </a:spcAft>
              <a:buNone/>
            </a:pPr>
            <a:endParaRPr sz="1500">
              <a:solidFill>
                <a:srgbClr val="414042"/>
              </a:solidFill>
              <a:highlight>
                <a:srgbClr val="FFFFFF"/>
              </a:highlight>
              <a:latin typeface="Roboto"/>
              <a:ea typeface="Roboto"/>
              <a:cs typeface="Roboto"/>
              <a:sym typeface="Roboto"/>
            </a:endParaRPr>
          </a:p>
          <a:p>
            <a:pPr marL="0" lvl="0" indent="0" algn="l" rtl="0">
              <a:lnSpc>
                <a:spcPct val="115000"/>
              </a:lnSpc>
              <a:spcBef>
                <a:spcPts val="0"/>
              </a:spcBef>
              <a:spcAft>
                <a:spcPts val="0"/>
              </a:spcAft>
              <a:buNone/>
            </a:pPr>
            <a:endParaRPr sz="1500">
              <a:solidFill>
                <a:srgbClr val="414042"/>
              </a:solidFill>
              <a:highlight>
                <a:srgbClr val="FFFFFF"/>
              </a:highlight>
              <a:latin typeface="Roboto"/>
              <a:ea typeface="Roboto"/>
              <a:cs typeface="Roboto"/>
              <a:sym typeface="Roboto"/>
            </a:endParaRPr>
          </a:p>
          <a:p>
            <a:pPr marL="0" lvl="0" indent="0" algn="l" rtl="0">
              <a:lnSpc>
                <a:spcPct val="115000"/>
              </a:lnSpc>
              <a:spcBef>
                <a:spcPts val="0"/>
              </a:spcBef>
              <a:spcAft>
                <a:spcPts val="0"/>
              </a:spcAft>
              <a:buNone/>
            </a:pPr>
            <a:r>
              <a:rPr lang="en-US" sz="1500">
                <a:solidFill>
                  <a:srgbClr val="414042"/>
                </a:solidFill>
                <a:highlight>
                  <a:srgbClr val="FFFFFF"/>
                </a:highlight>
                <a:latin typeface="Roboto"/>
                <a:ea typeface="Roboto"/>
                <a:cs typeface="Roboto"/>
                <a:sym typeface="Roboto"/>
              </a:rPr>
              <a:t> </a:t>
            </a:r>
            <a:endParaRPr sz="1500">
              <a:solidFill>
                <a:srgbClr val="414042"/>
              </a:solidFill>
              <a:highlight>
                <a:srgbClr val="FFFFFF"/>
              </a:highlight>
              <a:latin typeface="Roboto"/>
              <a:ea typeface="Roboto"/>
              <a:cs typeface="Roboto"/>
              <a:sym typeface="Roboto"/>
            </a:endParaRPr>
          </a:p>
          <a:p>
            <a:pPr marL="0" lvl="0" indent="0" algn="l" rtl="0">
              <a:lnSpc>
                <a:spcPct val="115000"/>
              </a:lnSpc>
              <a:spcBef>
                <a:spcPts val="0"/>
              </a:spcBef>
              <a:spcAft>
                <a:spcPts val="0"/>
              </a:spcAft>
              <a:buNone/>
            </a:pPr>
            <a:endParaRPr sz="1500">
              <a:solidFill>
                <a:srgbClr val="414042"/>
              </a:solidFill>
              <a:highlight>
                <a:srgbClr val="FFFFFF"/>
              </a:highlight>
              <a:latin typeface="Roboto"/>
              <a:ea typeface="Roboto"/>
              <a:cs typeface="Roboto"/>
              <a:sym typeface="Roboto"/>
            </a:endParaRPr>
          </a:p>
          <a:p>
            <a:pPr marL="0" lvl="0" indent="0" algn="l" rtl="0">
              <a:lnSpc>
                <a:spcPct val="115000"/>
              </a:lnSpc>
              <a:spcBef>
                <a:spcPts val="0"/>
              </a:spcBef>
              <a:spcAft>
                <a:spcPts val="0"/>
              </a:spcAft>
              <a:buNone/>
            </a:pPr>
            <a:r>
              <a:rPr lang="en-US" sz="1800">
                <a:solidFill>
                  <a:srgbClr val="414042"/>
                </a:solidFill>
                <a:highlight>
                  <a:srgbClr val="FFFFFF"/>
                </a:highlight>
                <a:latin typeface="Roboto"/>
                <a:ea typeface="Roboto"/>
                <a:cs typeface="Roboto"/>
                <a:sym typeface="Roboto"/>
              </a:rPr>
              <a:t>Then, we supply the address via printf to preserve the address format and a bunch of %x to empty the stack so that esp can point to the address we provided in the format string, i.e., the variable’s address is later printed with %s.</a:t>
            </a:r>
            <a:endParaRPr sz="1800">
              <a:solidFill>
                <a:srgbClr val="414042"/>
              </a:solidFill>
              <a:highlight>
                <a:srgbClr val="FFFFFF"/>
              </a:highlight>
              <a:latin typeface="Roboto"/>
              <a:ea typeface="Roboto"/>
              <a:cs typeface="Roboto"/>
              <a:sym typeface="Roboto"/>
            </a:endParaRPr>
          </a:p>
          <a:p>
            <a:pPr marL="0" lvl="0" indent="0" algn="l" rtl="0">
              <a:lnSpc>
                <a:spcPct val="115000"/>
              </a:lnSpc>
              <a:spcBef>
                <a:spcPts val="0"/>
              </a:spcBef>
              <a:spcAft>
                <a:spcPts val="0"/>
              </a:spcAft>
              <a:buNone/>
            </a:pPr>
            <a:endParaRPr sz="1800">
              <a:solidFill>
                <a:srgbClr val="414042"/>
              </a:solidFill>
              <a:highlight>
                <a:srgbClr val="FFFFFF"/>
              </a:highlight>
              <a:latin typeface="Roboto"/>
              <a:ea typeface="Roboto"/>
              <a:cs typeface="Roboto"/>
              <a:sym typeface="Roboto"/>
            </a:endParaRPr>
          </a:p>
        </p:txBody>
      </p:sp>
      <p:sp>
        <p:nvSpPr>
          <p:cNvPr id="862" name="Google Shape;862;g1cd00f23db8_1_2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66</a:t>
            </a:fld>
            <a:endParaRPr/>
          </a:p>
        </p:txBody>
      </p:sp>
      <p:pic>
        <p:nvPicPr>
          <p:cNvPr id="863" name="Google Shape;863;g1cd00f23db8_1_22"/>
          <p:cNvPicPr preferRelativeResize="0"/>
          <p:nvPr/>
        </p:nvPicPr>
        <p:blipFill>
          <a:blip r:embed="rId3">
            <a:alphaModFix/>
          </a:blip>
          <a:stretch>
            <a:fillRect/>
          </a:stretch>
        </p:blipFill>
        <p:spPr>
          <a:xfrm>
            <a:off x="1226750" y="1633125"/>
            <a:ext cx="5200650" cy="1057275"/>
          </a:xfrm>
          <a:prstGeom prst="rect">
            <a:avLst/>
          </a:prstGeom>
          <a:noFill/>
          <a:ln>
            <a:noFill/>
          </a:ln>
        </p:spPr>
      </p:pic>
      <p:pic>
        <p:nvPicPr>
          <p:cNvPr id="864" name="Google Shape;864;g1cd00f23db8_1_22"/>
          <p:cNvPicPr preferRelativeResize="0"/>
          <p:nvPr/>
        </p:nvPicPr>
        <p:blipFill>
          <a:blip r:embed="rId4">
            <a:alphaModFix/>
          </a:blip>
          <a:stretch>
            <a:fillRect/>
          </a:stretch>
        </p:blipFill>
        <p:spPr>
          <a:xfrm>
            <a:off x="1226750" y="4196400"/>
            <a:ext cx="7315200" cy="9525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g1d88d74e645_0_7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871" name="Google Shape;871;g1d88d74e645_0_7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0" algn="l" rtl="0">
              <a:spcBef>
                <a:spcPts val="1000"/>
              </a:spcBef>
              <a:spcAft>
                <a:spcPts val="0"/>
              </a:spcAft>
              <a:buNone/>
            </a:pPr>
            <a:r>
              <a:rPr lang="en-US" sz="1900">
                <a:solidFill>
                  <a:srgbClr val="273239"/>
                </a:solidFill>
                <a:highlight>
                  <a:srgbClr val="FFFFFF"/>
                </a:highlight>
                <a:latin typeface="Arial"/>
                <a:ea typeface="Arial"/>
                <a:cs typeface="Arial"/>
                <a:sym typeface="Arial"/>
              </a:rPr>
              <a:t>Suppose integer is stored as 4 bytes (For those who are using DOS-based compilers such as C++ 3.0, integer is 2 bytes) then a variable x with value 0x01234567 will be stored as following.</a:t>
            </a:r>
            <a:endParaRPr sz="1900">
              <a:solidFill>
                <a:srgbClr val="273239"/>
              </a:solidFill>
              <a:highlight>
                <a:srgbClr val="FFFFFF"/>
              </a:highlight>
              <a:latin typeface="Arial"/>
              <a:ea typeface="Arial"/>
              <a:cs typeface="Arial"/>
              <a:sym typeface="Arial"/>
            </a:endParaRPr>
          </a:p>
          <a:p>
            <a:pPr marL="0" lvl="0" indent="0" algn="l" rtl="0">
              <a:spcBef>
                <a:spcPts val="1000"/>
              </a:spcBef>
              <a:spcAft>
                <a:spcPts val="0"/>
              </a:spcAft>
              <a:buNone/>
            </a:pPr>
            <a:endParaRPr sz="1300">
              <a:solidFill>
                <a:srgbClr val="273239"/>
              </a:solidFill>
              <a:highlight>
                <a:srgbClr val="FFFFFF"/>
              </a:highlight>
              <a:latin typeface="Arial"/>
              <a:ea typeface="Arial"/>
              <a:cs typeface="Arial"/>
              <a:sym typeface="Arial"/>
            </a:endParaRPr>
          </a:p>
        </p:txBody>
      </p:sp>
      <p:sp>
        <p:nvSpPr>
          <p:cNvPr id="872" name="Google Shape;872;g1d88d74e645_0_7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67</a:t>
            </a:fld>
            <a:endParaRPr/>
          </a:p>
        </p:txBody>
      </p:sp>
      <p:pic>
        <p:nvPicPr>
          <p:cNvPr id="873" name="Google Shape;873;g1d88d74e645_0_71"/>
          <p:cNvPicPr preferRelativeResize="0"/>
          <p:nvPr/>
        </p:nvPicPr>
        <p:blipFill>
          <a:blip r:embed="rId3">
            <a:alphaModFix/>
          </a:blip>
          <a:stretch>
            <a:fillRect/>
          </a:stretch>
        </p:blipFill>
        <p:spPr>
          <a:xfrm>
            <a:off x="3467100" y="3301038"/>
            <a:ext cx="5257800" cy="23526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g1cd186fabe7_0_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Preventing</a:t>
            </a:r>
            <a:endParaRPr/>
          </a:p>
        </p:txBody>
      </p:sp>
      <p:sp>
        <p:nvSpPr>
          <p:cNvPr id="880" name="Google Shape;880;g1cd186fabe7_0_5"/>
          <p:cNvSpPr txBox="1">
            <a:spLocks noGrp="1"/>
          </p:cNvSpPr>
          <p:nvPr>
            <p:ph type="body" idx="1"/>
          </p:nvPr>
        </p:nvSpPr>
        <p:spPr>
          <a:xfrm>
            <a:off x="838200" y="1338525"/>
            <a:ext cx="10515600" cy="5519400"/>
          </a:xfrm>
          <a:prstGeom prst="rect">
            <a:avLst/>
          </a:prstGeom>
        </p:spPr>
        <p:txBody>
          <a:bodyPr spcFirstLastPara="1" wrap="square" lIns="91425" tIns="45700" rIns="91425" bIns="45700" anchor="t" anchorCtr="0">
            <a:normAutofit/>
          </a:bodyPr>
          <a:lstStyle/>
          <a:p>
            <a:pPr marL="0" lvl="0" indent="0" algn="l" rtl="0">
              <a:lnSpc>
                <a:spcPct val="115000"/>
              </a:lnSpc>
              <a:spcBef>
                <a:spcPts val="0"/>
              </a:spcBef>
              <a:spcAft>
                <a:spcPts val="0"/>
              </a:spcAft>
              <a:buClr>
                <a:schemeClr val="dk1"/>
              </a:buClr>
              <a:buSzPts val="1100"/>
              <a:buFont typeface="Arial"/>
              <a:buNone/>
            </a:pPr>
            <a:r>
              <a:rPr lang="en-US" sz="1900">
                <a:solidFill>
                  <a:srgbClr val="414042"/>
                </a:solidFill>
                <a:highlight>
                  <a:srgbClr val="FFFFFF"/>
                </a:highlight>
                <a:latin typeface="Roboto"/>
                <a:ea typeface="Roboto"/>
                <a:cs typeface="Roboto"/>
                <a:sym typeface="Roboto"/>
              </a:rPr>
              <a:t>So this way, we can exploit format strings to escape the bounds of the application and perform arbitrary reads. Similar to what we did with arbitrary reads, we can use %n format strings to arbitrary write to variables.</a:t>
            </a:r>
            <a:endParaRPr sz="1900">
              <a:solidFill>
                <a:srgbClr val="414042"/>
              </a:solidFill>
              <a:highlight>
                <a:srgbClr val="FFFFFF"/>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900">
                <a:solidFill>
                  <a:srgbClr val="414042"/>
                </a:solidFill>
                <a:highlight>
                  <a:srgbClr val="FFFFFF"/>
                </a:highlight>
                <a:latin typeface="Roboto"/>
                <a:ea typeface="Roboto"/>
                <a:cs typeface="Roboto"/>
                <a:sym typeface="Roboto"/>
              </a:rPr>
              <a:t> </a:t>
            </a:r>
            <a:endParaRPr sz="1900">
              <a:solidFill>
                <a:srgbClr val="414042"/>
              </a:solidFill>
              <a:highlight>
                <a:srgbClr val="FFFFFF"/>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900">
                <a:solidFill>
                  <a:srgbClr val="414042"/>
                </a:solidFill>
                <a:highlight>
                  <a:srgbClr val="FFFFFF"/>
                </a:highlight>
                <a:latin typeface="Roboto"/>
                <a:ea typeface="Roboto"/>
                <a:cs typeface="Roboto"/>
                <a:sym typeface="Roboto"/>
              </a:rPr>
              <a:t>This could lead to overwriting sensitive variables such as passwords and username of the program and lead to a complete compromise.</a:t>
            </a:r>
            <a:endParaRPr sz="1900">
              <a:solidFill>
                <a:srgbClr val="414042"/>
              </a:solidFill>
              <a:highlight>
                <a:srgbClr val="FFFFFF"/>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900">
                <a:solidFill>
                  <a:srgbClr val="414042"/>
                </a:solidFill>
                <a:highlight>
                  <a:srgbClr val="FFFFFF"/>
                </a:highlight>
                <a:latin typeface="Roboto"/>
                <a:ea typeface="Roboto"/>
                <a:cs typeface="Roboto"/>
                <a:sym typeface="Roboto"/>
              </a:rPr>
              <a:t> </a:t>
            </a:r>
            <a:endParaRPr sz="1900">
              <a:solidFill>
                <a:srgbClr val="414042"/>
              </a:solidFill>
              <a:highlight>
                <a:srgbClr val="FFFFFF"/>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900">
                <a:solidFill>
                  <a:srgbClr val="414042"/>
                </a:solidFill>
                <a:highlight>
                  <a:srgbClr val="FFFFFF"/>
                </a:highlight>
                <a:latin typeface="Roboto"/>
                <a:ea typeface="Roboto"/>
                <a:cs typeface="Roboto"/>
                <a:sym typeface="Roboto"/>
              </a:rPr>
              <a:t>Attackers can also make use of this vulnerability to perform arbitrary writes in the dtors table of the program and make the program execute malicious code.</a:t>
            </a:r>
            <a:endParaRPr sz="1900">
              <a:solidFill>
                <a:srgbClr val="414042"/>
              </a:solidFill>
              <a:highlight>
                <a:srgbClr val="FFFFFF"/>
              </a:highlight>
              <a:latin typeface="Roboto"/>
              <a:ea typeface="Roboto"/>
              <a:cs typeface="Roboto"/>
              <a:sym typeface="Roboto"/>
            </a:endParaRPr>
          </a:p>
          <a:p>
            <a:pPr marL="0" lvl="0" indent="0" algn="l" rtl="0">
              <a:lnSpc>
                <a:spcPct val="120000"/>
              </a:lnSpc>
              <a:spcBef>
                <a:spcPts val="0"/>
              </a:spcBef>
              <a:spcAft>
                <a:spcPts val="0"/>
              </a:spcAft>
              <a:buClr>
                <a:schemeClr val="dk1"/>
              </a:buClr>
              <a:buSzPts val="1100"/>
              <a:buFont typeface="Arial"/>
              <a:buNone/>
            </a:pPr>
            <a:r>
              <a:rPr lang="en-US" sz="2500">
                <a:solidFill>
                  <a:srgbClr val="1B6EE8"/>
                </a:solidFill>
                <a:highlight>
                  <a:srgbClr val="FFFFFF"/>
                </a:highlight>
                <a:latin typeface="Roboto"/>
                <a:ea typeface="Roboto"/>
                <a:cs typeface="Roboto"/>
                <a:sym typeface="Roboto"/>
              </a:rPr>
              <a:t>Preventing Format String Exploits</a:t>
            </a:r>
            <a:endParaRPr sz="2500">
              <a:solidFill>
                <a:srgbClr val="1B6EE8"/>
              </a:solidFill>
              <a:highlight>
                <a:srgbClr val="FFFFFF"/>
              </a:highlight>
              <a:latin typeface="Roboto"/>
              <a:ea typeface="Roboto"/>
              <a:cs typeface="Roboto"/>
              <a:sym typeface="Roboto"/>
            </a:endParaRPr>
          </a:p>
          <a:p>
            <a:pPr marL="457200" lvl="0" indent="-387350" algn="l" rtl="0">
              <a:lnSpc>
                <a:spcPct val="120000"/>
              </a:lnSpc>
              <a:spcBef>
                <a:spcPts val="400"/>
              </a:spcBef>
              <a:spcAft>
                <a:spcPts val="0"/>
              </a:spcAft>
              <a:buClr>
                <a:srgbClr val="C00000"/>
              </a:buClr>
              <a:buSzPts val="2500"/>
              <a:buFont typeface="Roboto"/>
              <a:buChar char="•"/>
            </a:pPr>
            <a:r>
              <a:rPr lang="en-US" sz="2500">
                <a:solidFill>
                  <a:srgbClr val="C00000"/>
                </a:solidFill>
                <a:highlight>
                  <a:srgbClr val="FFFFFF"/>
                </a:highlight>
                <a:latin typeface="Roboto"/>
                <a:ea typeface="Roboto"/>
                <a:cs typeface="Roboto"/>
                <a:sym typeface="Roboto"/>
              </a:rPr>
              <a:t>Input Validation</a:t>
            </a:r>
            <a:endParaRPr sz="2500">
              <a:solidFill>
                <a:srgbClr val="C00000"/>
              </a:solidFill>
              <a:highlight>
                <a:srgbClr val="FFFFFF"/>
              </a:highlight>
              <a:latin typeface="Roboto"/>
              <a:ea typeface="Roboto"/>
              <a:cs typeface="Roboto"/>
              <a:sym typeface="Roboto"/>
            </a:endParaRPr>
          </a:p>
          <a:p>
            <a:pPr marL="457200" lvl="0" indent="-387350" algn="l" rtl="0">
              <a:lnSpc>
                <a:spcPct val="120000"/>
              </a:lnSpc>
              <a:spcBef>
                <a:spcPts val="0"/>
              </a:spcBef>
              <a:spcAft>
                <a:spcPts val="0"/>
              </a:spcAft>
              <a:buSzPts val="2500"/>
              <a:buFont typeface="Roboto"/>
              <a:buChar char="•"/>
            </a:pPr>
            <a:r>
              <a:rPr lang="en-US" sz="2500">
                <a:solidFill>
                  <a:srgbClr val="C00000"/>
                </a:solidFill>
                <a:highlight>
                  <a:srgbClr val="FFFFFF"/>
                </a:highlight>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Format Guard</a:t>
            </a:r>
            <a:endParaRPr sz="2500">
              <a:solidFill>
                <a:srgbClr val="C00000"/>
              </a:solidFill>
              <a:highlight>
                <a:srgbClr val="FFFFFF"/>
              </a:highlight>
              <a:latin typeface="Roboto"/>
              <a:ea typeface="Roboto"/>
              <a:cs typeface="Roboto"/>
              <a:sym typeface="Roboto"/>
            </a:endParaRPr>
          </a:p>
          <a:p>
            <a:pPr marL="457200" lvl="0" indent="-387350" algn="l" rtl="0">
              <a:lnSpc>
                <a:spcPct val="120000"/>
              </a:lnSpc>
              <a:spcBef>
                <a:spcPts val="0"/>
              </a:spcBef>
              <a:spcAft>
                <a:spcPts val="0"/>
              </a:spcAft>
              <a:buSzPts val="2500"/>
              <a:buFont typeface="Roboto"/>
              <a:buChar char="•"/>
            </a:pPr>
            <a:r>
              <a:rPr lang="en-US" sz="2500">
                <a:solidFill>
                  <a:srgbClr val="C00000"/>
                </a:solidFill>
                <a:highlight>
                  <a:srgbClr val="FFFFFF"/>
                </a:highlight>
                <a:uFill>
                  <a:noFill/>
                </a:uFill>
                <a:latin typeface="Roboto"/>
                <a:ea typeface="Roboto"/>
                <a:cs typeface="Roboto"/>
                <a:sym typeface="Roboto"/>
                <a:hlinkClick r:id="rId4">
                  <a:extLst>
                    <a:ext uri="{A12FA001-AC4F-418D-AE19-62706E023703}">
                      <ahyp:hlinkClr xmlns:ahyp="http://schemas.microsoft.com/office/drawing/2018/hyperlinkcolor" val="tx"/>
                    </a:ext>
                  </a:extLst>
                </a:hlinkClick>
              </a:rPr>
              <a:t>Kimchi</a:t>
            </a:r>
            <a:endParaRPr sz="2500">
              <a:solidFill>
                <a:srgbClr val="C00000"/>
              </a:solidFill>
              <a:highlight>
                <a:srgbClr val="FFFFFF"/>
              </a:highlight>
              <a:latin typeface="Roboto"/>
              <a:ea typeface="Roboto"/>
              <a:cs typeface="Roboto"/>
              <a:sym typeface="Roboto"/>
            </a:endParaRPr>
          </a:p>
          <a:p>
            <a:pPr marL="457200" lvl="0" indent="-387350" algn="l" rtl="0">
              <a:spcBef>
                <a:spcPts val="0"/>
              </a:spcBef>
              <a:spcAft>
                <a:spcPts val="0"/>
              </a:spcAft>
              <a:buClr>
                <a:srgbClr val="C00000"/>
              </a:buClr>
              <a:buSzPts val="2500"/>
              <a:buFont typeface="Roboto"/>
              <a:buChar char="•"/>
            </a:pPr>
            <a:r>
              <a:rPr lang="en-US" sz="2500">
                <a:solidFill>
                  <a:srgbClr val="C00000"/>
                </a:solidFill>
                <a:highlight>
                  <a:srgbClr val="FFFFFF"/>
                </a:highlight>
                <a:latin typeface="Roboto"/>
                <a:ea typeface="Roboto"/>
                <a:cs typeface="Roboto"/>
                <a:sym typeface="Roboto"/>
              </a:rPr>
              <a:t>Address Space Layout Randomization (ASLR) </a:t>
            </a:r>
            <a:endParaRPr sz="2500">
              <a:solidFill>
                <a:srgbClr val="C00000"/>
              </a:solidFill>
            </a:endParaRPr>
          </a:p>
        </p:txBody>
      </p:sp>
      <p:sp>
        <p:nvSpPr>
          <p:cNvPr id="881" name="Google Shape;881;g1cd186fabe7_0_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68</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Function Pointer Overwritten</a:t>
            </a:r>
            <a:endParaRPr/>
          </a:p>
        </p:txBody>
      </p:sp>
      <p:sp>
        <p:nvSpPr>
          <p:cNvPr id="887" name="Google Shape;887;p6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Function pointers: (used in attack on PHP 4.0.2)</a:t>
            </a: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685800" lvl="1" indent="-228600" algn="l" rtl="0">
              <a:lnSpc>
                <a:spcPct val="90000"/>
              </a:lnSpc>
              <a:spcBef>
                <a:spcPts val="500"/>
              </a:spcBef>
              <a:spcAft>
                <a:spcPts val="0"/>
              </a:spcAft>
              <a:buClr>
                <a:schemeClr val="dk1"/>
              </a:buClr>
              <a:buSzPts val="2400"/>
              <a:buChar char="•"/>
            </a:pPr>
            <a:r>
              <a:rPr lang="en-US"/>
              <a:t>Overflowing buf will override function pointer.</a:t>
            </a:r>
            <a:endParaRPr/>
          </a:p>
          <a:p>
            <a:pPr marL="685800" lvl="1" indent="-228600" algn="l" rtl="0">
              <a:lnSpc>
                <a:spcPct val="90000"/>
              </a:lnSpc>
              <a:spcBef>
                <a:spcPts val="500"/>
              </a:spcBef>
              <a:spcAft>
                <a:spcPts val="0"/>
              </a:spcAft>
              <a:buClr>
                <a:schemeClr val="dk1"/>
              </a:buClr>
              <a:buSzPts val="2400"/>
              <a:buChar char="•"/>
            </a:pPr>
            <a:r>
              <a:rPr lang="en-US"/>
              <a:t>Harder to defend than return-address overflow attacks</a:t>
            </a:r>
            <a:endParaRPr/>
          </a:p>
        </p:txBody>
      </p:sp>
      <p:grpSp>
        <p:nvGrpSpPr>
          <p:cNvPr id="888" name="Google Shape;888;p66"/>
          <p:cNvGrpSpPr/>
          <p:nvPr/>
        </p:nvGrpSpPr>
        <p:grpSpPr>
          <a:xfrm>
            <a:off x="2982914" y="2624139"/>
            <a:ext cx="6176963" cy="690562"/>
            <a:chOff x="816" y="2405"/>
            <a:chExt cx="3891" cy="435"/>
          </a:xfrm>
        </p:grpSpPr>
        <p:cxnSp>
          <p:nvCxnSpPr>
            <p:cNvPr id="889" name="Google Shape;889;p66"/>
            <p:cNvCxnSpPr/>
            <p:nvPr/>
          </p:nvCxnSpPr>
          <p:spPr>
            <a:xfrm>
              <a:off x="3393" y="2540"/>
              <a:ext cx="527" cy="0"/>
            </a:xfrm>
            <a:prstGeom prst="straightConnector1">
              <a:avLst/>
            </a:prstGeom>
            <a:noFill/>
            <a:ln w="9525" cap="flat" cmpd="sng">
              <a:solidFill>
                <a:schemeClr val="dk1"/>
              </a:solidFill>
              <a:prstDash val="solid"/>
              <a:round/>
              <a:headEnd type="none" w="med" len="med"/>
              <a:tailEnd type="none" w="med" len="med"/>
            </a:ln>
          </p:spPr>
        </p:cxnSp>
        <p:cxnSp>
          <p:nvCxnSpPr>
            <p:cNvPr id="890" name="Google Shape;890;p66"/>
            <p:cNvCxnSpPr/>
            <p:nvPr/>
          </p:nvCxnSpPr>
          <p:spPr>
            <a:xfrm>
              <a:off x="3393" y="2777"/>
              <a:ext cx="527" cy="0"/>
            </a:xfrm>
            <a:prstGeom prst="straightConnector1">
              <a:avLst/>
            </a:prstGeom>
            <a:noFill/>
            <a:ln w="9525" cap="flat" cmpd="sng">
              <a:solidFill>
                <a:schemeClr val="dk1"/>
              </a:solidFill>
              <a:prstDash val="solid"/>
              <a:round/>
              <a:headEnd type="none" w="med" len="med"/>
              <a:tailEnd type="none" w="med" len="med"/>
            </a:ln>
          </p:spPr>
        </p:cxnSp>
        <p:cxnSp>
          <p:nvCxnSpPr>
            <p:cNvPr id="891" name="Google Shape;891;p66"/>
            <p:cNvCxnSpPr/>
            <p:nvPr/>
          </p:nvCxnSpPr>
          <p:spPr>
            <a:xfrm>
              <a:off x="816" y="2543"/>
              <a:ext cx="527" cy="0"/>
            </a:xfrm>
            <a:prstGeom prst="straightConnector1">
              <a:avLst/>
            </a:prstGeom>
            <a:noFill/>
            <a:ln w="9525" cap="flat" cmpd="sng">
              <a:solidFill>
                <a:schemeClr val="dk1"/>
              </a:solidFill>
              <a:prstDash val="solid"/>
              <a:round/>
              <a:headEnd type="none" w="med" len="med"/>
              <a:tailEnd type="none" w="med" len="med"/>
            </a:ln>
          </p:spPr>
        </p:cxnSp>
        <p:cxnSp>
          <p:nvCxnSpPr>
            <p:cNvPr id="892" name="Google Shape;892;p66"/>
            <p:cNvCxnSpPr/>
            <p:nvPr/>
          </p:nvCxnSpPr>
          <p:spPr>
            <a:xfrm>
              <a:off x="816" y="2777"/>
              <a:ext cx="527" cy="0"/>
            </a:xfrm>
            <a:prstGeom prst="straightConnector1">
              <a:avLst/>
            </a:prstGeom>
            <a:noFill/>
            <a:ln w="9525" cap="flat" cmpd="sng">
              <a:solidFill>
                <a:schemeClr val="dk1"/>
              </a:solidFill>
              <a:prstDash val="solid"/>
              <a:round/>
              <a:headEnd type="none" w="med" len="med"/>
              <a:tailEnd type="none" w="med" len="med"/>
            </a:ln>
          </p:spPr>
        </p:cxnSp>
        <p:sp>
          <p:nvSpPr>
            <p:cNvPr id="893" name="Google Shape;893;p66"/>
            <p:cNvSpPr txBox="1"/>
            <p:nvPr/>
          </p:nvSpPr>
          <p:spPr>
            <a:xfrm>
              <a:off x="3891" y="2405"/>
              <a:ext cx="816" cy="425"/>
            </a:xfrm>
            <a:prstGeom prst="rect">
              <a:avLst/>
            </a:prstGeom>
            <a:noFill/>
            <a:ln>
              <a:noFill/>
            </a:ln>
          </p:spPr>
          <p:txBody>
            <a:bodyPr spcFirstLastPara="1" wrap="square" lIns="91425" tIns="45700" rIns="91425" bIns="45700" anchor="t" anchorCtr="0">
              <a:spAutoFit/>
            </a:bodyPr>
            <a:lstStyle/>
            <a:p>
              <a:pPr marL="0" marR="0" lvl="0" indent="0" algn="ctr" rtl="0">
                <a:lnSpc>
                  <a:spcPct val="80000"/>
                </a:lnSpc>
                <a:spcBef>
                  <a:spcPts val="0"/>
                </a:spcBef>
                <a:spcAft>
                  <a:spcPts val="0"/>
                </a:spcAft>
                <a:buClr>
                  <a:srgbClr val="00279F"/>
                </a:buClr>
                <a:buSzPts val="1800"/>
                <a:buFont typeface="Noto Sans Symbols"/>
                <a:buNone/>
              </a:pPr>
              <a:r>
                <a:rPr lang="en-US" sz="1800">
                  <a:solidFill>
                    <a:srgbClr val="00279F"/>
                  </a:solidFill>
                  <a:latin typeface="Tahoma"/>
                  <a:ea typeface="Tahoma"/>
                  <a:cs typeface="Tahoma"/>
                  <a:sym typeface="Tahoma"/>
                </a:rPr>
                <a:t>High addr. </a:t>
              </a:r>
              <a:endParaRPr/>
            </a:p>
            <a:p>
              <a:pPr marL="0" marR="0" lvl="0" indent="0" algn="ctr" rtl="0">
                <a:lnSpc>
                  <a:spcPct val="80000"/>
                </a:lnSpc>
                <a:spcBef>
                  <a:spcPts val="900"/>
                </a:spcBef>
                <a:spcAft>
                  <a:spcPts val="0"/>
                </a:spcAft>
                <a:buClr>
                  <a:srgbClr val="00279F"/>
                </a:buClr>
                <a:buSzPts val="1800"/>
                <a:buFont typeface="Noto Sans Symbols"/>
                <a:buNone/>
              </a:pPr>
              <a:r>
                <a:rPr lang="en-US" sz="1800">
                  <a:solidFill>
                    <a:srgbClr val="00279F"/>
                  </a:solidFill>
                  <a:latin typeface="Tahoma"/>
                  <a:ea typeface="Tahoma"/>
                  <a:cs typeface="Tahoma"/>
                  <a:sym typeface="Tahoma"/>
                </a:rPr>
                <a:t>Of stack</a:t>
              </a:r>
              <a:endParaRPr/>
            </a:p>
          </p:txBody>
        </p:sp>
        <p:sp>
          <p:nvSpPr>
            <p:cNvPr id="894" name="Google Shape;894;p66"/>
            <p:cNvSpPr/>
            <p:nvPr/>
          </p:nvSpPr>
          <p:spPr>
            <a:xfrm>
              <a:off x="1343" y="2543"/>
              <a:ext cx="1714" cy="234"/>
            </a:xfrm>
            <a:prstGeom prst="rect">
              <a:avLst/>
            </a:prstGeom>
            <a:solidFill>
              <a:schemeClr val="hlink"/>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279F"/>
                </a:buClr>
                <a:buSzPts val="1800"/>
                <a:buFont typeface="Noto Sans Symbols"/>
                <a:buNone/>
              </a:pPr>
              <a:r>
                <a:rPr lang="en-US" sz="1800">
                  <a:solidFill>
                    <a:srgbClr val="00279F"/>
                  </a:solidFill>
                  <a:latin typeface="Tahoma"/>
                  <a:ea typeface="Tahoma"/>
                  <a:cs typeface="Tahoma"/>
                  <a:sym typeface="Tahoma"/>
                </a:rPr>
                <a:t>             </a:t>
              </a:r>
              <a:r>
                <a:rPr lang="en-US" sz="1800">
                  <a:solidFill>
                    <a:srgbClr val="000000"/>
                  </a:solidFill>
                  <a:latin typeface="Tahoma"/>
                  <a:ea typeface="Tahoma"/>
                  <a:cs typeface="Tahoma"/>
                  <a:sym typeface="Tahoma"/>
                </a:rPr>
                <a:t>buf[128]</a:t>
              </a:r>
              <a:endParaRPr/>
            </a:p>
          </p:txBody>
        </p:sp>
        <p:sp>
          <p:nvSpPr>
            <p:cNvPr id="895" name="Google Shape;895;p66"/>
            <p:cNvSpPr/>
            <p:nvPr/>
          </p:nvSpPr>
          <p:spPr>
            <a:xfrm>
              <a:off x="3057" y="2540"/>
              <a:ext cx="900" cy="300"/>
            </a:xfrm>
            <a:prstGeom prst="rect">
              <a:avLst/>
            </a:prstGeom>
            <a:solidFill>
              <a:schemeClr val="hlink"/>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1800"/>
                <a:buFont typeface="Noto Sans Symbols"/>
                <a:buNone/>
              </a:pPr>
              <a:r>
                <a:rPr lang="en-US" sz="1800">
                  <a:solidFill>
                    <a:srgbClr val="000000"/>
                  </a:solidFill>
                  <a:latin typeface="Tahoma"/>
                  <a:ea typeface="Tahoma"/>
                  <a:cs typeface="Tahoma"/>
                  <a:sym typeface="Tahoma"/>
                </a:rPr>
                <a:t>FuncPtr</a:t>
              </a:r>
              <a:endParaRPr/>
            </a:p>
          </p:txBody>
        </p:sp>
      </p:grpSp>
      <p:sp>
        <p:nvSpPr>
          <p:cNvPr id="896" name="Google Shape;896;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g1d88d74e645_0_1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Unicode and ANSI Buffer Size Mismatches (windows platform)</a:t>
            </a:r>
            <a:endParaRPr/>
          </a:p>
        </p:txBody>
      </p:sp>
      <p:sp>
        <p:nvSpPr>
          <p:cNvPr id="903" name="Google Shape;903;g1d88d74e645_0_17"/>
          <p:cNvSpPr txBox="1">
            <a:spLocks noGrp="1"/>
          </p:cNvSpPr>
          <p:nvPr>
            <p:ph type="body" idx="1"/>
          </p:nvPr>
        </p:nvSpPr>
        <p:spPr>
          <a:xfrm>
            <a:off x="748675" y="1690825"/>
            <a:ext cx="10515600" cy="4685400"/>
          </a:xfrm>
          <a:prstGeom prst="rect">
            <a:avLst/>
          </a:prstGeom>
        </p:spPr>
        <p:txBody>
          <a:bodyPr spcFirstLastPara="1" wrap="square" lIns="91425" tIns="45700" rIns="91425" bIns="45700" anchor="t" anchorCtr="0">
            <a:normAutofit lnSpcReduction="10000"/>
          </a:bodyPr>
          <a:lstStyle/>
          <a:p>
            <a:pPr marL="0" lvl="0" indent="0" algn="just" rtl="0">
              <a:spcBef>
                <a:spcPts val="1000"/>
              </a:spcBef>
              <a:spcAft>
                <a:spcPts val="0"/>
              </a:spcAft>
              <a:buNone/>
            </a:pPr>
            <a:r>
              <a:rPr lang="en-US"/>
              <a:t>It occurs if you mix up the number of elements with the size in bytes of a Unicode buffer. There are two reasons it's rather widespread: Windows NT and later support ANSI and Unicode strings, and most Unicode functions deal with buffer sizes in wide characters, not byte sizes.</a:t>
            </a:r>
            <a:endParaRPr/>
          </a:p>
          <a:p>
            <a:pPr marL="0" lvl="0" indent="0" algn="l" rtl="0">
              <a:spcBef>
                <a:spcPts val="1000"/>
              </a:spcBef>
              <a:spcAft>
                <a:spcPts val="0"/>
              </a:spcAft>
              <a:buNone/>
            </a:pPr>
            <a:r>
              <a:rPr lang="en-US"/>
              <a:t>The most commonly used function that is vulnerable to this kind of bug is </a:t>
            </a:r>
            <a:r>
              <a:rPr lang="en-US">
                <a:solidFill>
                  <a:srgbClr val="C00000"/>
                </a:solidFill>
              </a:rPr>
              <a:t>MultiByteToWideChar.</a:t>
            </a:r>
            <a:endParaRPr>
              <a:solidFill>
                <a:srgbClr val="C00000"/>
              </a:solidFill>
            </a:endParaRPr>
          </a:p>
          <a:p>
            <a:pPr marL="0" lvl="0" indent="0" algn="l" rtl="0">
              <a:spcBef>
                <a:spcPts val="1000"/>
              </a:spcBef>
              <a:spcAft>
                <a:spcPts val="0"/>
              </a:spcAft>
              <a:buNone/>
            </a:pPr>
            <a:endParaRPr/>
          </a:p>
          <a:p>
            <a:pPr marL="0" lvl="0" indent="0" algn="l" rtl="0">
              <a:spcBef>
                <a:spcPts val="1000"/>
              </a:spcBef>
              <a:spcAft>
                <a:spcPts val="0"/>
              </a:spcAft>
              <a:buClr>
                <a:schemeClr val="dk1"/>
              </a:buClr>
              <a:buSzPts val="1100"/>
              <a:buFont typeface="Arial"/>
              <a:buNone/>
            </a:pPr>
            <a:r>
              <a:rPr lang="en-US" u="sng">
                <a:solidFill>
                  <a:schemeClr val="hlink"/>
                </a:solidFill>
                <a:hlinkClick r:id="rId3"/>
              </a:rPr>
              <a:t>https://learn.microsoft.com/en-us/windows/win32/api/stringapiset/nf-stringapiset-multibytetowidechar</a:t>
            </a:r>
            <a:r>
              <a:rPr lang="en-US"/>
              <a:t> </a:t>
            </a:r>
            <a:endParaRPr/>
          </a:p>
          <a:p>
            <a:pPr marL="0" lvl="0" indent="0" algn="l" rtl="0">
              <a:spcBef>
                <a:spcPts val="1000"/>
              </a:spcBef>
              <a:spcAft>
                <a:spcPts val="0"/>
              </a:spcAft>
              <a:buNone/>
            </a:pPr>
            <a:endParaRPr/>
          </a:p>
        </p:txBody>
      </p:sp>
      <p:sp>
        <p:nvSpPr>
          <p:cNvPr id="904" name="Google Shape;904;g1d88d74e645_0_1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70</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1d88d74e645_0_2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Example</a:t>
            </a:r>
            <a:endParaRPr/>
          </a:p>
        </p:txBody>
      </p:sp>
      <p:sp>
        <p:nvSpPr>
          <p:cNvPr id="911" name="Google Shape;911;g1d88d74e645_0_2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Autofit/>
          </a:bodyPr>
          <a:lstStyle/>
          <a:p>
            <a:pPr marL="0" lvl="0" indent="0" algn="l" rtl="0">
              <a:lnSpc>
                <a:spcPct val="70000"/>
              </a:lnSpc>
              <a:spcBef>
                <a:spcPts val="1000"/>
              </a:spcBef>
              <a:spcAft>
                <a:spcPts val="0"/>
              </a:spcAft>
              <a:buClr>
                <a:schemeClr val="dk1"/>
              </a:buClr>
              <a:buSzPts val="605"/>
              <a:buFont typeface="Arial"/>
              <a:buNone/>
            </a:pPr>
            <a:r>
              <a:rPr lang="en-US" sz="2240"/>
              <a:t>BOOL GetName(char *szName)</a:t>
            </a:r>
            <a:endParaRPr sz="2240"/>
          </a:p>
          <a:p>
            <a:pPr marL="0" lvl="0" indent="0" algn="l" rtl="0">
              <a:lnSpc>
                <a:spcPct val="70000"/>
              </a:lnSpc>
              <a:spcBef>
                <a:spcPts val="1000"/>
              </a:spcBef>
              <a:spcAft>
                <a:spcPts val="0"/>
              </a:spcAft>
              <a:buClr>
                <a:schemeClr val="dk1"/>
              </a:buClr>
              <a:buSzPts val="605"/>
              <a:buFont typeface="Arial"/>
              <a:buNone/>
            </a:pPr>
            <a:r>
              <a:rPr lang="en-US" sz="2240"/>
              <a:t>{</a:t>
            </a:r>
            <a:endParaRPr sz="2240"/>
          </a:p>
          <a:p>
            <a:pPr marL="0" lvl="0" indent="0" algn="l" rtl="0">
              <a:lnSpc>
                <a:spcPct val="70000"/>
              </a:lnSpc>
              <a:spcBef>
                <a:spcPts val="1000"/>
              </a:spcBef>
              <a:spcAft>
                <a:spcPts val="0"/>
              </a:spcAft>
              <a:buClr>
                <a:schemeClr val="dk1"/>
              </a:buClr>
              <a:buSzPts val="605"/>
              <a:buFont typeface="Arial"/>
              <a:buNone/>
            </a:pPr>
            <a:r>
              <a:rPr lang="en-US" sz="2240"/>
              <a:t>WCHAR wszUserName[256];</a:t>
            </a:r>
            <a:endParaRPr sz="2240"/>
          </a:p>
          <a:p>
            <a:pPr marL="0" lvl="0" indent="0" algn="l" rtl="0">
              <a:lnSpc>
                <a:spcPct val="70000"/>
              </a:lnSpc>
              <a:spcBef>
                <a:spcPts val="1000"/>
              </a:spcBef>
              <a:spcAft>
                <a:spcPts val="0"/>
              </a:spcAft>
              <a:buClr>
                <a:schemeClr val="dk1"/>
              </a:buClr>
              <a:buSzPts val="605"/>
              <a:buFont typeface="Arial"/>
              <a:buNone/>
            </a:pPr>
            <a:r>
              <a:rPr lang="en-US" sz="2240"/>
              <a:t>// Convert ANSI name to Unicode.</a:t>
            </a:r>
            <a:endParaRPr sz="2240"/>
          </a:p>
          <a:p>
            <a:pPr marL="0" lvl="0" indent="0" algn="l" rtl="0">
              <a:lnSpc>
                <a:spcPct val="70000"/>
              </a:lnSpc>
              <a:spcBef>
                <a:spcPts val="1000"/>
              </a:spcBef>
              <a:spcAft>
                <a:spcPts val="0"/>
              </a:spcAft>
              <a:buClr>
                <a:schemeClr val="dk1"/>
              </a:buClr>
              <a:buSzPts val="605"/>
              <a:buFont typeface="Arial"/>
              <a:buNone/>
            </a:pPr>
            <a:r>
              <a:rPr lang="en-US" sz="2240" b="1">
                <a:solidFill>
                  <a:srgbClr val="C00000"/>
                </a:solidFill>
              </a:rPr>
              <a:t>MultiByteToWideChar(CP_ACP, 0, szName, -1, wszUserName, sizeof(wszUserName))</a:t>
            </a:r>
            <a:endParaRPr sz="2240" b="1">
              <a:solidFill>
                <a:srgbClr val="C00000"/>
              </a:solidFill>
            </a:endParaRPr>
          </a:p>
          <a:p>
            <a:pPr marL="0" lvl="0" indent="0" algn="l" rtl="0">
              <a:lnSpc>
                <a:spcPct val="70000"/>
              </a:lnSpc>
              <a:spcBef>
                <a:spcPts val="1000"/>
              </a:spcBef>
              <a:spcAft>
                <a:spcPts val="0"/>
              </a:spcAft>
              <a:buSzPts val="605"/>
              <a:buNone/>
            </a:pPr>
            <a:endParaRPr sz="2240"/>
          </a:p>
          <a:p>
            <a:pPr marL="0" lvl="0" indent="0" algn="l" rtl="0">
              <a:lnSpc>
                <a:spcPct val="70000"/>
              </a:lnSpc>
              <a:spcBef>
                <a:spcPts val="1000"/>
              </a:spcBef>
              <a:spcAft>
                <a:spcPts val="0"/>
              </a:spcAft>
              <a:buClr>
                <a:schemeClr val="dk1"/>
              </a:buClr>
              <a:buSzPts val="605"/>
              <a:buFont typeface="Arial"/>
              <a:buNone/>
            </a:pPr>
            <a:r>
              <a:rPr lang="en-US" sz="2240"/>
              <a:t>;</a:t>
            </a:r>
            <a:endParaRPr sz="2240"/>
          </a:p>
          <a:p>
            <a:pPr marL="0" lvl="0" indent="0" algn="l" rtl="0">
              <a:lnSpc>
                <a:spcPct val="70000"/>
              </a:lnSpc>
              <a:spcBef>
                <a:spcPts val="1000"/>
              </a:spcBef>
              <a:spcAft>
                <a:spcPts val="0"/>
              </a:spcAft>
              <a:buClr>
                <a:schemeClr val="dk1"/>
              </a:buClr>
              <a:buSzPts val="605"/>
              <a:buFont typeface="Arial"/>
              <a:buNone/>
            </a:pPr>
            <a:r>
              <a:rPr lang="en-US" sz="2240"/>
              <a:t>// Snip</a:t>
            </a:r>
            <a:endParaRPr sz="2240"/>
          </a:p>
          <a:p>
            <a:pPr marL="0" lvl="0" indent="0" algn="l" rtl="0">
              <a:lnSpc>
                <a:spcPct val="70000"/>
              </a:lnSpc>
              <a:spcBef>
                <a:spcPts val="1000"/>
              </a:spcBef>
              <a:spcAft>
                <a:spcPts val="0"/>
              </a:spcAft>
              <a:buClr>
                <a:schemeClr val="dk1"/>
              </a:buClr>
              <a:buSzPts val="605"/>
              <a:buFont typeface="Arial"/>
              <a:buNone/>
            </a:pPr>
            <a:r>
              <a:rPr lang="en-US" sz="2240"/>
              <a:t>}</a:t>
            </a:r>
            <a:endParaRPr sz="2240"/>
          </a:p>
          <a:p>
            <a:pPr marL="0" lvl="0" indent="0" algn="l" rtl="0">
              <a:lnSpc>
                <a:spcPct val="70000"/>
              </a:lnSpc>
              <a:spcBef>
                <a:spcPts val="1000"/>
              </a:spcBef>
              <a:spcAft>
                <a:spcPts val="0"/>
              </a:spcAft>
              <a:buSzPts val="605"/>
              <a:buNone/>
            </a:pPr>
            <a:endParaRPr sz="2240"/>
          </a:p>
        </p:txBody>
      </p:sp>
      <p:sp>
        <p:nvSpPr>
          <p:cNvPr id="912" name="Google Shape;912;g1d88d74e645_0_2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71</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1d88d74e645_0_3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919" name="Google Shape;919;g1d88d74e645_0_35"/>
          <p:cNvSpPr txBox="1">
            <a:spLocks noGrp="1"/>
          </p:cNvSpPr>
          <p:nvPr>
            <p:ph type="body" idx="1"/>
          </p:nvPr>
        </p:nvSpPr>
        <p:spPr>
          <a:xfrm>
            <a:off x="838200" y="365125"/>
            <a:ext cx="10515600" cy="58116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Clr>
                <a:schemeClr val="dk1"/>
              </a:buClr>
              <a:buSzPts val="1100"/>
              <a:buFont typeface="Arial"/>
              <a:buNone/>
            </a:pPr>
            <a:r>
              <a:rPr lang="en-US"/>
              <a:t>The problem is the last argument of MultiByteToWideChar. The documentation for this argument states: “Specifies the size, in wide characters, of the buffer pointed to by the lpWideCharStr parameter.” The value passed into this call is  sizeof(wszUserName), which is 256, right?</a:t>
            </a:r>
            <a:endParaRPr/>
          </a:p>
          <a:p>
            <a:pPr marL="0" lvl="0" indent="0" algn="just" rtl="0">
              <a:spcBef>
                <a:spcPts val="1000"/>
              </a:spcBef>
              <a:spcAft>
                <a:spcPts val="0"/>
              </a:spcAft>
              <a:buClr>
                <a:schemeClr val="dk1"/>
              </a:buClr>
              <a:buSzPts val="1100"/>
              <a:buFont typeface="Arial"/>
              <a:buNone/>
            </a:pPr>
            <a:r>
              <a:rPr lang="en-US"/>
              <a:t>No, it's not. wszUserName is a Unicode string; it's 256 wide characters. A wide character is two bytes, so sizeof(wszUserName) is actually 512 bytes. Hence, the function thinks the buffer is 512 wide characters in size. Because wszUserName is on the stack, we have a potential exploitable buffer overrun.</a:t>
            </a:r>
            <a:endParaRPr/>
          </a:p>
          <a:p>
            <a:pPr marL="0" lvl="0" indent="0" algn="l" rtl="0">
              <a:spcBef>
                <a:spcPts val="1000"/>
              </a:spcBef>
              <a:spcAft>
                <a:spcPts val="0"/>
              </a:spcAft>
              <a:buClr>
                <a:schemeClr val="dk1"/>
              </a:buClr>
              <a:buSzPts val="1100"/>
              <a:buFont typeface="Arial"/>
              <a:buNone/>
            </a:pPr>
            <a:r>
              <a:rPr lang="en-US">
                <a:solidFill>
                  <a:srgbClr val="C00000"/>
                </a:solidFill>
              </a:rPr>
              <a:t>MultiByteToWideChar(CP_ACP, 0, szName, -1, wszUserName,</a:t>
            </a:r>
            <a:endParaRPr>
              <a:solidFill>
                <a:srgbClr val="C00000"/>
              </a:solidFill>
            </a:endParaRPr>
          </a:p>
          <a:p>
            <a:pPr marL="2286000" lvl="0" indent="457200" algn="l" rtl="0">
              <a:spcBef>
                <a:spcPts val="1000"/>
              </a:spcBef>
              <a:spcAft>
                <a:spcPts val="0"/>
              </a:spcAft>
              <a:buClr>
                <a:schemeClr val="dk1"/>
              </a:buClr>
              <a:buSzPts val="1100"/>
              <a:buFont typeface="Arial"/>
              <a:buNone/>
            </a:pPr>
            <a:r>
              <a:rPr lang="en-US">
                <a:solidFill>
                  <a:srgbClr val="C00000"/>
                </a:solidFill>
              </a:rPr>
              <a:t>sizeof(wszUserName) / sizeof(wszUserName[0]));</a:t>
            </a:r>
            <a:endParaRPr>
              <a:solidFill>
                <a:srgbClr val="C00000"/>
              </a:solidFill>
            </a:endParaRPr>
          </a:p>
          <a:p>
            <a:pPr marL="0" lvl="0" indent="0" algn="l" rtl="0">
              <a:spcBef>
                <a:spcPts val="1000"/>
              </a:spcBef>
              <a:spcAft>
                <a:spcPts val="0"/>
              </a:spcAft>
              <a:buNone/>
            </a:pPr>
            <a:endParaRPr/>
          </a:p>
        </p:txBody>
      </p:sp>
      <p:sp>
        <p:nvSpPr>
          <p:cNvPr id="920" name="Google Shape;920;g1d88d74e645_0_3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72</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6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Finding buffer overflows</a:t>
            </a:r>
            <a:endParaRPr/>
          </a:p>
        </p:txBody>
      </p:sp>
      <p:sp>
        <p:nvSpPr>
          <p:cNvPr id="926" name="Google Shape;926;p6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80988" lvl="0" indent="-280988" algn="l" rtl="0">
              <a:lnSpc>
                <a:spcPct val="90000"/>
              </a:lnSpc>
              <a:spcBef>
                <a:spcPts val="0"/>
              </a:spcBef>
              <a:spcAft>
                <a:spcPts val="0"/>
              </a:spcAft>
              <a:buClr>
                <a:schemeClr val="dk1"/>
              </a:buClr>
              <a:buSzPts val="2800"/>
              <a:buChar char="•"/>
            </a:pPr>
            <a:r>
              <a:rPr lang="en-US"/>
              <a:t>Hackers find buffer overflows as follows:</a:t>
            </a:r>
            <a:endParaRPr/>
          </a:p>
          <a:p>
            <a:pPr marL="625475" lvl="1" indent="-230187" algn="l" rtl="0">
              <a:lnSpc>
                <a:spcPct val="90000"/>
              </a:lnSpc>
              <a:spcBef>
                <a:spcPts val="500"/>
              </a:spcBef>
              <a:spcAft>
                <a:spcPts val="0"/>
              </a:spcAft>
              <a:buClr>
                <a:schemeClr val="dk1"/>
              </a:buClr>
              <a:buSzPts val="2400"/>
              <a:buChar char="•"/>
            </a:pPr>
            <a:r>
              <a:rPr lang="en-US"/>
              <a:t>Run target server program on local machine.</a:t>
            </a:r>
            <a:endParaRPr/>
          </a:p>
          <a:p>
            <a:pPr marL="625475" lvl="1" indent="-230187" algn="l" rtl="0">
              <a:lnSpc>
                <a:spcPct val="90000"/>
              </a:lnSpc>
              <a:spcBef>
                <a:spcPts val="500"/>
              </a:spcBef>
              <a:spcAft>
                <a:spcPts val="0"/>
              </a:spcAft>
              <a:buClr>
                <a:schemeClr val="dk1"/>
              </a:buClr>
              <a:buSzPts val="2400"/>
              <a:buChar char="•"/>
            </a:pPr>
            <a:r>
              <a:rPr lang="en-US"/>
              <a:t>Issue requests with long tags.</a:t>
            </a:r>
            <a:br>
              <a:rPr lang="en-US"/>
            </a:br>
            <a:r>
              <a:rPr lang="en-US"/>
              <a:t>	All long tags end with    “$$$$$”.</a:t>
            </a:r>
            <a:endParaRPr/>
          </a:p>
          <a:p>
            <a:pPr marL="625475" lvl="1" indent="-230187" algn="l" rtl="0">
              <a:lnSpc>
                <a:spcPct val="90000"/>
              </a:lnSpc>
              <a:spcBef>
                <a:spcPts val="500"/>
              </a:spcBef>
              <a:spcAft>
                <a:spcPts val="0"/>
              </a:spcAft>
              <a:buClr>
                <a:schemeClr val="dk1"/>
              </a:buClr>
              <a:buSzPts val="2400"/>
              <a:buChar char="•"/>
            </a:pPr>
            <a:r>
              <a:rPr lang="en-US"/>
              <a:t>If web server crashes,</a:t>
            </a:r>
            <a:br>
              <a:rPr lang="en-US"/>
            </a:br>
            <a:r>
              <a:rPr lang="en-US"/>
              <a:t>	search core dump for  “$$$$$” to find </a:t>
            </a:r>
            <a:br>
              <a:rPr lang="en-US"/>
            </a:br>
            <a:r>
              <a:rPr lang="en-US"/>
              <a:t>	overflow location.</a:t>
            </a:r>
            <a:endParaRPr/>
          </a:p>
          <a:p>
            <a:pPr marL="280988" lvl="0" indent="-280988" algn="l" rtl="0">
              <a:lnSpc>
                <a:spcPct val="90000"/>
              </a:lnSpc>
              <a:spcBef>
                <a:spcPts val="1000"/>
              </a:spcBef>
              <a:spcAft>
                <a:spcPts val="0"/>
              </a:spcAft>
              <a:buClr>
                <a:schemeClr val="dk1"/>
              </a:buClr>
              <a:buSzPts val="2800"/>
              <a:buChar char="•"/>
            </a:pPr>
            <a:r>
              <a:rPr lang="en-US"/>
              <a:t>Some automated tools exist.  </a:t>
            </a:r>
            <a:r>
              <a:rPr lang="en-US" sz="2000"/>
              <a:t>(eEye Retina,  ISIC).</a:t>
            </a:r>
            <a:endParaRPr/>
          </a:p>
          <a:p>
            <a:pPr marL="280988" lvl="0" indent="-280988" algn="l" rtl="0">
              <a:lnSpc>
                <a:spcPct val="90000"/>
              </a:lnSpc>
              <a:spcBef>
                <a:spcPts val="1000"/>
              </a:spcBef>
              <a:spcAft>
                <a:spcPts val="0"/>
              </a:spcAft>
              <a:buClr>
                <a:schemeClr val="dk1"/>
              </a:buClr>
              <a:buSzPts val="2400"/>
              <a:buChar char="•"/>
            </a:pPr>
            <a:r>
              <a:rPr lang="en-US" sz="2400"/>
              <a:t>Then use disassemblers and debuggers (eg. IDA-Pro) to construct exploit.</a:t>
            </a:r>
            <a:endParaRPr sz="2000"/>
          </a:p>
          <a:p>
            <a:pPr marL="280988" lvl="0" indent="-103188" algn="l" rtl="0">
              <a:lnSpc>
                <a:spcPct val="90000"/>
              </a:lnSpc>
              <a:spcBef>
                <a:spcPts val="1000"/>
              </a:spcBef>
              <a:spcAft>
                <a:spcPts val="0"/>
              </a:spcAft>
              <a:buClr>
                <a:schemeClr val="dk1"/>
              </a:buClr>
              <a:buSzPts val="2800"/>
              <a:buNone/>
            </a:pPr>
            <a:endParaRPr/>
          </a:p>
        </p:txBody>
      </p:sp>
      <p:sp>
        <p:nvSpPr>
          <p:cNvPr id="927" name="Google Shape;927;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254C9C"/>
              </a:buClr>
              <a:buSzPts val="1400"/>
              <a:buFont typeface="Times"/>
              <a:buNone/>
            </a:pPr>
            <a:fld id="{00000000-1234-1234-1234-123412341234}" type="slidenum">
              <a:rPr lang="en-US" sz="1400">
                <a:solidFill>
                  <a:srgbClr val="254C9C"/>
                </a:solidFill>
                <a:latin typeface="Arial"/>
                <a:ea typeface="Arial"/>
                <a:cs typeface="Arial"/>
                <a:sym typeface="Arial"/>
              </a:rPr>
              <a:t>74</a:t>
            </a:fld>
            <a:endParaRPr sz="1400">
              <a:solidFill>
                <a:schemeClr val="dk1"/>
              </a:solidFill>
              <a:latin typeface="Arial"/>
              <a:ea typeface="Arial"/>
              <a:cs typeface="Arial"/>
              <a:sym typeface="Arial"/>
            </a:endParaRPr>
          </a:p>
        </p:txBody>
      </p:sp>
      <p:sp>
        <p:nvSpPr>
          <p:cNvPr id="933" name="Google Shape;933;p70"/>
          <p:cNvSpPr txBox="1">
            <a:spLocks noGrp="1"/>
          </p:cNvSpPr>
          <p:nvPr>
            <p:ph type="title"/>
          </p:nvPr>
        </p:nvSpPr>
        <p:spPr>
          <a:xfrm>
            <a:off x="1930400" y="228600"/>
            <a:ext cx="8432800" cy="914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Preventing Buffer Overflow Attacks</a:t>
            </a:r>
            <a:endParaRPr/>
          </a:p>
        </p:txBody>
      </p:sp>
      <p:sp>
        <p:nvSpPr>
          <p:cNvPr id="934" name="Google Shape;934;p70"/>
          <p:cNvSpPr txBox="1">
            <a:spLocks noGrp="1"/>
          </p:cNvSpPr>
          <p:nvPr>
            <p:ph type="body" idx="1"/>
          </p:nvPr>
        </p:nvSpPr>
        <p:spPr>
          <a:xfrm>
            <a:off x="496050" y="1611375"/>
            <a:ext cx="8382000" cy="4572000"/>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US" sz="2400"/>
              <a:t>Handle the strings safely </a:t>
            </a:r>
            <a:endParaRPr sz="2400"/>
          </a:p>
          <a:p>
            <a:pPr marL="228600" lvl="0" indent="0" algn="l" rtl="0">
              <a:lnSpc>
                <a:spcPct val="90000"/>
              </a:lnSpc>
              <a:spcBef>
                <a:spcPts val="0"/>
              </a:spcBef>
              <a:spcAft>
                <a:spcPts val="0"/>
              </a:spcAft>
              <a:buNone/>
            </a:pPr>
            <a:endParaRPr sz="2400"/>
          </a:p>
          <a:p>
            <a:pPr marL="228600" lvl="0" indent="-228600" algn="l" rtl="0">
              <a:lnSpc>
                <a:spcPct val="90000"/>
              </a:lnSpc>
              <a:spcBef>
                <a:spcPts val="0"/>
              </a:spcBef>
              <a:spcAft>
                <a:spcPts val="0"/>
              </a:spcAft>
              <a:buSzPct val="100000"/>
              <a:buFont typeface="Calibri"/>
              <a:buChar char="•"/>
            </a:pPr>
            <a:r>
              <a:rPr lang="en-US" sz="2400">
                <a:highlight>
                  <a:srgbClr val="FFFFFF"/>
                </a:highlight>
              </a:rPr>
              <a:t>Avoid unsafe concatenation</a:t>
            </a:r>
            <a:endParaRPr sz="2400"/>
          </a:p>
          <a:p>
            <a:pPr marL="228600" lvl="0" indent="0" algn="l" rtl="0">
              <a:lnSpc>
                <a:spcPct val="90000"/>
              </a:lnSpc>
              <a:spcBef>
                <a:spcPts val="0"/>
              </a:spcBef>
              <a:spcAft>
                <a:spcPts val="0"/>
              </a:spcAft>
              <a:buNone/>
            </a:pPr>
            <a:endParaRPr sz="2400"/>
          </a:p>
          <a:p>
            <a:pPr marL="228600" lvl="0" indent="-228600" algn="l" rtl="0">
              <a:lnSpc>
                <a:spcPct val="90000"/>
              </a:lnSpc>
              <a:spcBef>
                <a:spcPts val="0"/>
              </a:spcBef>
              <a:spcAft>
                <a:spcPts val="0"/>
              </a:spcAft>
              <a:buClr>
                <a:schemeClr val="dk1"/>
              </a:buClr>
              <a:buSzPct val="100000"/>
              <a:buChar char="•"/>
            </a:pPr>
            <a:r>
              <a:rPr lang="en-US" sz="2400"/>
              <a:t>Use type safe languages (</a:t>
            </a:r>
            <a:r>
              <a:rPr lang="en-US" sz="2000"/>
              <a:t>Java, Scala</a:t>
            </a:r>
            <a:r>
              <a:rPr lang="en-US" sz="2400"/>
              <a:t>) </a:t>
            </a:r>
            <a:endParaRPr/>
          </a:p>
          <a:p>
            <a:pPr marL="228600" lvl="0" indent="-228600" algn="l" rtl="0">
              <a:lnSpc>
                <a:spcPct val="90000"/>
              </a:lnSpc>
              <a:spcBef>
                <a:spcPts val="1000"/>
              </a:spcBef>
              <a:spcAft>
                <a:spcPts val="0"/>
              </a:spcAft>
              <a:buClr>
                <a:schemeClr val="dk1"/>
              </a:buClr>
              <a:buSzPct val="100000"/>
              <a:buChar char="•"/>
            </a:pPr>
            <a:r>
              <a:rPr lang="en-US" sz="2400"/>
              <a:t>Use safe library functions</a:t>
            </a:r>
            <a:endParaRPr/>
          </a:p>
          <a:p>
            <a:pPr marL="228600" lvl="0" indent="-228600" algn="l" rtl="0">
              <a:lnSpc>
                <a:spcPct val="90000"/>
              </a:lnSpc>
              <a:spcBef>
                <a:spcPts val="1000"/>
              </a:spcBef>
              <a:spcAft>
                <a:spcPts val="0"/>
              </a:spcAft>
              <a:buClr>
                <a:schemeClr val="dk1"/>
              </a:buClr>
              <a:buSzPct val="100000"/>
              <a:buChar char="•"/>
            </a:pPr>
            <a:r>
              <a:rPr lang="en-US" sz="2400"/>
              <a:t>Use better software development process, e.g., manual code review</a:t>
            </a:r>
            <a:endParaRPr/>
          </a:p>
          <a:p>
            <a:pPr marL="228600" lvl="0" indent="-228600" algn="l" rtl="0">
              <a:lnSpc>
                <a:spcPct val="90000"/>
              </a:lnSpc>
              <a:spcBef>
                <a:spcPts val="1000"/>
              </a:spcBef>
              <a:spcAft>
                <a:spcPts val="0"/>
              </a:spcAft>
              <a:buClr>
                <a:schemeClr val="dk1"/>
              </a:buClr>
              <a:buSzPct val="100000"/>
              <a:buChar char="•"/>
            </a:pPr>
            <a:r>
              <a:rPr lang="en-US" sz="2400"/>
              <a:t>Static source code analysis</a:t>
            </a:r>
            <a:endParaRPr/>
          </a:p>
          <a:p>
            <a:pPr marL="228600" lvl="0" indent="-228600" algn="l" rtl="0">
              <a:lnSpc>
                <a:spcPct val="90000"/>
              </a:lnSpc>
              <a:spcBef>
                <a:spcPts val="1000"/>
              </a:spcBef>
              <a:spcAft>
                <a:spcPts val="0"/>
              </a:spcAft>
              <a:buClr>
                <a:schemeClr val="dk1"/>
              </a:buClr>
              <a:buSzPct val="100000"/>
              <a:buChar char="•"/>
            </a:pPr>
            <a:r>
              <a:rPr lang="en-US" sz="2400"/>
              <a:t>Non-executable stack</a:t>
            </a:r>
            <a:endParaRPr/>
          </a:p>
          <a:p>
            <a:pPr marL="228600" lvl="0" indent="-228600" algn="l" rtl="0">
              <a:lnSpc>
                <a:spcPct val="90000"/>
              </a:lnSpc>
              <a:spcBef>
                <a:spcPts val="1000"/>
              </a:spcBef>
              <a:spcAft>
                <a:spcPts val="0"/>
              </a:spcAft>
              <a:buClr>
                <a:schemeClr val="dk1"/>
              </a:buClr>
              <a:buSzPct val="100000"/>
              <a:buChar char="•"/>
            </a:pPr>
            <a:r>
              <a:rPr lang="en-US" sz="2400"/>
              <a:t>Run time checking:  </a:t>
            </a:r>
            <a:r>
              <a:rPr lang="en-US" sz="2000"/>
              <a:t>StackGuard, Libsafe, SafeC, (Purify), and so on.</a:t>
            </a:r>
            <a:endParaRPr/>
          </a:p>
          <a:p>
            <a:pPr marL="228600" lvl="0" indent="-228600" algn="l" rtl="0">
              <a:lnSpc>
                <a:spcPct val="90000"/>
              </a:lnSpc>
              <a:spcBef>
                <a:spcPts val="1000"/>
              </a:spcBef>
              <a:spcAft>
                <a:spcPts val="0"/>
              </a:spcAft>
              <a:buClr>
                <a:schemeClr val="dk1"/>
              </a:buClr>
              <a:buSzPct val="100000"/>
              <a:buChar char="•"/>
            </a:pPr>
            <a:r>
              <a:rPr lang="en-US" sz="2400"/>
              <a:t>Address space layout randomization</a:t>
            </a:r>
            <a:endParaRPr/>
          </a:p>
          <a:p>
            <a:pPr marL="228600" lvl="0" indent="-228600" algn="l" rtl="0">
              <a:lnSpc>
                <a:spcPct val="90000"/>
              </a:lnSpc>
              <a:spcBef>
                <a:spcPts val="1000"/>
              </a:spcBef>
              <a:spcAft>
                <a:spcPts val="0"/>
              </a:spcAft>
              <a:buClr>
                <a:schemeClr val="dk1"/>
              </a:buClr>
              <a:buSzPct val="100000"/>
              <a:buChar char="•"/>
            </a:pPr>
            <a:r>
              <a:rPr lang="en-US" sz="2400"/>
              <a:t>Detection deviation of program behavior</a:t>
            </a:r>
            <a:endParaRPr/>
          </a:p>
          <a:p>
            <a:pPr marL="228600" lvl="0" indent="-228600" algn="l" rtl="0">
              <a:lnSpc>
                <a:spcPct val="90000"/>
              </a:lnSpc>
              <a:spcBef>
                <a:spcPts val="1000"/>
              </a:spcBef>
              <a:spcAft>
                <a:spcPts val="0"/>
              </a:spcAft>
              <a:buClr>
                <a:schemeClr val="dk1"/>
              </a:buClr>
              <a:buSzPct val="100000"/>
              <a:buChar char="•"/>
            </a:pPr>
            <a:r>
              <a:rPr lang="en-US" sz="2400"/>
              <a:t>Access control to control aftermath of attacks…   </a:t>
            </a:r>
            <a:endParaRPr/>
          </a:p>
        </p:txBody>
      </p:sp>
      <p:pic>
        <p:nvPicPr>
          <p:cNvPr id="935" name="Google Shape;935;p70"/>
          <p:cNvPicPr preferRelativeResize="0"/>
          <p:nvPr/>
        </p:nvPicPr>
        <p:blipFill>
          <a:blip r:embed="rId3">
            <a:alphaModFix/>
          </a:blip>
          <a:stretch>
            <a:fillRect/>
          </a:stretch>
        </p:blipFill>
        <p:spPr>
          <a:xfrm>
            <a:off x="6193075" y="1294175"/>
            <a:ext cx="5632150" cy="1343025"/>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g20220241fdd_0_2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lnSpc>
                <a:spcPct val="120000"/>
              </a:lnSpc>
              <a:spcBef>
                <a:spcPts val="0"/>
              </a:spcBef>
              <a:spcAft>
                <a:spcPts val="200"/>
              </a:spcAft>
              <a:buClr>
                <a:schemeClr val="dk1"/>
              </a:buClr>
              <a:buSzPts val="1100"/>
              <a:buFont typeface="Arial"/>
              <a:buNone/>
            </a:pPr>
            <a:r>
              <a:rPr lang="en-US" sz="2400">
                <a:solidFill>
                  <a:srgbClr val="1B6EE8"/>
                </a:solidFill>
                <a:highlight>
                  <a:srgbClr val="FFFFFF"/>
                </a:highlight>
                <a:latin typeface="Roboto"/>
                <a:ea typeface="Roboto"/>
                <a:cs typeface="Roboto"/>
                <a:sym typeface="Roboto"/>
              </a:rPr>
              <a:t>Protections Provided by Operating Systems</a:t>
            </a:r>
            <a:endParaRPr sz="5700"/>
          </a:p>
        </p:txBody>
      </p:sp>
      <p:sp>
        <p:nvSpPr>
          <p:cNvPr id="942" name="Google Shape;942;g20220241fdd_0_2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lnSpc>
                <a:spcPct val="115000"/>
              </a:lnSpc>
              <a:spcBef>
                <a:spcPts val="0"/>
              </a:spcBef>
              <a:spcAft>
                <a:spcPts val="0"/>
              </a:spcAft>
              <a:buClr>
                <a:schemeClr val="dk1"/>
              </a:buClr>
              <a:buSzPts val="1100"/>
              <a:buFont typeface="Arial"/>
              <a:buNone/>
            </a:pPr>
            <a:endParaRPr sz="2300">
              <a:solidFill>
                <a:srgbClr val="414042"/>
              </a:solidFill>
              <a:highlight>
                <a:srgbClr val="FFFFFF"/>
              </a:highlight>
              <a:latin typeface="Roboto"/>
              <a:ea typeface="Roboto"/>
              <a:cs typeface="Roboto"/>
              <a:sym typeface="Roboto"/>
            </a:endParaRPr>
          </a:p>
          <a:p>
            <a:pPr marL="457200" lvl="0" indent="-374650" algn="l" rtl="0">
              <a:lnSpc>
                <a:spcPct val="115000"/>
              </a:lnSpc>
              <a:spcBef>
                <a:spcPts val="0"/>
              </a:spcBef>
              <a:spcAft>
                <a:spcPts val="0"/>
              </a:spcAft>
              <a:buClr>
                <a:srgbClr val="414042"/>
              </a:buClr>
              <a:buSzPts val="2300"/>
              <a:buFont typeface="Roboto"/>
              <a:buChar char="●"/>
            </a:pPr>
            <a:r>
              <a:rPr lang="en-US" sz="2300">
                <a:solidFill>
                  <a:srgbClr val="414042"/>
                </a:solidFill>
                <a:highlight>
                  <a:srgbClr val="FFFFFF"/>
                </a:highlight>
                <a:latin typeface="Roboto"/>
                <a:ea typeface="Roboto"/>
                <a:cs typeface="Roboto"/>
                <a:sym typeface="Roboto"/>
              </a:rPr>
              <a:t>ASLR – Address space layout randomization</a:t>
            </a:r>
            <a:endParaRPr sz="2300">
              <a:solidFill>
                <a:srgbClr val="414042"/>
              </a:solidFill>
              <a:highlight>
                <a:srgbClr val="FFFFFF"/>
              </a:highlight>
              <a:latin typeface="Roboto"/>
              <a:ea typeface="Roboto"/>
              <a:cs typeface="Roboto"/>
              <a:sym typeface="Roboto"/>
            </a:endParaRPr>
          </a:p>
          <a:p>
            <a:pPr marL="457200" lvl="0" indent="-374650" algn="l" rtl="0">
              <a:lnSpc>
                <a:spcPct val="115000"/>
              </a:lnSpc>
              <a:spcBef>
                <a:spcPts val="0"/>
              </a:spcBef>
              <a:spcAft>
                <a:spcPts val="0"/>
              </a:spcAft>
              <a:buClr>
                <a:srgbClr val="414042"/>
              </a:buClr>
              <a:buSzPts val="2300"/>
              <a:buFont typeface="Roboto"/>
              <a:buChar char="●"/>
            </a:pPr>
            <a:r>
              <a:rPr lang="en-US" sz="2300">
                <a:solidFill>
                  <a:srgbClr val="414042"/>
                </a:solidFill>
                <a:highlight>
                  <a:srgbClr val="FFFFFF"/>
                </a:highlight>
                <a:latin typeface="Roboto"/>
                <a:ea typeface="Roboto"/>
                <a:cs typeface="Roboto"/>
                <a:sym typeface="Roboto"/>
              </a:rPr>
              <a:t>DEP – Data Execution Prevention</a:t>
            </a:r>
            <a:endParaRPr sz="2300">
              <a:solidFill>
                <a:srgbClr val="414042"/>
              </a:solidFill>
              <a:highlight>
                <a:srgbClr val="FFFFFF"/>
              </a:highlight>
              <a:latin typeface="Roboto"/>
              <a:ea typeface="Roboto"/>
              <a:cs typeface="Roboto"/>
              <a:sym typeface="Roboto"/>
            </a:endParaRPr>
          </a:p>
          <a:p>
            <a:pPr marL="0" lvl="0" indent="0" algn="l" rtl="0">
              <a:spcBef>
                <a:spcPts val="1200"/>
              </a:spcBef>
              <a:spcAft>
                <a:spcPts val="0"/>
              </a:spcAft>
              <a:buNone/>
            </a:pPr>
            <a:endParaRPr sz="2000">
              <a:solidFill>
                <a:srgbClr val="171717"/>
              </a:solidFill>
              <a:highlight>
                <a:srgbClr val="FFFFFF"/>
              </a:highlight>
              <a:latin typeface="Arial"/>
              <a:ea typeface="Arial"/>
              <a:cs typeface="Arial"/>
              <a:sym typeface="Arial"/>
            </a:endParaRPr>
          </a:p>
          <a:p>
            <a:pPr marL="0" lvl="0" indent="0" algn="just" rtl="0">
              <a:spcBef>
                <a:spcPts val="1000"/>
              </a:spcBef>
              <a:spcAft>
                <a:spcPts val="0"/>
              </a:spcAft>
              <a:buNone/>
            </a:pPr>
            <a:r>
              <a:rPr lang="en-US" sz="2000">
                <a:solidFill>
                  <a:srgbClr val="171717"/>
                </a:solidFill>
                <a:highlight>
                  <a:srgbClr val="FFFFFF"/>
                </a:highlight>
                <a:latin typeface="Arial"/>
                <a:ea typeface="Arial"/>
                <a:cs typeface="Arial"/>
                <a:sym typeface="Arial"/>
              </a:rPr>
              <a:t>Data Execution Prevention (DEP) is a system-level memory protection feature that is built into the operating system starting with Windows XP and Windows Server 2003. DEP enables the system to mark one or more pages of memory as non-executable. Marking memory regions as non-executable means that code cannot be run from that region of memory, which makes it harder for the exploitation of buffer overruns.</a:t>
            </a:r>
            <a:endParaRPr sz="3600"/>
          </a:p>
        </p:txBody>
      </p:sp>
      <p:sp>
        <p:nvSpPr>
          <p:cNvPr id="943" name="Google Shape;943;g20220241fdd_0_2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75</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g2b7b8cb9384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950" name="Google Shape;950;g2b7b8cb9384_0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
        <p:nvSpPr>
          <p:cNvPr id="951" name="Google Shape;951;g2b7b8cb9384_0_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76</a:t>
            </a:fld>
            <a:endParaRPr/>
          </a:p>
        </p:txBody>
      </p:sp>
      <p:pic>
        <p:nvPicPr>
          <p:cNvPr id="952" name="Google Shape;952;g2b7b8cb9384_0_0"/>
          <p:cNvPicPr preferRelativeResize="0"/>
          <p:nvPr/>
        </p:nvPicPr>
        <p:blipFill>
          <a:blip r:embed="rId3">
            <a:alphaModFix/>
          </a:blip>
          <a:stretch>
            <a:fillRect/>
          </a:stretch>
        </p:blipFill>
        <p:spPr>
          <a:xfrm>
            <a:off x="1452563" y="642938"/>
            <a:ext cx="9286875" cy="557212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g1d88d74e645_0_4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959" name="Google Shape;959;g1d88d74e645_0_4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71475" algn="just" rtl="0">
              <a:lnSpc>
                <a:spcPct val="115000"/>
              </a:lnSpc>
              <a:spcBef>
                <a:spcPts val="0"/>
              </a:spcBef>
              <a:spcAft>
                <a:spcPts val="0"/>
              </a:spcAft>
              <a:buSzPts val="2250"/>
              <a:buFont typeface="Verdana"/>
              <a:buChar char="●"/>
            </a:pPr>
            <a:r>
              <a:rPr lang="en-US" sz="2250">
                <a:highlight>
                  <a:srgbClr val="FFFFFF"/>
                </a:highlight>
                <a:latin typeface="Verdana"/>
                <a:ea typeface="Verdana"/>
                <a:cs typeface="Verdana"/>
                <a:sym typeface="Verdana"/>
              </a:rPr>
              <a:t>Structured exception handler overwrite protection (SEHOP)—helps stop malicious code from attacking Structured Exception Handling (SEH), a built-in system for managing hardware and software exceptions. It thus prevents an attacker from being able to make use of the SEH overwrite exploitation technique. At a functional level, an SEH overwrite is achieved using a stack-based buffer overflow to overwrite an exception registration record, stored on a thread’s stack.</a:t>
            </a:r>
            <a:endParaRPr sz="2250">
              <a:highlight>
                <a:srgbClr val="FFFFFF"/>
              </a:highlight>
              <a:latin typeface="Verdana"/>
              <a:ea typeface="Verdana"/>
              <a:cs typeface="Verdana"/>
              <a:sym typeface="Verdana"/>
            </a:endParaRPr>
          </a:p>
          <a:p>
            <a:pPr marL="0" lvl="0" indent="0" algn="l" rtl="0">
              <a:spcBef>
                <a:spcPts val="1000"/>
              </a:spcBef>
              <a:spcAft>
                <a:spcPts val="0"/>
              </a:spcAft>
              <a:buNone/>
            </a:pPr>
            <a:r>
              <a:rPr lang="en-US" sz="2100" b="1">
                <a:solidFill>
                  <a:srgbClr val="C00000"/>
                </a:solidFill>
                <a:highlight>
                  <a:srgbClr val="FFFFFF"/>
                </a:highlight>
                <a:latin typeface="Arial"/>
                <a:ea typeface="Arial"/>
                <a:cs typeface="Arial"/>
                <a:sym typeface="Arial"/>
              </a:rPr>
              <a:t>Writing secure code</a:t>
            </a:r>
            <a:r>
              <a:rPr lang="en-US" sz="2100">
                <a:solidFill>
                  <a:srgbClr val="C00000"/>
                </a:solidFill>
                <a:highlight>
                  <a:srgbClr val="FFFFFF"/>
                </a:highlight>
                <a:latin typeface="Arial"/>
                <a:ea typeface="Arial"/>
                <a:cs typeface="Arial"/>
                <a:sym typeface="Arial"/>
              </a:rPr>
              <a:t> is the best way to prevent buffer overflow vulnerabilities.</a:t>
            </a:r>
            <a:endParaRPr sz="3700">
              <a:solidFill>
                <a:srgbClr val="C00000"/>
              </a:solidFill>
            </a:endParaRPr>
          </a:p>
        </p:txBody>
      </p:sp>
      <p:sp>
        <p:nvSpPr>
          <p:cNvPr id="960" name="Google Shape;960;g1d88d74e645_0_4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77</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g20220241fdd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Reference</a:t>
            </a:r>
            <a:endParaRPr/>
          </a:p>
        </p:txBody>
      </p:sp>
      <p:sp>
        <p:nvSpPr>
          <p:cNvPr id="967" name="Google Shape;967;g20220241fdd_0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Writing Secure Code by Michael Howard and David LeBlanc -Microsoft</a:t>
            </a:r>
            <a:endParaRPr/>
          </a:p>
          <a:p>
            <a:pPr marL="0" lvl="0" indent="0" algn="l" rtl="0">
              <a:spcBef>
                <a:spcPts val="1000"/>
              </a:spcBef>
              <a:spcAft>
                <a:spcPts val="0"/>
              </a:spcAft>
              <a:buNone/>
            </a:pPr>
            <a:r>
              <a:rPr lang="en-US" u="sng">
                <a:solidFill>
                  <a:schemeClr val="hlink"/>
                </a:solidFill>
                <a:hlinkClick r:id="rId3"/>
              </a:rPr>
              <a:t>https://eli.thegreenplace.net/2011/02/04/where-the-top-of-the-stack-is-on-x86/</a:t>
            </a:r>
            <a:r>
              <a:rPr lang="en-US"/>
              <a:t> </a:t>
            </a:r>
            <a:endParaRPr/>
          </a:p>
        </p:txBody>
      </p:sp>
      <p:sp>
        <p:nvSpPr>
          <p:cNvPr id="968" name="Google Shape;968;g20220241fdd_0_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78</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g20220241fdd_0_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additional</a:t>
            </a:r>
            <a:endParaRPr/>
          </a:p>
        </p:txBody>
      </p:sp>
      <p:sp>
        <p:nvSpPr>
          <p:cNvPr id="975" name="Google Shape;975;g20220241fdd_0_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520700" marR="38100" lvl="0" indent="0" algn="l" rtl="0">
              <a:lnSpc>
                <a:spcPct val="112517"/>
              </a:lnSpc>
              <a:spcBef>
                <a:spcPts val="0"/>
              </a:spcBef>
              <a:spcAft>
                <a:spcPts val="0"/>
              </a:spcAft>
              <a:buNone/>
            </a:pPr>
            <a:r>
              <a:rPr lang="en-US" sz="2100">
                <a:solidFill>
                  <a:srgbClr val="666666"/>
                </a:solidFill>
                <a:highlight>
                  <a:srgbClr val="F1F5F9"/>
                </a:highlight>
                <a:latin typeface="Courier New"/>
                <a:ea typeface="Courier New"/>
                <a:cs typeface="Courier New"/>
                <a:sym typeface="Courier New"/>
              </a:rPr>
              <a:t>size_t bytes = n * m;</a:t>
            </a:r>
            <a:endParaRPr sz="2100">
              <a:solidFill>
                <a:srgbClr val="666666"/>
              </a:solidFill>
              <a:highlight>
                <a:srgbClr val="F1F5F9"/>
              </a:highlight>
              <a:latin typeface="Courier New"/>
              <a:ea typeface="Courier New"/>
              <a:cs typeface="Courier New"/>
              <a:sym typeface="Courier New"/>
            </a:endParaRPr>
          </a:p>
          <a:p>
            <a:pPr marL="520700" marR="38100" lvl="0" indent="0" algn="l" rtl="0">
              <a:lnSpc>
                <a:spcPct val="112517"/>
              </a:lnSpc>
              <a:spcBef>
                <a:spcPts val="0"/>
              </a:spcBef>
              <a:spcAft>
                <a:spcPts val="0"/>
              </a:spcAft>
              <a:buNone/>
            </a:pPr>
            <a:r>
              <a:rPr lang="en-US" sz="2100">
                <a:solidFill>
                  <a:srgbClr val="666666"/>
                </a:solidFill>
                <a:highlight>
                  <a:srgbClr val="F1F5F9"/>
                </a:highlight>
                <a:latin typeface="Courier New"/>
                <a:ea typeface="Courier New"/>
                <a:cs typeface="Courier New"/>
                <a:sym typeface="Courier New"/>
              </a:rPr>
              <a:t>if (bytes &lt; n || bytes &lt; m) { /* BAD BAD BAD */</a:t>
            </a:r>
            <a:endParaRPr sz="2100">
              <a:solidFill>
                <a:srgbClr val="666666"/>
              </a:solidFill>
              <a:highlight>
                <a:srgbClr val="F1F5F9"/>
              </a:highlight>
              <a:latin typeface="Courier New"/>
              <a:ea typeface="Courier New"/>
              <a:cs typeface="Courier New"/>
              <a:sym typeface="Courier New"/>
            </a:endParaRPr>
          </a:p>
          <a:p>
            <a:pPr marL="520700" marR="38100" lvl="0" indent="0" algn="l" rtl="0">
              <a:lnSpc>
                <a:spcPct val="112517"/>
              </a:lnSpc>
              <a:spcBef>
                <a:spcPts val="0"/>
              </a:spcBef>
              <a:spcAft>
                <a:spcPts val="0"/>
              </a:spcAft>
              <a:buNone/>
            </a:pPr>
            <a:r>
              <a:rPr lang="en-US" sz="2100">
                <a:solidFill>
                  <a:srgbClr val="666666"/>
                </a:solidFill>
                <a:highlight>
                  <a:srgbClr val="F1F5F9"/>
                </a:highlight>
                <a:latin typeface="Courier New"/>
                <a:ea typeface="Courier New"/>
                <a:cs typeface="Courier New"/>
                <a:sym typeface="Courier New"/>
              </a:rPr>
              <a:t>   ... /* allocate “bytes” space */</a:t>
            </a:r>
            <a:endParaRPr sz="2100">
              <a:solidFill>
                <a:srgbClr val="666666"/>
              </a:solidFill>
              <a:highlight>
                <a:srgbClr val="F1F5F9"/>
              </a:highlight>
              <a:latin typeface="Courier New"/>
              <a:ea typeface="Courier New"/>
              <a:cs typeface="Courier New"/>
              <a:sym typeface="Courier New"/>
            </a:endParaRPr>
          </a:p>
          <a:p>
            <a:pPr marL="520700" marR="38100" lvl="0" indent="0" algn="l" rtl="0">
              <a:lnSpc>
                <a:spcPct val="112517"/>
              </a:lnSpc>
              <a:spcBef>
                <a:spcPts val="0"/>
              </a:spcBef>
              <a:spcAft>
                <a:spcPts val="0"/>
              </a:spcAft>
              <a:buNone/>
            </a:pPr>
            <a:r>
              <a:rPr lang="en-US" sz="2100">
                <a:solidFill>
                  <a:srgbClr val="666666"/>
                </a:solidFill>
                <a:highlight>
                  <a:srgbClr val="F1F5F9"/>
                </a:highlight>
                <a:latin typeface="Courier New"/>
                <a:ea typeface="Courier New"/>
                <a:cs typeface="Courier New"/>
                <a:sym typeface="Courier New"/>
              </a:rPr>
              <a:t>}</a:t>
            </a:r>
            <a:endParaRPr sz="2100">
              <a:solidFill>
                <a:srgbClr val="666666"/>
              </a:solidFill>
              <a:highlight>
                <a:srgbClr val="F1F5F9"/>
              </a:highlight>
              <a:latin typeface="Courier New"/>
              <a:ea typeface="Courier New"/>
              <a:cs typeface="Courier New"/>
              <a:sym typeface="Courier New"/>
            </a:endParaRPr>
          </a:p>
          <a:p>
            <a:pPr marL="457200" lvl="0" indent="0" algn="l" rtl="0">
              <a:spcBef>
                <a:spcPts val="1000"/>
              </a:spcBef>
              <a:spcAft>
                <a:spcPts val="0"/>
              </a:spcAft>
              <a:buNone/>
            </a:pPr>
            <a:endParaRPr sz="4000"/>
          </a:p>
        </p:txBody>
      </p:sp>
      <p:sp>
        <p:nvSpPr>
          <p:cNvPr id="976" name="Google Shape;976;g20220241fdd_0_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79</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0220241fdd_0_1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983" name="Google Shape;983;g20220241fdd_0_16"/>
          <p:cNvSpPr txBox="1">
            <a:spLocks noGrp="1"/>
          </p:cNvSpPr>
          <p:nvPr>
            <p:ph type="body" idx="1"/>
          </p:nvPr>
        </p:nvSpPr>
        <p:spPr>
          <a:xfrm>
            <a:off x="838200" y="286500"/>
            <a:ext cx="10515600" cy="5890200"/>
          </a:xfrm>
          <a:prstGeom prst="rect">
            <a:avLst/>
          </a:prstGeom>
        </p:spPr>
        <p:txBody>
          <a:bodyPr spcFirstLastPara="1" wrap="square" lIns="91425" tIns="45700" rIns="91425" bIns="45700" anchor="t" anchorCtr="0">
            <a:noAutofit/>
          </a:bodyPr>
          <a:lstStyle/>
          <a:p>
            <a:pPr marL="0" lvl="0" indent="0" algn="just" rtl="0">
              <a:lnSpc>
                <a:spcPct val="105000"/>
              </a:lnSpc>
              <a:spcBef>
                <a:spcPts val="0"/>
              </a:spcBef>
              <a:spcAft>
                <a:spcPts val="0"/>
              </a:spcAft>
              <a:buClr>
                <a:schemeClr val="dk1"/>
              </a:buClr>
              <a:buSzPts val="1100"/>
              <a:buFont typeface="Arial"/>
              <a:buNone/>
            </a:pPr>
            <a:r>
              <a:rPr lang="en-US" sz="1900">
                <a:highlight>
                  <a:srgbClr val="FFFFFF"/>
                </a:highlight>
                <a:latin typeface="Arial"/>
                <a:ea typeface="Arial"/>
                <a:cs typeface="Arial"/>
                <a:sym typeface="Arial"/>
              </a:rPr>
              <a:t>Unfortunately, if </a:t>
            </a:r>
            <a:r>
              <a:rPr lang="en-US" sz="1900">
                <a:solidFill>
                  <a:srgbClr val="666666"/>
                </a:solidFill>
                <a:highlight>
                  <a:srgbClr val="FFFFFF"/>
                </a:highlight>
                <a:latin typeface="Courier New"/>
                <a:ea typeface="Courier New"/>
                <a:cs typeface="Courier New"/>
                <a:sym typeface="Courier New"/>
              </a:rPr>
              <a:t>m</a:t>
            </a:r>
            <a:r>
              <a:rPr lang="en-US" sz="1900">
                <a:highlight>
                  <a:srgbClr val="FFFFFF"/>
                </a:highlight>
                <a:latin typeface="Arial"/>
                <a:ea typeface="Arial"/>
                <a:cs typeface="Arial"/>
                <a:sym typeface="Arial"/>
              </a:rPr>
              <a:t> and </a:t>
            </a:r>
            <a:r>
              <a:rPr lang="en-US" sz="1900">
                <a:solidFill>
                  <a:srgbClr val="666666"/>
                </a:solidFill>
                <a:highlight>
                  <a:srgbClr val="FFFFFF"/>
                </a:highlight>
                <a:latin typeface="Courier New"/>
                <a:ea typeface="Courier New"/>
                <a:cs typeface="Courier New"/>
                <a:sym typeface="Courier New"/>
              </a:rPr>
              <a:t>n</a:t>
            </a:r>
            <a:r>
              <a:rPr lang="en-US" sz="1900">
                <a:highlight>
                  <a:srgbClr val="FFFFFF"/>
                </a:highlight>
                <a:latin typeface="Arial"/>
                <a:ea typeface="Arial"/>
                <a:cs typeface="Arial"/>
                <a:sym typeface="Arial"/>
              </a:rPr>
              <a:t> are signed, the C language specification allows the compiler to optimize out such tests [CWE-733, CERT VU#162289]. Even if they are unsigned, the test still fails in some cases. For example, on a 64-bit machine, if </a:t>
            </a:r>
            <a:r>
              <a:rPr lang="en-US" sz="1900">
                <a:solidFill>
                  <a:srgbClr val="666666"/>
                </a:solidFill>
                <a:highlight>
                  <a:srgbClr val="FFFFFF"/>
                </a:highlight>
                <a:latin typeface="Courier New"/>
                <a:ea typeface="Courier New"/>
                <a:cs typeface="Courier New"/>
                <a:sym typeface="Courier New"/>
              </a:rPr>
              <a:t>m</a:t>
            </a:r>
            <a:r>
              <a:rPr lang="en-US" sz="1900">
                <a:highlight>
                  <a:srgbClr val="FFFFFF"/>
                </a:highlight>
                <a:latin typeface="Arial"/>
                <a:ea typeface="Arial"/>
                <a:cs typeface="Arial"/>
                <a:sym typeface="Arial"/>
              </a:rPr>
              <a:t> and </a:t>
            </a:r>
            <a:r>
              <a:rPr lang="en-US" sz="1900">
                <a:solidFill>
                  <a:srgbClr val="666666"/>
                </a:solidFill>
                <a:highlight>
                  <a:srgbClr val="FFFFFF"/>
                </a:highlight>
                <a:latin typeface="Courier New"/>
                <a:ea typeface="Courier New"/>
                <a:cs typeface="Courier New"/>
                <a:sym typeface="Courier New"/>
              </a:rPr>
              <a:t>n</a:t>
            </a:r>
            <a:r>
              <a:rPr lang="en-US" sz="1900">
                <a:highlight>
                  <a:srgbClr val="FFFFFF"/>
                </a:highlight>
                <a:latin typeface="Arial"/>
                <a:ea typeface="Arial"/>
                <a:cs typeface="Arial"/>
                <a:sym typeface="Arial"/>
              </a:rPr>
              <a:t> are both declared </a:t>
            </a:r>
            <a:r>
              <a:rPr lang="en-US" sz="1900">
                <a:solidFill>
                  <a:srgbClr val="666666"/>
                </a:solidFill>
                <a:highlight>
                  <a:srgbClr val="FFFFFF"/>
                </a:highlight>
                <a:latin typeface="Courier New"/>
                <a:ea typeface="Courier New"/>
                <a:cs typeface="Courier New"/>
                <a:sym typeface="Courier New"/>
              </a:rPr>
              <a:t>size_t</a:t>
            </a:r>
            <a:r>
              <a:rPr lang="en-US" sz="1900">
                <a:highlight>
                  <a:srgbClr val="FFFFFF"/>
                </a:highlight>
                <a:latin typeface="Arial"/>
                <a:ea typeface="Arial"/>
                <a:cs typeface="Arial"/>
                <a:sym typeface="Arial"/>
              </a:rPr>
              <a:t>, and both set to </a:t>
            </a:r>
            <a:r>
              <a:rPr lang="en-US" sz="1900">
                <a:solidFill>
                  <a:srgbClr val="666666"/>
                </a:solidFill>
                <a:highlight>
                  <a:srgbClr val="FFFFFF"/>
                </a:highlight>
                <a:latin typeface="Courier New"/>
                <a:ea typeface="Courier New"/>
                <a:cs typeface="Courier New"/>
                <a:sym typeface="Courier New"/>
              </a:rPr>
              <a:t>0x180000000</a:t>
            </a:r>
            <a:r>
              <a:rPr lang="en-US" sz="1900">
                <a:highlight>
                  <a:srgbClr val="FFFFFF"/>
                </a:highlight>
                <a:latin typeface="Arial"/>
                <a:ea typeface="Arial"/>
                <a:cs typeface="Arial"/>
                <a:sym typeface="Arial"/>
              </a:rPr>
              <a:t>, the result of multiplying them is </a:t>
            </a:r>
            <a:r>
              <a:rPr lang="en-US" sz="1900">
                <a:solidFill>
                  <a:srgbClr val="666666"/>
                </a:solidFill>
                <a:highlight>
                  <a:srgbClr val="FFFFFF"/>
                </a:highlight>
                <a:latin typeface="Courier New"/>
                <a:ea typeface="Courier New"/>
                <a:cs typeface="Courier New"/>
                <a:sym typeface="Courier New"/>
              </a:rPr>
              <a:t>0x24000000000000000</a:t>
            </a:r>
            <a:r>
              <a:rPr lang="en-US" sz="1900">
                <a:highlight>
                  <a:srgbClr val="FFFFFF"/>
                </a:highlight>
                <a:latin typeface="Arial"/>
                <a:ea typeface="Arial"/>
                <a:cs typeface="Arial"/>
                <a:sym typeface="Arial"/>
              </a:rPr>
              <a:t>, but </a:t>
            </a:r>
            <a:r>
              <a:rPr lang="en-US" sz="1900">
                <a:solidFill>
                  <a:srgbClr val="666666"/>
                </a:solidFill>
                <a:highlight>
                  <a:srgbClr val="FFFFFF"/>
                </a:highlight>
                <a:latin typeface="Courier New"/>
                <a:ea typeface="Courier New"/>
                <a:cs typeface="Courier New"/>
                <a:sym typeface="Courier New"/>
              </a:rPr>
              <a:t>bytes</a:t>
            </a:r>
            <a:r>
              <a:rPr lang="en-US" sz="1900">
                <a:highlight>
                  <a:srgbClr val="FFFFFF"/>
                </a:highlight>
                <a:latin typeface="Arial"/>
                <a:ea typeface="Arial"/>
                <a:cs typeface="Arial"/>
                <a:sym typeface="Arial"/>
              </a:rPr>
              <a:t> will contain that result modulo </a:t>
            </a:r>
            <a:r>
              <a:rPr lang="en-US" sz="1900">
                <a:solidFill>
                  <a:srgbClr val="666666"/>
                </a:solidFill>
                <a:highlight>
                  <a:srgbClr val="FFFFFF"/>
                </a:highlight>
                <a:latin typeface="Courier New"/>
                <a:ea typeface="Courier New"/>
                <a:cs typeface="Courier New"/>
                <a:sym typeface="Courier New"/>
              </a:rPr>
              <a:t>2**64</a:t>
            </a:r>
            <a:r>
              <a:rPr lang="en-US" sz="1900">
                <a:highlight>
                  <a:srgbClr val="FFFFFF"/>
                </a:highlight>
                <a:latin typeface="Arial"/>
                <a:ea typeface="Arial"/>
                <a:cs typeface="Arial"/>
                <a:sym typeface="Arial"/>
              </a:rPr>
              <a:t>, or </a:t>
            </a:r>
            <a:r>
              <a:rPr lang="en-US" sz="1900">
                <a:solidFill>
                  <a:srgbClr val="666666"/>
                </a:solidFill>
                <a:highlight>
                  <a:srgbClr val="FFFFFF"/>
                </a:highlight>
                <a:latin typeface="Courier New"/>
                <a:ea typeface="Courier New"/>
                <a:cs typeface="Courier New"/>
                <a:sym typeface="Courier New"/>
              </a:rPr>
              <a:t>0x4000000000000000</a:t>
            </a:r>
            <a:r>
              <a:rPr lang="en-US" sz="1900">
                <a:highlight>
                  <a:srgbClr val="FFFFFF"/>
                </a:highlight>
                <a:latin typeface="Arial"/>
                <a:ea typeface="Arial"/>
                <a:cs typeface="Arial"/>
                <a:sym typeface="Arial"/>
              </a:rPr>
              <a:t>. This passes the test (the result is bigger than either input), despite the fact that overflow did occur.</a:t>
            </a:r>
            <a:endParaRPr sz="1900">
              <a:highlight>
                <a:srgbClr val="FFFFFF"/>
              </a:highlight>
              <a:latin typeface="Arial"/>
              <a:ea typeface="Arial"/>
              <a:cs typeface="Arial"/>
              <a:sym typeface="Arial"/>
            </a:endParaRPr>
          </a:p>
          <a:p>
            <a:pPr marL="0" lvl="0" indent="0" algn="just" rtl="0">
              <a:lnSpc>
                <a:spcPct val="105000"/>
              </a:lnSpc>
              <a:spcBef>
                <a:spcPts val="800"/>
              </a:spcBef>
              <a:spcAft>
                <a:spcPts val="0"/>
              </a:spcAft>
              <a:buNone/>
            </a:pPr>
            <a:r>
              <a:rPr lang="en-US" sz="1900">
                <a:highlight>
                  <a:srgbClr val="FFFFFF"/>
                </a:highlight>
                <a:latin typeface="Arial"/>
                <a:ea typeface="Arial"/>
                <a:cs typeface="Arial"/>
                <a:sym typeface="Arial"/>
              </a:rPr>
              <a:t>Instead, the correct way to test for integer overflow during multiplication is to test </a:t>
            </a:r>
            <a:r>
              <a:rPr lang="en-US" sz="1900" i="1">
                <a:highlight>
                  <a:srgbClr val="FFFFFF"/>
                </a:highlight>
                <a:latin typeface="Arial"/>
                <a:ea typeface="Arial"/>
                <a:cs typeface="Arial"/>
                <a:sym typeface="Arial"/>
              </a:rPr>
              <a:t>before</a:t>
            </a:r>
            <a:r>
              <a:rPr lang="en-US" sz="1900">
                <a:highlight>
                  <a:srgbClr val="FFFFFF"/>
                </a:highlight>
                <a:latin typeface="Arial"/>
                <a:ea typeface="Arial"/>
                <a:cs typeface="Arial"/>
                <a:sym typeface="Arial"/>
              </a:rPr>
              <a:t> the multiplication. In particular, you divide the maximum allowable result by the multiplier and compare the result to the multiplicand or vice-versa. If the result is smaller than the multiplicand, the product of those two values would cause an integer overflow. Still, getting this right can be tricky. For example, choosing the wrong maximum allowable integer constant (e.g., </a:t>
            </a:r>
            <a:r>
              <a:rPr lang="en-US" sz="1900">
                <a:solidFill>
                  <a:srgbClr val="666666"/>
                </a:solidFill>
                <a:highlight>
                  <a:srgbClr val="FFFFFF"/>
                </a:highlight>
                <a:latin typeface="Courier New"/>
                <a:ea typeface="Courier New"/>
                <a:cs typeface="Courier New"/>
                <a:sym typeface="Courier New"/>
              </a:rPr>
              <a:t>SIZE_MAX</a:t>
            </a:r>
            <a:r>
              <a:rPr lang="en-US" sz="1900">
                <a:highlight>
                  <a:srgbClr val="FFFFFF"/>
                </a:highlight>
                <a:latin typeface="Arial"/>
                <a:ea typeface="Arial"/>
                <a:cs typeface="Arial"/>
                <a:sym typeface="Arial"/>
              </a:rPr>
              <a:t> or </a:t>
            </a:r>
            <a:r>
              <a:rPr lang="en-US" sz="1900">
                <a:solidFill>
                  <a:srgbClr val="666666"/>
                </a:solidFill>
                <a:highlight>
                  <a:srgbClr val="FFFFFF"/>
                </a:highlight>
                <a:latin typeface="Courier New"/>
                <a:ea typeface="Courier New"/>
                <a:cs typeface="Courier New"/>
                <a:sym typeface="Courier New"/>
              </a:rPr>
              <a:t>INT_MAX</a:t>
            </a:r>
            <a:r>
              <a:rPr lang="en-US" sz="1900">
                <a:highlight>
                  <a:srgbClr val="FFFFFF"/>
                </a:highlight>
                <a:latin typeface="Arial"/>
                <a:ea typeface="Arial"/>
                <a:cs typeface="Arial"/>
                <a:sym typeface="Arial"/>
              </a:rPr>
              <a:t>?) produces incorrect results.</a:t>
            </a:r>
            <a:endParaRPr sz="1900">
              <a:highlight>
                <a:srgbClr val="FFFFFF"/>
              </a:highlight>
              <a:latin typeface="Arial"/>
              <a:ea typeface="Arial"/>
              <a:cs typeface="Arial"/>
              <a:sym typeface="Arial"/>
            </a:endParaRPr>
          </a:p>
          <a:p>
            <a:pPr marL="0" lvl="0" indent="0" algn="just" rtl="0">
              <a:lnSpc>
                <a:spcPct val="105000"/>
              </a:lnSpc>
              <a:spcBef>
                <a:spcPts val="800"/>
              </a:spcBef>
              <a:spcAft>
                <a:spcPts val="0"/>
              </a:spcAft>
              <a:buNone/>
            </a:pPr>
            <a:r>
              <a:rPr lang="en-US" sz="1400">
                <a:highlight>
                  <a:srgbClr val="FFFFFF"/>
                </a:highlight>
                <a:latin typeface="Arial"/>
                <a:ea typeface="Arial"/>
                <a:cs typeface="Arial"/>
                <a:sym typeface="Arial"/>
              </a:rPr>
              <a:t>the safest way to perform multiplication with unknown inputs is to use the </a:t>
            </a:r>
            <a:r>
              <a:rPr lang="en-US" sz="1400">
                <a:solidFill>
                  <a:srgbClr val="3366CC"/>
                </a:solidFill>
                <a:highlight>
                  <a:srgbClr val="FFFFFF"/>
                </a:highlight>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clang checked arithmetic builtins</a:t>
            </a:r>
            <a:r>
              <a:rPr lang="en-US" sz="1900">
                <a:highlight>
                  <a:srgbClr val="FFFFFF"/>
                </a:highlight>
                <a:latin typeface="Arial"/>
                <a:ea typeface="Arial"/>
                <a:cs typeface="Arial"/>
                <a:sym typeface="Arial"/>
              </a:rPr>
              <a:t> </a:t>
            </a:r>
            <a:endParaRPr sz="1900">
              <a:highlight>
                <a:srgbClr val="FFFFFF"/>
              </a:highlight>
              <a:latin typeface="Arial"/>
              <a:ea typeface="Arial"/>
              <a:cs typeface="Arial"/>
              <a:sym typeface="Arial"/>
            </a:endParaRPr>
          </a:p>
          <a:p>
            <a:pPr marL="0" lvl="0" indent="0" algn="just" rtl="0">
              <a:lnSpc>
                <a:spcPct val="105000"/>
              </a:lnSpc>
              <a:spcBef>
                <a:spcPts val="800"/>
              </a:spcBef>
              <a:spcAft>
                <a:spcPts val="0"/>
              </a:spcAft>
              <a:buClr>
                <a:schemeClr val="dk1"/>
              </a:buClr>
              <a:buSzPts val="1100"/>
              <a:buFont typeface="Arial"/>
              <a:buNone/>
            </a:pPr>
            <a:r>
              <a:rPr lang="en-US" sz="1900" u="sng">
                <a:solidFill>
                  <a:schemeClr val="hlink"/>
                </a:solidFill>
                <a:highlight>
                  <a:srgbClr val="FFFFFF"/>
                </a:highlight>
                <a:latin typeface="Arial"/>
                <a:ea typeface="Arial"/>
                <a:cs typeface="Arial"/>
                <a:sym typeface="Arial"/>
                <a:hlinkClick r:id="rId4"/>
              </a:rPr>
              <a:t>https://clang.llvm.org/docs/LanguageExtensions.html#checked-arithmetic-builtins</a:t>
            </a:r>
            <a:r>
              <a:rPr lang="en-US" sz="1900">
                <a:highlight>
                  <a:srgbClr val="FFFFFF"/>
                </a:highlight>
                <a:latin typeface="Arial"/>
                <a:ea typeface="Arial"/>
                <a:cs typeface="Arial"/>
                <a:sym typeface="Arial"/>
              </a:rPr>
              <a:t> </a:t>
            </a:r>
            <a:endParaRPr sz="1900">
              <a:highlight>
                <a:srgbClr val="FFFFFF"/>
              </a:highlight>
              <a:latin typeface="Arial"/>
              <a:ea typeface="Arial"/>
              <a:cs typeface="Arial"/>
              <a:sym typeface="Arial"/>
            </a:endParaRPr>
          </a:p>
          <a:p>
            <a:pPr marL="63500" marR="38100" lvl="0" indent="0" algn="l" rtl="0">
              <a:lnSpc>
                <a:spcPct val="102517"/>
              </a:lnSpc>
              <a:spcBef>
                <a:spcPts val="800"/>
              </a:spcBef>
              <a:spcAft>
                <a:spcPts val="0"/>
              </a:spcAft>
              <a:buNone/>
            </a:pPr>
            <a:r>
              <a:rPr lang="en-US" sz="2108">
                <a:solidFill>
                  <a:srgbClr val="666666"/>
                </a:solidFill>
                <a:highlight>
                  <a:srgbClr val="F1F5F9"/>
                </a:highlight>
                <a:latin typeface="Courier New"/>
                <a:ea typeface="Courier New"/>
                <a:cs typeface="Courier New"/>
                <a:sym typeface="Courier New"/>
              </a:rPr>
              <a:t>size_t bytes;</a:t>
            </a:r>
            <a:endParaRPr sz="2108">
              <a:solidFill>
                <a:srgbClr val="666666"/>
              </a:solidFill>
              <a:highlight>
                <a:srgbClr val="F1F5F9"/>
              </a:highlight>
              <a:latin typeface="Courier New"/>
              <a:ea typeface="Courier New"/>
              <a:cs typeface="Courier New"/>
              <a:sym typeface="Courier New"/>
            </a:endParaRPr>
          </a:p>
          <a:p>
            <a:pPr marL="63500" marR="38100" lvl="0" indent="0" algn="l" rtl="0">
              <a:lnSpc>
                <a:spcPct val="102517"/>
              </a:lnSpc>
              <a:spcBef>
                <a:spcPts val="0"/>
              </a:spcBef>
              <a:spcAft>
                <a:spcPts val="0"/>
              </a:spcAft>
              <a:buNone/>
            </a:pPr>
            <a:r>
              <a:rPr lang="en-US" sz="2108">
                <a:solidFill>
                  <a:srgbClr val="666666"/>
                </a:solidFill>
                <a:highlight>
                  <a:srgbClr val="F1F5F9"/>
                </a:highlight>
                <a:latin typeface="Courier New"/>
                <a:ea typeface="Courier New"/>
                <a:cs typeface="Courier New"/>
                <a:sym typeface="Courier New"/>
              </a:rPr>
              <a:t>if (__builtin_umull_overflow(m, n, &amp;bytes)) {</a:t>
            </a:r>
            <a:endParaRPr sz="2108">
              <a:solidFill>
                <a:srgbClr val="666666"/>
              </a:solidFill>
              <a:highlight>
                <a:srgbClr val="F1F5F9"/>
              </a:highlight>
              <a:latin typeface="Courier New"/>
              <a:ea typeface="Courier New"/>
              <a:cs typeface="Courier New"/>
              <a:sym typeface="Courier New"/>
            </a:endParaRPr>
          </a:p>
          <a:p>
            <a:pPr marL="63500" marR="38100" lvl="0" indent="0" algn="l" rtl="0">
              <a:lnSpc>
                <a:spcPct val="102517"/>
              </a:lnSpc>
              <a:spcBef>
                <a:spcPts val="0"/>
              </a:spcBef>
              <a:spcAft>
                <a:spcPts val="0"/>
              </a:spcAft>
              <a:buNone/>
            </a:pPr>
            <a:r>
              <a:rPr lang="en-US" sz="2108">
                <a:solidFill>
                  <a:srgbClr val="666666"/>
                </a:solidFill>
                <a:highlight>
                  <a:srgbClr val="F1F5F9"/>
                </a:highlight>
                <a:latin typeface="Courier New"/>
                <a:ea typeface="Courier New"/>
                <a:cs typeface="Courier New"/>
                <a:sym typeface="Courier New"/>
              </a:rPr>
              <a:t>   /* Overflow occured.  Handle appropriately. */</a:t>
            </a:r>
            <a:endParaRPr sz="2108">
              <a:solidFill>
                <a:srgbClr val="666666"/>
              </a:solidFill>
              <a:highlight>
                <a:srgbClr val="F1F5F9"/>
              </a:highlight>
              <a:latin typeface="Courier New"/>
              <a:ea typeface="Courier New"/>
              <a:cs typeface="Courier New"/>
              <a:sym typeface="Courier New"/>
            </a:endParaRPr>
          </a:p>
          <a:p>
            <a:pPr marL="63500" marR="38100" lvl="0" indent="0" algn="l" rtl="0">
              <a:lnSpc>
                <a:spcPct val="102517"/>
              </a:lnSpc>
              <a:spcBef>
                <a:spcPts val="0"/>
              </a:spcBef>
              <a:spcAft>
                <a:spcPts val="0"/>
              </a:spcAft>
              <a:buNone/>
            </a:pPr>
            <a:r>
              <a:rPr lang="en-US" sz="2108">
                <a:solidFill>
                  <a:srgbClr val="666666"/>
                </a:solidFill>
                <a:highlight>
                  <a:srgbClr val="F1F5F9"/>
                </a:highlight>
                <a:latin typeface="Courier New"/>
                <a:ea typeface="Courier New"/>
                <a:cs typeface="Courier New"/>
                <a:sym typeface="Courier New"/>
              </a:rPr>
              <a:t>} else {</a:t>
            </a:r>
            <a:endParaRPr sz="2108">
              <a:solidFill>
                <a:srgbClr val="666666"/>
              </a:solidFill>
              <a:highlight>
                <a:srgbClr val="F1F5F9"/>
              </a:highlight>
              <a:latin typeface="Courier New"/>
              <a:ea typeface="Courier New"/>
              <a:cs typeface="Courier New"/>
              <a:sym typeface="Courier New"/>
            </a:endParaRPr>
          </a:p>
          <a:p>
            <a:pPr marL="63500" marR="38100" lvl="0" indent="0" algn="l" rtl="0">
              <a:lnSpc>
                <a:spcPct val="102517"/>
              </a:lnSpc>
              <a:spcBef>
                <a:spcPts val="0"/>
              </a:spcBef>
              <a:spcAft>
                <a:spcPts val="0"/>
              </a:spcAft>
              <a:buNone/>
            </a:pPr>
            <a:r>
              <a:rPr lang="en-US" sz="2108">
                <a:solidFill>
                  <a:srgbClr val="666666"/>
                </a:solidFill>
                <a:highlight>
                  <a:srgbClr val="F1F5F9"/>
                </a:highlight>
                <a:latin typeface="Courier New"/>
                <a:ea typeface="Courier New"/>
                <a:cs typeface="Courier New"/>
                <a:sym typeface="Courier New"/>
              </a:rPr>
              <a:t>   /* Allocate "bytes" space. */</a:t>
            </a:r>
            <a:endParaRPr sz="2108">
              <a:solidFill>
                <a:srgbClr val="666666"/>
              </a:solidFill>
              <a:highlight>
                <a:srgbClr val="F1F5F9"/>
              </a:highlight>
              <a:latin typeface="Courier New"/>
              <a:ea typeface="Courier New"/>
              <a:cs typeface="Courier New"/>
              <a:sym typeface="Courier New"/>
            </a:endParaRPr>
          </a:p>
          <a:p>
            <a:pPr marL="63500" marR="38100" lvl="0" indent="0" algn="l" rtl="0">
              <a:lnSpc>
                <a:spcPct val="102517"/>
              </a:lnSpc>
              <a:spcBef>
                <a:spcPts val="0"/>
              </a:spcBef>
              <a:spcAft>
                <a:spcPts val="0"/>
              </a:spcAft>
              <a:buNone/>
            </a:pPr>
            <a:r>
              <a:rPr lang="en-US" sz="2108">
                <a:solidFill>
                  <a:srgbClr val="666666"/>
                </a:solidFill>
                <a:highlight>
                  <a:srgbClr val="F1F5F9"/>
                </a:highlight>
                <a:latin typeface="Courier New"/>
                <a:ea typeface="Courier New"/>
                <a:cs typeface="Courier New"/>
                <a:sym typeface="Courier New"/>
              </a:rPr>
              <a:t>}</a:t>
            </a:r>
            <a:endParaRPr sz="2108">
              <a:solidFill>
                <a:srgbClr val="666666"/>
              </a:solidFill>
              <a:highlight>
                <a:srgbClr val="F1F5F9"/>
              </a:highlight>
              <a:latin typeface="Courier New"/>
              <a:ea typeface="Courier New"/>
              <a:cs typeface="Courier New"/>
              <a:sym typeface="Courier New"/>
            </a:endParaRPr>
          </a:p>
          <a:p>
            <a:pPr marL="0" lvl="0" indent="0" algn="just" rtl="0">
              <a:lnSpc>
                <a:spcPct val="80000"/>
              </a:lnSpc>
              <a:spcBef>
                <a:spcPts val="1000"/>
              </a:spcBef>
              <a:spcAft>
                <a:spcPts val="0"/>
              </a:spcAft>
              <a:buNone/>
            </a:pPr>
            <a:endParaRPr sz="4508"/>
          </a:p>
        </p:txBody>
      </p:sp>
      <p:sp>
        <p:nvSpPr>
          <p:cNvPr id="984" name="Google Shape;984;g20220241fdd_0_1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80</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5991</Words>
  <Application>Microsoft Office PowerPoint</Application>
  <PresentationFormat>Widescreen</PresentationFormat>
  <Paragraphs>876</Paragraphs>
  <Slides>80</Slides>
  <Notes>80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80</vt:i4>
      </vt:variant>
    </vt:vector>
  </HeadingPairs>
  <TitlesOfParts>
    <vt:vector size="93" baseType="lpstr">
      <vt:lpstr>Arial</vt:lpstr>
      <vt:lpstr>Comic Sans MS</vt:lpstr>
      <vt:lpstr>Calibri</vt:lpstr>
      <vt:lpstr>Arimo</vt:lpstr>
      <vt:lpstr>Times</vt:lpstr>
      <vt:lpstr>Times New Roman</vt:lpstr>
      <vt:lpstr>Verdana</vt:lpstr>
      <vt:lpstr>Tahoma</vt:lpstr>
      <vt:lpstr>Courier New</vt:lpstr>
      <vt:lpstr>Roboto</vt:lpstr>
      <vt:lpstr>Noto Sans Symbols</vt:lpstr>
      <vt:lpstr>Batang</vt:lpstr>
      <vt:lpstr>Office Theme</vt:lpstr>
      <vt:lpstr>Bugs to Detect in Source Code Analysis</vt:lpstr>
      <vt:lpstr>Buffer overflow / overrun</vt:lpstr>
      <vt:lpstr>Outline</vt:lpstr>
      <vt:lpstr>Program's memory layout </vt:lpstr>
      <vt:lpstr>Memory Layout</vt:lpstr>
      <vt:lpstr>What is Buffer Overflow?</vt:lpstr>
      <vt:lpstr>History </vt:lpstr>
      <vt:lpstr>What Happens in a Function Call?</vt:lpstr>
      <vt:lpstr>What are buffer overflows?</vt:lpstr>
      <vt:lpstr>Basic stack exploit</vt:lpstr>
      <vt:lpstr>Carrying out this attack requires</vt:lpstr>
      <vt:lpstr>Some unsafe C lib functions</vt:lpstr>
      <vt:lpstr>The Problem</vt:lpstr>
      <vt:lpstr>Exploitation</vt:lpstr>
      <vt:lpstr>Necessary Background</vt:lpstr>
      <vt:lpstr>What is a Buffer Overflow?</vt:lpstr>
      <vt:lpstr>Attack Possibilities</vt:lpstr>
      <vt:lpstr>“Smashing the Stack”*</vt:lpstr>
      <vt:lpstr>Before and After</vt:lpstr>
      <vt:lpstr>PowerPoint Presentation</vt:lpstr>
      <vt:lpstr>Example: gets()</vt:lpstr>
      <vt:lpstr>Example: strcpy()</vt:lpstr>
      <vt:lpstr>Spot the defect! (1)</vt:lpstr>
      <vt:lpstr>Spot the defect! (1)</vt:lpstr>
      <vt:lpstr>Spot the defect! (2)</vt:lpstr>
      <vt:lpstr>Example: strcpy and strncpy</vt:lpstr>
      <vt:lpstr>Spot the defect! (3)</vt:lpstr>
      <vt:lpstr>Spot the defect! (3)</vt:lpstr>
      <vt:lpstr>Implicit Casting Bug - Implicit casting bugs can occur when inequalities are evaluated incorrectly due to one type being implicitly cast to another.  </vt:lpstr>
      <vt:lpstr>Spot the defect! (4)</vt:lpstr>
      <vt:lpstr>Spot the defect! (5)</vt:lpstr>
      <vt:lpstr>Spot the defect! (6)</vt:lpstr>
      <vt:lpstr>Spot the defect! (7)</vt:lpstr>
      <vt:lpstr>Heap Overflow Attacks</vt:lpstr>
      <vt:lpstr>What is a heap?</vt:lpstr>
      <vt:lpstr>PowerPoint Presentation</vt:lpstr>
      <vt:lpstr>PowerPoint Presentation</vt:lpstr>
      <vt:lpstr>PowerPoint Presentation</vt:lpstr>
      <vt:lpstr>Heap overflow attacks</vt:lpstr>
      <vt:lpstr>PowerPoint Presentation</vt:lpstr>
      <vt:lpstr>PowerPoint Presentation</vt:lpstr>
      <vt:lpstr>Doug Lea’s malloc and free</vt:lpstr>
      <vt:lpstr>Double-linked free chunk list</vt:lpstr>
      <vt:lpstr>heap.c</vt:lpstr>
      <vt:lpstr>The heap in memory</vt:lpstr>
      <vt:lpstr>After free(a)</vt:lpstr>
      <vt:lpstr>After free(b)</vt:lpstr>
      <vt:lpstr>What if “b” was freed first? </vt:lpstr>
      <vt:lpstr>Then “a” was freed</vt:lpstr>
      <vt:lpstr>Key Observation</vt:lpstr>
      <vt:lpstr>Remove a chunk from the double-linked free list</vt:lpstr>
      <vt:lpstr>A heap overflow attack</vt:lpstr>
      <vt:lpstr>The “where”</vt:lpstr>
      <vt:lpstr>The “what”</vt:lpstr>
      <vt:lpstr>Remove a chunk from the double-linked free list</vt:lpstr>
      <vt:lpstr>How to make free() think the chunk after “a” is free</vt:lpstr>
      <vt:lpstr>Assembled heap-overflow payload</vt:lpstr>
      <vt:lpstr>Format String Attacks</vt:lpstr>
      <vt:lpstr>Format String Attacks</vt:lpstr>
      <vt:lpstr>Format String Attacks</vt:lpstr>
      <vt:lpstr>PowerPoint Presentation</vt:lpstr>
      <vt:lpstr>PowerPoint Presentation</vt:lpstr>
      <vt:lpstr>PowerPoint Presentation</vt:lpstr>
      <vt:lpstr>Example of “%n”---- write data in memory</vt:lpstr>
      <vt:lpstr>getenvaddr.c which can give us the address of environment variables:</vt:lpstr>
      <vt:lpstr>PowerPoint Presentation</vt:lpstr>
      <vt:lpstr>PowerPoint Presentation</vt:lpstr>
      <vt:lpstr>Preventing</vt:lpstr>
      <vt:lpstr>Function Pointer Overwritten</vt:lpstr>
      <vt:lpstr>Unicode and ANSI Buffer Size Mismatches (windows platform)</vt:lpstr>
      <vt:lpstr>Example</vt:lpstr>
      <vt:lpstr>PowerPoint Presentation</vt:lpstr>
      <vt:lpstr>Finding buffer overflows</vt:lpstr>
      <vt:lpstr>Preventing Buffer Overflow Attacks</vt:lpstr>
      <vt:lpstr>Protections Provided by Operating Systems</vt:lpstr>
      <vt:lpstr>PowerPoint Presentation</vt:lpstr>
      <vt:lpstr>PowerPoint Presentation</vt:lpstr>
      <vt:lpstr>Reference</vt:lpstr>
      <vt:lpstr>additional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Anandhi</dc:creator>
  <cp:lastModifiedBy>prema ramesh</cp:lastModifiedBy>
  <cp:revision>1</cp:revision>
  <dcterms:created xsi:type="dcterms:W3CDTF">2023-01-09T03:13:42Z</dcterms:created>
  <dcterms:modified xsi:type="dcterms:W3CDTF">2025-01-23T14:03:53Z</dcterms:modified>
</cp:coreProperties>
</file>